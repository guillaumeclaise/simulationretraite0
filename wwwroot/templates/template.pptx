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303" r:id="rId5"/>
    <p:sldId id="256" r:id="rId6"/>
    <p:sldId id="257" r:id="rId7"/>
    <p:sldId id="258" r:id="rId8"/>
    <p:sldId id="265" r:id="rId9"/>
    <p:sldId id="294" r:id="rId10"/>
    <p:sldId id="259" r:id="rId11"/>
    <p:sldId id="296" r:id="rId12"/>
    <p:sldId id="297" r:id="rId13"/>
    <p:sldId id="260" r:id="rId14"/>
    <p:sldId id="283" r:id="rId15"/>
    <p:sldId id="262" r:id="rId16"/>
    <p:sldId id="301" r:id="rId17"/>
    <p:sldId id="302" r:id="rId18"/>
    <p:sldId id="304" r:id="rId19"/>
    <p:sldId id="269" r:id="rId20"/>
    <p:sldId id="270" r:id="rId21"/>
    <p:sldId id="271" r:id="rId22"/>
    <p:sldId id="280"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2BFF"/>
    <a:srgbClr val="00FE39"/>
    <a:srgbClr val="00BDFF"/>
    <a:srgbClr val="DE7B00"/>
    <a:srgbClr val="009CF2"/>
    <a:srgbClr val="E239BF"/>
    <a:srgbClr val="00FD00"/>
    <a:srgbClr val="00E8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240"/>
    <p:restoredTop sz="96203"/>
  </p:normalViewPr>
  <p:slideViewPr>
    <p:cSldViewPr snapToGrid="0" snapToObjects="1">
      <p:cViewPr varScale="1">
        <p:scale>
          <a:sx n="62" d="100"/>
          <a:sy n="62" d="100"/>
        </p:scale>
        <p:origin x="200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Feuil1!$B$1</c:f>
              <c:strCache>
                <c:ptCount val="1"/>
                <c:pt idx="0">
                  <c:v>Sécurité Sociale</c:v>
                </c:pt>
              </c:strCache>
            </c:strRef>
          </c:tx>
          <c:spPr>
            <a:solidFill>
              <a:srgbClr val="FF0000"/>
            </a:solidFill>
            <a:ln>
              <a:solidFill>
                <a:srgbClr val="FF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Feuil1!$A$2:$A$10</c:f>
              <c:strCache>
                <c:ptCount val="9"/>
                <c:pt idx="0">
                  <c:v>Age Légal</c:v>
                </c:pt>
                <c:pt idx="1">
                  <c:v>01/09/2025</c:v>
                </c:pt>
                <c:pt idx="2">
                  <c:v>01/10/2025</c:v>
                </c:pt>
                <c:pt idx="3">
                  <c:v>01/11/2025</c:v>
                </c:pt>
                <c:pt idx="4">
                  <c:v>01/12/2025</c:v>
                </c:pt>
                <c:pt idx="5">
                  <c:v>01/01/2026</c:v>
                </c:pt>
                <c:pt idx="6">
                  <c:v>01/02/2026</c:v>
                </c:pt>
                <c:pt idx="7">
                  <c:v>01/03/2026</c:v>
                </c:pt>
                <c:pt idx="8">
                  <c:v>01/04/2026</c:v>
                </c:pt>
              </c:strCache>
            </c:strRef>
          </c:cat>
          <c:val>
            <c:numRef>
              <c:f>Feuil1!$B$2:$B$10</c:f>
              <c:numCache>
                <c:formatCode>0</c:formatCode>
                <c:ptCount val="9"/>
                <c:pt idx="0">
                  <c:v>782.57325000000003</c:v>
                </c:pt>
                <c:pt idx="1">
                  <c:v>792.87525000000005</c:v>
                </c:pt>
                <c:pt idx="2">
                  <c:v>797.87475000000006</c:v>
                </c:pt>
                <c:pt idx="3">
                  <c:v>798</c:v>
                </c:pt>
                <c:pt idx="4">
                  <c:v>808.17675000000008</c:v>
                </c:pt>
                <c:pt idx="5">
                  <c:v>822.79650000000004</c:v>
                </c:pt>
                <c:pt idx="6">
                  <c:v>823</c:v>
                </c:pt>
                <c:pt idx="7">
                  <c:v>833.32574999999997</c:v>
                </c:pt>
                <c:pt idx="8">
                  <c:v>838.55250000000012</c:v>
                </c:pt>
              </c:numCache>
            </c:numRef>
          </c:val>
          <c:extLst>
            <c:ext xmlns:c16="http://schemas.microsoft.com/office/drawing/2014/chart" uri="{C3380CC4-5D6E-409C-BE32-E72D297353CC}">
              <c16:uniqueId val="{00000000-4470-E344-9150-BAE3915F9C16}"/>
            </c:ext>
          </c:extLst>
        </c:ser>
        <c:ser>
          <c:idx val="1"/>
          <c:order val="1"/>
          <c:tx>
            <c:strRef>
              <c:f>Feuil1!$C$1</c:f>
              <c:strCache>
                <c:ptCount val="1"/>
                <c:pt idx="0">
                  <c:v>Arrco</c:v>
                </c:pt>
              </c:strCache>
            </c:strRef>
          </c:tx>
          <c:spPr>
            <a:solidFill>
              <a:srgbClr val="112BFF"/>
            </a:solidFill>
            <a:ln>
              <a:solidFill>
                <a:srgbClr val="112BFF"/>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Feuil1!$A$2:$A$10</c:f>
              <c:strCache>
                <c:ptCount val="9"/>
                <c:pt idx="0">
                  <c:v>Age Légal</c:v>
                </c:pt>
                <c:pt idx="1">
                  <c:v>01/09/2025</c:v>
                </c:pt>
                <c:pt idx="2">
                  <c:v>01/10/2025</c:v>
                </c:pt>
                <c:pt idx="3">
                  <c:v>01/11/2025</c:v>
                </c:pt>
                <c:pt idx="4">
                  <c:v>01/12/2025</c:v>
                </c:pt>
                <c:pt idx="5">
                  <c:v>01/01/2026</c:v>
                </c:pt>
                <c:pt idx="6">
                  <c:v>01/02/2026</c:v>
                </c:pt>
                <c:pt idx="7">
                  <c:v>01/03/2026</c:v>
                </c:pt>
                <c:pt idx="8">
                  <c:v>01/04/2026</c:v>
                </c:pt>
              </c:strCache>
            </c:strRef>
          </c:cat>
          <c:val>
            <c:numRef>
              <c:f>Feuil1!$C$2:$C$10</c:f>
              <c:numCache>
                <c:formatCode>0</c:formatCode>
                <c:ptCount val="9"/>
                <c:pt idx="0">
                  <c:v>353.53175000000005</c:v>
                </c:pt>
                <c:pt idx="1">
                  <c:v>354.43074999999999</c:v>
                </c:pt>
                <c:pt idx="2">
                  <c:v>355.10500000000002</c:v>
                </c:pt>
                <c:pt idx="3">
                  <c:v>355.92908333333338</c:v>
                </c:pt>
                <c:pt idx="4">
                  <c:v>356.67824999999999</c:v>
                </c:pt>
                <c:pt idx="5">
                  <c:v>357.42741666666666</c:v>
                </c:pt>
                <c:pt idx="6">
                  <c:v>358.25150000000002</c:v>
                </c:pt>
                <c:pt idx="7">
                  <c:v>358.92575000000005</c:v>
                </c:pt>
                <c:pt idx="8">
                  <c:v>359.67491666666666</c:v>
                </c:pt>
              </c:numCache>
            </c:numRef>
          </c:val>
          <c:extLst>
            <c:ext xmlns:c16="http://schemas.microsoft.com/office/drawing/2014/chart" uri="{C3380CC4-5D6E-409C-BE32-E72D297353CC}">
              <c16:uniqueId val="{00000007-4470-E344-9150-BAE3915F9C16}"/>
            </c:ext>
          </c:extLst>
        </c:ser>
        <c:dLbls>
          <c:showLegendKey val="0"/>
          <c:showVal val="0"/>
          <c:showCatName val="0"/>
          <c:showSerName val="0"/>
          <c:showPercent val="0"/>
          <c:showBubbleSize val="0"/>
        </c:dLbls>
        <c:gapWidth val="25"/>
        <c:overlap val="100"/>
        <c:axId val="1066008095"/>
        <c:axId val="616101887"/>
      </c:barChart>
      <c:catAx>
        <c:axId val="1066008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16101887"/>
        <c:crosses val="autoZero"/>
        <c:auto val="1"/>
        <c:lblAlgn val="ctr"/>
        <c:lblOffset val="100"/>
        <c:noMultiLvlLbl val="0"/>
      </c:catAx>
      <c:valAx>
        <c:axId val="616101887"/>
        <c:scaling>
          <c:orientation val="minMax"/>
          <c:max val="15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1066008095"/>
        <c:crosses val="autoZero"/>
        <c:crossBetween val="between"/>
        <c:majorUnit val="3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Feuil1!$B$1</c:f>
              <c:strCache>
                <c:ptCount val="1"/>
                <c:pt idx="0">
                  <c:v>Ventes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333-024B-A544-70F511A6D79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333-024B-A544-70F511A6D799}"/>
              </c:ext>
            </c:extLst>
          </c:dPt>
          <c:dLbls>
            <c:spPr>
              <a:noFill/>
              <a:ln>
                <a:noFill/>
              </a:ln>
              <a:effectLst/>
            </c:spPr>
            <c:txPr>
              <a:bodyPr rot="0" spcFirstLastPara="1" vertOverflow="ellipsis" vert="horz" wrap="square" lIns="38100" tIns="19050" rIns="38100" bIns="19050" anchor="ctr" anchorCtr="1">
                <a:spAutoFit/>
              </a:bodyPr>
              <a:lstStyle/>
              <a:p>
                <a:pPr>
                  <a:defRPr sz="15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Feuil1!$A$2:$A$3</c:f>
              <c:strCache>
                <c:ptCount val="2"/>
                <c:pt idx="0">
                  <c:v>Nombre de Trimestre Fait</c:v>
                </c:pt>
                <c:pt idx="1">
                  <c:v>Nombre de Trimestre à Faire</c:v>
                </c:pt>
              </c:strCache>
            </c:strRef>
          </c:cat>
          <c:val>
            <c:numRef>
              <c:f>Feuil1!$B$2:$B$3</c:f>
              <c:numCache>
                <c:formatCode>General</c:formatCode>
                <c:ptCount val="2"/>
                <c:pt idx="0">
                  <c:v>157</c:v>
                </c:pt>
                <c:pt idx="1">
                  <c:v>10</c:v>
                </c:pt>
              </c:numCache>
            </c:numRef>
          </c:val>
          <c:extLst>
            <c:ext xmlns:c16="http://schemas.microsoft.com/office/drawing/2014/chart" uri="{C3380CC4-5D6E-409C-BE32-E72D297353CC}">
              <c16:uniqueId val="{00000000-FA8A-1C44-B389-B4DEF083F2AB}"/>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Feuil1!$B$1</c:f>
              <c:strCache>
                <c:ptCount val="1"/>
                <c:pt idx="0">
                  <c:v>Sécurité Sociale</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Feuil1!$A$2:$A$10</c:f>
              <c:strCache>
                <c:ptCount val="9"/>
                <c:pt idx="0">
                  <c:v>Age Légal</c:v>
                </c:pt>
                <c:pt idx="1">
                  <c:v>01/09/2025</c:v>
                </c:pt>
                <c:pt idx="2">
                  <c:v>01/10/2025</c:v>
                </c:pt>
                <c:pt idx="3">
                  <c:v>01/11/2025</c:v>
                </c:pt>
                <c:pt idx="4">
                  <c:v>01/12/2025</c:v>
                </c:pt>
                <c:pt idx="5">
                  <c:v>01/01/2026</c:v>
                </c:pt>
                <c:pt idx="6">
                  <c:v>01/02/2026</c:v>
                </c:pt>
                <c:pt idx="7">
                  <c:v>01/03/2026</c:v>
                </c:pt>
                <c:pt idx="8">
                  <c:v>01/04/2026</c:v>
                </c:pt>
              </c:strCache>
            </c:strRef>
          </c:cat>
          <c:val>
            <c:numRef>
              <c:f>Feuil1!$B$2:$B$10</c:f>
              <c:numCache>
                <c:formatCode>0</c:formatCode>
                <c:ptCount val="9"/>
                <c:pt idx="0">
                  <c:v>1449.249</c:v>
                </c:pt>
                <c:pt idx="1">
                  <c:v>1468.338</c:v>
                </c:pt>
                <c:pt idx="2">
                  <c:v>1477.5037500000001</c:v>
                </c:pt>
                <c:pt idx="3">
                  <c:v>1478</c:v>
                </c:pt>
                <c:pt idx="4">
                  <c:v>1496.6685</c:v>
                </c:pt>
                <c:pt idx="5">
                  <c:v>1523.7112500000001</c:v>
                </c:pt>
                <c:pt idx="6">
                  <c:v>1523.7112500000001</c:v>
                </c:pt>
                <c:pt idx="7">
                  <c:v>1543.2547500000001</c:v>
                </c:pt>
                <c:pt idx="8">
                  <c:v>1552.875</c:v>
                </c:pt>
              </c:numCache>
            </c:numRef>
          </c:val>
          <c:extLst>
            <c:ext xmlns:c16="http://schemas.microsoft.com/office/drawing/2014/chart" uri="{C3380CC4-5D6E-409C-BE32-E72D297353CC}">
              <c16:uniqueId val="{00000000-4470-E344-9150-BAE3915F9C16}"/>
            </c:ext>
          </c:extLst>
        </c:ser>
        <c:ser>
          <c:idx val="1"/>
          <c:order val="1"/>
          <c:tx>
            <c:strRef>
              <c:f>Feuil1!$C$1</c:f>
              <c:strCache>
                <c:ptCount val="1"/>
                <c:pt idx="0">
                  <c:v>Arrco</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Feuil1!$A$2:$A$10</c:f>
              <c:strCache>
                <c:ptCount val="9"/>
                <c:pt idx="0">
                  <c:v>Age Légal</c:v>
                </c:pt>
                <c:pt idx="1">
                  <c:v>01/09/2025</c:v>
                </c:pt>
                <c:pt idx="2">
                  <c:v>01/10/2025</c:v>
                </c:pt>
                <c:pt idx="3">
                  <c:v>01/11/2025</c:v>
                </c:pt>
                <c:pt idx="4">
                  <c:v>01/12/2025</c:v>
                </c:pt>
                <c:pt idx="5">
                  <c:v>01/01/2026</c:v>
                </c:pt>
                <c:pt idx="6">
                  <c:v>01/02/2026</c:v>
                </c:pt>
                <c:pt idx="7">
                  <c:v>01/03/2026</c:v>
                </c:pt>
                <c:pt idx="8">
                  <c:v>01/04/2026</c:v>
                </c:pt>
              </c:strCache>
            </c:strRef>
          </c:cat>
          <c:val>
            <c:numRef>
              <c:f>Feuil1!$C$2:$C$10</c:f>
              <c:numCache>
                <c:formatCode>0</c:formatCode>
                <c:ptCount val="9"/>
                <c:pt idx="0">
                  <c:v>565.69574999999998</c:v>
                </c:pt>
                <c:pt idx="1">
                  <c:v>572.96266666666668</c:v>
                </c:pt>
                <c:pt idx="2">
                  <c:v>574.08641666666665</c:v>
                </c:pt>
                <c:pt idx="3">
                  <c:v>575.36</c:v>
                </c:pt>
                <c:pt idx="4">
                  <c:v>582.55200000000002</c:v>
                </c:pt>
                <c:pt idx="5">
                  <c:v>583.82558333333338</c:v>
                </c:pt>
                <c:pt idx="6">
                  <c:v>585.09916666666675</c:v>
                </c:pt>
                <c:pt idx="7">
                  <c:v>592.21625000000006</c:v>
                </c:pt>
                <c:pt idx="8">
                  <c:v>593.48983333333342</c:v>
                </c:pt>
              </c:numCache>
            </c:numRef>
          </c:val>
          <c:extLst>
            <c:ext xmlns:c16="http://schemas.microsoft.com/office/drawing/2014/chart" uri="{C3380CC4-5D6E-409C-BE32-E72D297353CC}">
              <c16:uniqueId val="{00000007-4470-E344-9150-BAE3915F9C16}"/>
            </c:ext>
          </c:extLst>
        </c:ser>
        <c:dLbls>
          <c:showLegendKey val="0"/>
          <c:showVal val="0"/>
          <c:showCatName val="0"/>
          <c:showSerName val="0"/>
          <c:showPercent val="0"/>
          <c:showBubbleSize val="0"/>
        </c:dLbls>
        <c:gapWidth val="25"/>
        <c:overlap val="100"/>
        <c:axId val="1066008095"/>
        <c:axId val="616101887"/>
      </c:barChart>
      <c:catAx>
        <c:axId val="1066008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16101887"/>
        <c:crosses val="autoZero"/>
        <c:auto val="1"/>
        <c:lblAlgn val="ctr"/>
        <c:lblOffset val="100"/>
        <c:noMultiLvlLbl val="0"/>
      </c:catAx>
      <c:valAx>
        <c:axId val="616101887"/>
        <c:scaling>
          <c:orientation val="minMax"/>
          <c:max val="3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10660080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Feuil1!$B$1</c:f>
              <c:strCache>
                <c:ptCount val="1"/>
                <c:pt idx="0">
                  <c:v>Sécurité Sociale</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Feuil1!$A$2:$A$10</c:f>
              <c:strCache>
                <c:ptCount val="9"/>
                <c:pt idx="0">
                  <c:v>01/05/2026</c:v>
                </c:pt>
                <c:pt idx="1">
                  <c:v>Taux plein</c:v>
                </c:pt>
                <c:pt idx="2">
                  <c:v>01/07/2026</c:v>
                </c:pt>
                <c:pt idx="3">
                  <c:v>01/08/2026</c:v>
                </c:pt>
                <c:pt idx="4">
                  <c:v>01/09/2026</c:v>
                </c:pt>
                <c:pt idx="5">
                  <c:v>01/10/2026</c:v>
                </c:pt>
                <c:pt idx="6">
                  <c:v>01/11/2026</c:v>
                </c:pt>
                <c:pt idx="7">
                  <c:v>01/12/2026</c:v>
                </c:pt>
                <c:pt idx="8">
                  <c:v>01/01/2027</c:v>
                </c:pt>
              </c:strCache>
            </c:strRef>
          </c:cat>
          <c:val>
            <c:numRef>
              <c:f>Feuil1!$B$2:$B$10</c:f>
              <c:numCache>
                <c:formatCode>0</c:formatCode>
                <c:ptCount val="9"/>
                <c:pt idx="0">
                  <c:v>1552.875</c:v>
                </c:pt>
                <c:pt idx="1">
                  <c:v>1572.49425</c:v>
                </c:pt>
                <c:pt idx="2">
                  <c:v>1582.1902499999999</c:v>
                </c:pt>
                <c:pt idx="3">
                  <c:v>1582</c:v>
                </c:pt>
                <c:pt idx="4">
                  <c:v>1620.97425</c:v>
                </c:pt>
                <c:pt idx="5">
                  <c:v>1621</c:v>
                </c:pt>
                <c:pt idx="6">
                  <c:v>1620.97425</c:v>
                </c:pt>
                <c:pt idx="7">
                  <c:v>1621</c:v>
                </c:pt>
                <c:pt idx="8">
                  <c:v>1639.0027499999999</c:v>
                </c:pt>
              </c:numCache>
            </c:numRef>
          </c:val>
          <c:extLst>
            <c:ext xmlns:c16="http://schemas.microsoft.com/office/drawing/2014/chart" uri="{C3380CC4-5D6E-409C-BE32-E72D297353CC}">
              <c16:uniqueId val="{00000000-4470-E344-9150-BAE3915F9C16}"/>
            </c:ext>
          </c:extLst>
        </c:ser>
        <c:ser>
          <c:idx val="1"/>
          <c:order val="1"/>
          <c:tx>
            <c:strRef>
              <c:f>Feuil1!$C$1</c:f>
              <c:strCache>
                <c:ptCount val="1"/>
                <c:pt idx="0">
                  <c:v>Arrco</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Feuil1!$A$2:$A$10</c:f>
              <c:strCache>
                <c:ptCount val="9"/>
                <c:pt idx="0">
                  <c:v>01/05/2026</c:v>
                </c:pt>
                <c:pt idx="1">
                  <c:v>Taux plein</c:v>
                </c:pt>
                <c:pt idx="2">
                  <c:v>01/07/2026</c:v>
                </c:pt>
                <c:pt idx="3">
                  <c:v>01/08/2026</c:v>
                </c:pt>
                <c:pt idx="4">
                  <c:v>01/09/2026</c:v>
                </c:pt>
                <c:pt idx="5">
                  <c:v>01/10/2026</c:v>
                </c:pt>
                <c:pt idx="6">
                  <c:v>01/11/2026</c:v>
                </c:pt>
                <c:pt idx="7">
                  <c:v>01/12/2026</c:v>
                </c:pt>
                <c:pt idx="8">
                  <c:v>01/01/2027</c:v>
                </c:pt>
              </c:strCache>
            </c:strRef>
          </c:cat>
          <c:val>
            <c:numRef>
              <c:f>Feuil1!$C$2:$C$10</c:f>
              <c:numCache>
                <c:formatCode>0</c:formatCode>
                <c:ptCount val="9"/>
                <c:pt idx="0">
                  <c:v>594.76341666666667</c:v>
                </c:pt>
                <c:pt idx="1">
                  <c:v>602.10524999999996</c:v>
                </c:pt>
                <c:pt idx="2">
                  <c:v>603.30391666666662</c:v>
                </c:pt>
                <c:pt idx="3">
                  <c:v>604.57749999999999</c:v>
                </c:pt>
                <c:pt idx="4">
                  <c:v>605.85108333333335</c:v>
                </c:pt>
                <c:pt idx="5">
                  <c:v>607.19958333333341</c:v>
                </c:pt>
                <c:pt idx="6">
                  <c:v>608.47316666666666</c:v>
                </c:pt>
                <c:pt idx="7">
                  <c:v>609.74675000000002</c:v>
                </c:pt>
                <c:pt idx="8">
                  <c:v>611.02033333333338</c:v>
                </c:pt>
              </c:numCache>
            </c:numRef>
          </c:val>
          <c:extLst>
            <c:ext xmlns:c16="http://schemas.microsoft.com/office/drawing/2014/chart" uri="{C3380CC4-5D6E-409C-BE32-E72D297353CC}">
              <c16:uniqueId val="{00000007-4470-E344-9150-BAE3915F9C16}"/>
            </c:ext>
          </c:extLst>
        </c:ser>
        <c:dLbls>
          <c:showLegendKey val="0"/>
          <c:showVal val="0"/>
          <c:showCatName val="0"/>
          <c:showSerName val="0"/>
          <c:showPercent val="0"/>
          <c:showBubbleSize val="0"/>
        </c:dLbls>
        <c:gapWidth val="25"/>
        <c:overlap val="100"/>
        <c:axId val="1066008095"/>
        <c:axId val="616101887"/>
      </c:barChart>
      <c:catAx>
        <c:axId val="1066008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16101887"/>
        <c:crosses val="autoZero"/>
        <c:auto val="1"/>
        <c:lblAlgn val="ctr"/>
        <c:lblOffset val="100"/>
        <c:noMultiLvlLbl val="0"/>
      </c:catAx>
      <c:valAx>
        <c:axId val="616101887"/>
        <c:scaling>
          <c:orientation val="minMax"/>
          <c:max val="3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10660080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Feuil1!$B$1</c:f>
              <c:strCache>
                <c:ptCount val="1"/>
                <c:pt idx="0">
                  <c:v>Sécurité Sociale</c:v>
                </c:pt>
              </c:strCache>
            </c:strRef>
          </c:tx>
          <c:spPr>
            <a:solidFill>
              <a:srgbClr val="FF0000"/>
            </a:solidFill>
            <a:ln>
              <a:solidFill>
                <a:srgbClr val="FF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Feuil1!$A$2:$A$10</c:f>
              <c:strCache>
                <c:ptCount val="9"/>
                <c:pt idx="0">
                  <c:v>01/05/2026</c:v>
                </c:pt>
                <c:pt idx="1">
                  <c:v>Taux plein</c:v>
                </c:pt>
                <c:pt idx="2">
                  <c:v>01/07/2026</c:v>
                </c:pt>
                <c:pt idx="3">
                  <c:v>01/08/2026</c:v>
                </c:pt>
                <c:pt idx="4">
                  <c:v>01/09/2026</c:v>
                </c:pt>
                <c:pt idx="5">
                  <c:v>01/10/2026</c:v>
                </c:pt>
                <c:pt idx="6">
                  <c:v>01/11/2026</c:v>
                </c:pt>
                <c:pt idx="7">
                  <c:v>01/12/2026</c:v>
                </c:pt>
                <c:pt idx="8">
                  <c:v>01/01/2027</c:v>
                </c:pt>
              </c:strCache>
            </c:strRef>
          </c:cat>
          <c:val>
            <c:numRef>
              <c:f>Feuil1!$B$2:$B$10</c:f>
              <c:numCache>
                <c:formatCode>0</c:formatCode>
                <c:ptCount val="9"/>
                <c:pt idx="0">
                  <c:v>838.55250000000012</c:v>
                </c:pt>
                <c:pt idx="1">
                  <c:v>849.15750000000014</c:v>
                </c:pt>
                <c:pt idx="2">
                  <c:v>854.38425000000007</c:v>
                </c:pt>
                <c:pt idx="3">
                  <c:v>854</c:v>
                </c:pt>
                <c:pt idx="4">
                  <c:v>875.2912500000001</c:v>
                </c:pt>
                <c:pt idx="5">
                  <c:v>875.2912500000001</c:v>
                </c:pt>
                <c:pt idx="6">
                  <c:v>875</c:v>
                </c:pt>
                <c:pt idx="7">
                  <c:v>875.2912500000001</c:v>
                </c:pt>
                <c:pt idx="8">
                  <c:v>885.0630000000001</c:v>
                </c:pt>
              </c:numCache>
            </c:numRef>
          </c:val>
          <c:extLst>
            <c:ext xmlns:c16="http://schemas.microsoft.com/office/drawing/2014/chart" uri="{C3380CC4-5D6E-409C-BE32-E72D297353CC}">
              <c16:uniqueId val="{00000000-4470-E344-9150-BAE3915F9C16}"/>
            </c:ext>
          </c:extLst>
        </c:ser>
        <c:ser>
          <c:idx val="1"/>
          <c:order val="1"/>
          <c:tx>
            <c:strRef>
              <c:f>Feuil1!$C$1</c:f>
              <c:strCache>
                <c:ptCount val="1"/>
                <c:pt idx="0">
                  <c:v>Arrco</c:v>
                </c:pt>
              </c:strCache>
            </c:strRef>
          </c:tx>
          <c:spPr>
            <a:solidFill>
              <a:srgbClr val="112BFF"/>
            </a:solidFill>
            <a:ln>
              <a:solidFill>
                <a:srgbClr val="112BFF"/>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Feuil1!$A$2:$A$10</c:f>
              <c:strCache>
                <c:ptCount val="9"/>
                <c:pt idx="0">
                  <c:v>01/05/2026</c:v>
                </c:pt>
                <c:pt idx="1">
                  <c:v>Taux plein</c:v>
                </c:pt>
                <c:pt idx="2">
                  <c:v>01/07/2026</c:v>
                </c:pt>
                <c:pt idx="3">
                  <c:v>01/08/2026</c:v>
                </c:pt>
                <c:pt idx="4">
                  <c:v>01/09/2026</c:v>
                </c:pt>
                <c:pt idx="5">
                  <c:v>01/10/2026</c:v>
                </c:pt>
                <c:pt idx="6">
                  <c:v>01/11/2026</c:v>
                </c:pt>
                <c:pt idx="7">
                  <c:v>01/12/2026</c:v>
                </c:pt>
                <c:pt idx="8">
                  <c:v>01/01/2027</c:v>
                </c:pt>
              </c:strCache>
            </c:strRef>
          </c:cat>
          <c:val>
            <c:numRef>
              <c:f>Feuil1!$C$2:$C$10</c:f>
              <c:numCache>
                <c:formatCode>0</c:formatCode>
                <c:ptCount val="9"/>
                <c:pt idx="0">
                  <c:v>360.49900000000002</c:v>
                </c:pt>
                <c:pt idx="1">
                  <c:v>361.24816666666669</c:v>
                </c:pt>
                <c:pt idx="2">
                  <c:v>361.9973333333333</c:v>
                </c:pt>
                <c:pt idx="3">
                  <c:v>362.74650000000003</c:v>
                </c:pt>
                <c:pt idx="4">
                  <c:v>363.49566666666669</c:v>
                </c:pt>
                <c:pt idx="5">
                  <c:v>364.31975000000006</c:v>
                </c:pt>
                <c:pt idx="6">
                  <c:v>365.06891666666667</c:v>
                </c:pt>
                <c:pt idx="7">
                  <c:v>365.81808333333333</c:v>
                </c:pt>
                <c:pt idx="8">
                  <c:v>366.6421666666667</c:v>
                </c:pt>
              </c:numCache>
            </c:numRef>
          </c:val>
          <c:extLst>
            <c:ext xmlns:c16="http://schemas.microsoft.com/office/drawing/2014/chart" uri="{C3380CC4-5D6E-409C-BE32-E72D297353CC}">
              <c16:uniqueId val="{00000007-4470-E344-9150-BAE3915F9C16}"/>
            </c:ext>
          </c:extLst>
        </c:ser>
        <c:dLbls>
          <c:showLegendKey val="0"/>
          <c:showVal val="0"/>
          <c:showCatName val="0"/>
          <c:showSerName val="0"/>
          <c:showPercent val="0"/>
          <c:showBubbleSize val="0"/>
        </c:dLbls>
        <c:gapWidth val="25"/>
        <c:overlap val="100"/>
        <c:axId val="1066008095"/>
        <c:axId val="616101887"/>
      </c:barChart>
      <c:catAx>
        <c:axId val="10660080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616101887"/>
        <c:crosses val="autoZero"/>
        <c:auto val="1"/>
        <c:lblAlgn val="ctr"/>
        <c:lblOffset val="100"/>
        <c:noMultiLvlLbl val="0"/>
      </c:catAx>
      <c:valAx>
        <c:axId val="616101887"/>
        <c:scaling>
          <c:orientation val="minMax"/>
          <c:max val="15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1066008095"/>
        <c:crosses val="autoZero"/>
        <c:crossBetween val="between"/>
        <c:majorUnit val="3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278E34-96B2-9FC8-90EC-DF42316D8AB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9BACB44-CE9E-8E76-B9F1-31C4360F45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819C129-EAE7-A4AB-F43B-A465E9D6B048}"/>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5" name="Espace réservé du pied de page 4">
            <a:extLst>
              <a:ext uri="{FF2B5EF4-FFF2-40B4-BE49-F238E27FC236}">
                <a16:creationId xmlns:a16="http://schemas.microsoft.com/office/drawing/2014/main" id="{8B7C64A4-4AC8-5EAA-6178-9F94A3E54A7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C80C949-98E1-F506-5372-E7B56128E271}"/>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1121717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DD529A-ACC9-91CC-61E6-4EDD171467D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4CA6CF7-65FD-2F93-20E8-0ED9EFD9256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883BDAF-B910-EBDD-D594-A873A50F035D}"/>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5" name="Espace réservé du pied de page 4">
            <a:extLst>
              <a:ext uri="{FF2B5EF4-FFF2-40B4-BE49-F238E27FC236}">
                <a16:creationId xmlns:a16="http://schemas.microsoft.com/office/drawing/2014/main" id="{D44E09EA-76D2-E337-A5C2-396B1C7EAD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6555C16-9FB9-2C2C-A9F9-2AA66556F4A8}"/>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2823637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7CBA3A-852C-306C-B2E0-32FBE9608A5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328D34A-1DEA-BA0D-2138-505071D7AD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A76137E-4D71-4913-0755-8E920E92708C}"/>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5" name="Espace réservé du pied de page 4">
            <a:extLst>
              <a:ext uri="{FF2B5EF4-FFF2-40B4-BE49-F238E27FC236}">
                <a16:creationId xmlns:a16="http://schemas.microsoft.com/office/drawing/2014/main" id="{3897CD97-272F-8D7B-F381-3DE598CE98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0BAF6A9-3905-6419-5FEF-1ED4CBA1F3C8}"/>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1171727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6BC4C4-8ABC-0F6B-3CB0-16511A08030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167A3A8-6DEA-7A97-755F-B974AECBDC1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C497C55-7AAE-E663-1F2D-19482BB9EBB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66F99B4-2978-B4C4-5E25-D64BB46CE758}"/>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6" name="Espace réservé du pied de page 5">
            <a:extLst>
              <a:ext uri="{FF2B5EF4-FFF2-40B4-BE49-F238E27FC236}">
                <a16:creationId xmlns:a16="http://schemas.microsoft.com/office/drawing/2014/main" id="{869B6344-A7BB-F619-4BA7-42901CCE311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CEF5A26-5483-D855-795B-5E9677823760}"/>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45943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63A1FA-B755-0EB9-EFF6-59D420BA2B8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35E5576-95E0-09D5-ACAC-6598DBF127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43F5015-11AA-55F0-A9D2-A60ECF9BAA1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8E1DF9F-2DB6-5B3B-F291-D3BEF6A52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6D3502B-817E-B59D-212B-3575B68C2112}"/>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70BFE22-9BE4-ADD2-C39D-46572AC23300}"/>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8" name="Espace réservé du pied de page 7">
            <a:extLst>
              <a:ext uri="{FF2B5EF4-FFF2-40B4-BE49-F238E27FC236}">
                <a16:creationId xmlns:a16="http://schemas.microsoft.com/office/drawing/2014/main" id="{D8D6E204-0A30-861C-3B40-1904E4595ABA}"/>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301E8FB-372A-C7E3-1A8D-13238144F5DD}"/>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2993620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5891E4-5234-B958-EB74-1DC3892FE6F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CB2069A-5C45-CB9A-F0BF-D856BDAC5027}"/>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4" name="Espace réservé du pied de page 3">
            <a:extLst>
              <a:ext uri="{FF2B5EF4-FFF2-40B4-BE49-F238E27FC236}">
                <a16:creationId xmlns:a16="http://schemas.microsoft.com/office/drawing/2014/main" id="{69F5CFA1-733E-88E0-27EC-66CCBA9CB33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6ECBAA3-9872-7DD6-BCDE-DA347D12E2A5}"/>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4000204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B2CE633-1073-619B-838C-00B21EB9C29C}"/>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3" name="Espace réservé du pied de page 2">
            <a:extLst>
              <a:ext uri="{FF2B5EF4-FFF2-40B4-BE49-F238E27FC236}">
                <a16:creationId xmlns:a16="http://schemas.microsoft.com/office/drawing/2014/main" id="{00E3A114-2E95-87A0-4C83-55DC91A54EC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2C934364-6A7C-6C94-C7AA-C8AF05DFDD54}"/>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4017253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0D46C4-2D56-0066-6ED3-26C994F41C0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338599C-1426-B666-66CE-23BC26EC39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8FAD22B-1558-AA0D-F5CC-05F80DB16B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43777A7-DA62-EC5A-801B-A1CFA79235A6}"/>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6" name="Espace réservé du pied de page 5">
            <a:extLst>
              <a:ext uri="{FF2B5EF4-FFF2-40B4-BE49-F238E27FC236}">
                <a16:creationId xmlns:a16="http://schemas.microsoft.com/office/drawing/2014/main" id="{7EAA0495-1F6F-71A3-BB43-2D3E5961875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A6CB35E-347F-3F7F-8EB2-0CFA124F08AA}"/>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3457845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9522E-7313-AD80-AB5C-C00EE3DA611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879E323-6BB9-2DF0-E5B2-FCC5E6EFBC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FAD5966-0D80-63C0-A9E9-0BF3BC5946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F03CB00-13AE-5411-16A9-00FB25903AFF}"/>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6" name="Espace réservé du pied de page 5">
            <a:extLst>
              <a:ext uri="{FF2B5EF4-FFF2-40B4-BE49-F238E27FC236}">
                <a16:creationId xmlns:a16="http://schemas.microsoft.com/office/drawing/2014/main" id="{0F91D24F-3A1C-3BBB-0B04-1FEB7FAAEDD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097AB96-7745-B636-0DAE-613A85DB806B}"/>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3131807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E28727-682E-DD9D-587E-C505B7F34EC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0FB716E-1E47-7D11-AD32-32EB4ADB7EA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7180732-D467-3296-DF95-0DA1B8CDA8A3}"/>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5" name="Espace réservé du pied de page 4">
            <a:extLst>
              <a:ext uri="{FF2B5EF4-FFF2-40B4-BE49-F238E27FC236}">
                <a16:creationId xmlns:a16="http://schemas.microsoft.com/office/drawing/2014/main" id="{D61073B2-8BF3-60C4-A7AB-BE9B035E637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B70A603-7E32-87CB-4470-15337E38A14D}"/>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2295712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C25C207-B8FB-6279-1DFA-A78D2EDFF39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066A48D-3997-F95C-8E74-8E9A36E0B55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A205786-A793-A1F7-F413-39D800B80D7A}"/>
              </a:ext>
            </a:extLst>
          </p:cNvPr>
          <p:cNvSpPr>
            <a:spLocks noGrp="1"/>
          </p:cNvSpPr>
          <p:nvPr>
            <p:ph type="dt" sz="half" idx="10"/>
          </p:nvPr>
        </p:nvSpPr>
        <p:spPr/>
        <p:txBody>
          <a:bodyPr/>
          <a:lstStyle/>
          <a:p>
            <a:fld id="{245F7E3F-E8D8-214F-84CB-D07B32B308F5}" type="datetimeFigureOut">
              <a:rPr lang="fr-FR" smtClean="0"/>
              <a:t>29/12/2025</a:t>
            </a:fld>
            <a:endParaRPr lang="fr-FR"/>
          </a:p>
        </p:txBody>
      </p:sp>
      <p:sp>
        <p:nvSpPr>
          <p:cNvPr id="5" name="Espace réservé du pied de page 4">
            <a:extLst>
              <a:ext uri="{FF2B5EF4-FFF2-40B4-BE49-F238E27FC236}">
                <a16:creationId xmlns:a16="http://schemas.microsoft.com/office/drawing/2014/main" id="{7F387FC1-08D3-104C-71E7-0BA5318AAAC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40ED561-B7A7-B1C8-E390-9D9421393577}"/>
              </a:ext>
            </a:extLst>
          </p:cNvPr>
          <p:cNvSpPr>
            <a:spLocks noGrp="1"/>
          </p:cNvSpPr>
          <p:nvPr>
            <p:ph type="sldNum" sz="quarter" idx="12"/>
          </p:nvPr>
        </p:nvSpPr>
        <p:spPr/>
        <p:txBody>
          <a:bodyPr/>
          <a:lstStyle/>
          <a:p>
            <a:fld id="{3B132945-01F2-6A47-B297-08BA17574A0D}" type="slidenum">
              <a:rPr lang="fr-FR" smtClean="0"/>
              <a:t>‹N°›</a:t>
            </a:fld>
            <a:endParaRPr lang="fr-FR"/>
          </a:p>
        </p:txBody>
      </p:sp>
    </p:spTree>
    <p:extLst>
      <p:ext uri="{BB962C8B-B14F-4D97-AF65-F5344CB8AC3E}">
        <p14:creationId xmlns:p14="http://schemas.microsoft.com/office/powerpoint/2010/main" val="2886623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B784C3E-385B-AF42-C5AA-EEB31DE824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7037BF4-FCB4-E3C1-107D-22588EB7A4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3A705D3-8309-0C25-83B6-9AA6240D02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5F7E3F-E8D8-214F-84CB-D07B32B308F5}" type="datetimeFigureOut">
              <a:rPr lang="fr-FR" smtClean="0"/>
              <a:t>29/12/2025</a:t>
            </a:fld>
            <a:endParaRPr lang="fr-FR"/>
          </a:p>
        </p:txBody>
      </p:sp>
      <p:sp>
        <p:nvSpPr>
          <p:cNvPr id="5" name="Espace réservé du pied de page 4">
            <a:extLst>
              <a:ext uri="{FF2B5EF4-FFF2-40B4-BE49-F238E27FC236}">
                <a16:creationId xmlns:a16="http://schemas.microsoft.com/office/drawing/2014/main" id="{4D11C1FA-F041-CA1B-A59D-741E962680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E29F7FD-54C9-A066-1F44-B1FCC83CF3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32945-01F2-6A47-B297-08BA17574A0D}" type="slidenum">
              <a:rPr lang="fr-FR" smtClean="0"/>
              <a:t>‹N°›</a:t>
            </a:fld>
            <a:endParaRPr lang="fr-FR"/>
          </a:p>
        </p:txBody>
      </p:sp>
    </p:spTree>
    <p:extLst>
      <p:ext uri="{BB962C8B-B14F-4D97-AF65-F5344CB8AC3E}">
        <p14:creationId xmlns:p14="http://schemas.microsoft.com/office/powerpoint/2010/main" val="1666269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D8BA-DDA8-D1FA-9BA0-E11A513B52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4284BE0-9062-87BF-9366-C8598936ADE4}"/>
              </a:ext>
            </a:extLst>
          </p:cNvPr>
          <p:cNvSpPr>
            <a:spLocks noGrp="1"/>
          </p:cNvSpPr>
          <p:nvPr>
            <p:ph type="title"/>
          </p:nvPr>
        </p:nvSpPr>
        <p:spPr>
          <a:xfrm>
            <a:off x="838200" y="365125"/>
            <a:ext cx="10515600" cy="447675"/>
          </a:xfrm>
        </p:spPr>
        <p:txBody>
          <a:bodyPr>
            <a:normAutofit/>
          </a:bodyPr>
          <a:lstStyle/>
          <a:p>
            <a:r>
              <a:rPr lang="fr-FR" sz="2000" b="1" dirty="0"/>
              <a:t>SIMULATIONS DEPART RETRAITE : Réversion</a:t>
            </a:r>
          </a:p>
        </p:txBody>
      </p:sp>
      <p:sp>
        <p:nvSpPr>
          <p:cNvPr id="3" name="ZoneTexte 2">
            <a:extLst>
              <a:ext uri="{FF2B5EF4-FFF2-40B4-BE49-F238E27FC236}">
                <a16:creationId xmlns:a16="http://schemas.microsoft.com/office/drawing/2014/main" id="{83598C90-23BC-A276-C0EF-C06A0985A538}"/>
              </a:ext>
            </a:extLst>
          </p:cNvPr>
          <p:cNvSpPr txBox="1"/>
          <p:nvPr/>
        </p:nvSpPr>
        <p:spPr>
          <a:xfrm>
            <a:off x="838200" y="835025"/>
            <a:ext cx="10048875" cy="523220"/>
          </a:xfrm>
          <a:prstGeom prst="rect">
            <a:avLst/>
          </a:prstGeom>
          <a:noFill/>
        </p:spPr>
        <p:txBody>
          <a:bodyPr wrap="square" rtlCol="0">
            <a:spAutoFit/>
          </a:bodyPr>
          <a:lstStyle/>
          <a:p>
            <a:r>
              <a:rPr lang="fr-FR" sz="1400" dirty="0"/>
              <a:t>Au vu des éléments transmis, vous trouverez ci dessous le résultat de nos projections de vos pensions de retraite (Base + Complémentaire) selon le scénario communiqué</a:t>
            </a:r>
          </a:p>
        </p:txBody>
      </p:sp>
      <p:sp>
        <p:nvSpPr>
          <p:cNvPr id="6" name="Rectangle à coins arrondis 9">
            <a:extLst>
              <a:ext uri="{FF2B5EF4-FFF2-40B4-BE49-F238E27FC236}">
                <a16:creationId xmlns:a16="http://schemas.microsoft.com/office/drawing/2014/main" id="{0148C6B4-8E7C-C972-AF21-5E152E0D9A73}"/>
              </a:ext>
            </a:extLst>
          </p:cNvPr>
          <p:cNvSpPr/>
          <p:nvPr/>
        </p:nvSpPr>
        <p:spPr>
          <a:xfrm>
            <a:off x="1134768" y="1480459"/>
            <a:ext cx="10692471" cy="60197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Scenario : Revenu chez Elbaz de 5 250 € par an et 41 000 € chez SCM</a:t>
            </a:r>
          </a:p>
        </p:txBody>
      </p:sp>
      <p:sp>
        <p:nvSpPr>
          <p:cNvPr id="23" name="Rectangle 22">
            <a:extLst>
              <a:ext uri="{FF2B5EF4-FFF2-40B4-BE49-F238E27FC236}">
                <a16:creationId xmlns:a16="http://schemas.microsoft.com/office/drawing/2014/main" id="{860E48E0-7B00-7DE8-15C4-7403EEBCFA74}"/>
              </a:ext>
            </a:extLst>
          </p:cNvPr>
          <p:cNvSpPr/>
          <p:nvPr/>
        </p:nvSpPr>
        <p:spPr>
          <a:xfrm>
            <a:off x="4430663" y="6295928"/>
            <a:ext cx="166688" cy="17145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B4CA49E3-362F-A619-6946-FCAF51DF4005}"/>
              </a:ext>
            </a:extLst>
          </p:cNvPr>
          <p:cNvSpPr txBox="1"/>
          <p:nvPr/>
        </p:nvSpPr>
        <p:spPr>
          <a:xfrm>
            <a:off x="4617591" y="6236800"/>
            <a:ext cx="1607343" cy="276999"/>
          </a:xfrm>
          <a:prstGeom prst="rect">
            <a:avLst/>
          </a:prstGeom>
          <a:noFill/>
        </p:spPr>
        <p:txBody>
          <a:bodyPr wrap="square" rtlCol="0">
            <a:spAutoFit/>
          </a:bodyPr>
          <a:lstStyle/>
          <a:p>
            <a:r>
              <a:rPr lang="fr-FR" sz="1200" dirty="0"/>
              <a:t>Sous Ressources</a:t>
            </a:r>
          </a:p>
        </p:txBody>
      </p:sp>
      <p:sp>
        <p:nvSpPr>
          <p:cNvPr id="25" name="Rectangle 24">
            <a:extLst>
              <a:ext uri="{FF2B5EF4-FFF2-40B4-BE49-F238E27FC236}">
                <a16:creationId xmlns:a16="http://schemas.microsoft.com/office/drawing/2014/main" id="{0FCC06F3-0D7F-93AF-A3CF-BD616B66C765}"/>
              </a:ext>
            </a:extLst>
          </p:cNvPr>
          <p:cNvSpPr/>
          <p:nvPr/>
        </p:nvSpPr>
        <p:spPr>
          <a:xfrm>
            <a:off x="6312561" y="6304984"/>
            <a:ext cx="166688" cy="171451"/>
          </a:xfrm>
          <a:prstGeom prst="rect">
            <a:avLst/>
          </a:prstGeom>
          <a:solidFill>
            <a:srgbClr val="112BFF"/>
          </a:solidFill>
          <a:ln>
            <a:solidFill>
              <a:srgbClr val="112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3F022D85-D9F3-2055-0473-94520643072B}"/>
              </a:ext>
            </a:extLst>
          </p:cNvPr>
          <p:cNvSpPr txBox="1"/>
          <p:nvPr/>
        </p:nvSpPr>
        <p:spPr>
          <a:xfrm>
            <a:off x="6499489" y="6245856"/>
            <a:ext cx="1607343" cy="276999"/>
          </a:xfrm>
          <a:prstGeom prst="rect">
            <a:avLst/>
          </a:prstGeom>
          <a:noFill/>
        </p:spPr>
        <p:txBody>
          <a:bodyPr wrap="square" rtlCol="0">
            <a:spAutoFit/>
          </a:bodyPr>
          <a:lstStyle/>
          <a:p>
            <a:r>
              <a:rPr lang="fr-FR" sz="1200" dirty="0"/>
              <a:t>Hors Ressources</a:t>
            </a:r>
          </a:p>
        </p:txBody>
      </p:sp>
      <p:graphicFrame>
        <p:nvGraphicFramePr>
          <p:cNvPr id="32" name="Graphique 31">
            <a:extLst>
              <a:ext uri="{FF2B5EF4-FFF2-40B4-BE49-F238E27FC236}">
                <a16:creationId xmlns:a16="http://schemas.microsoft.com/office/drawing/2014/main" id="{486F9F29-F124-AB8C-8C3D-C7B5F6B0A037}"/>
              </a:ext>
            </a:extLst>
          </p:cNvPr>
          <p:cNvGraphicFramePr/>
          <p:nvPr>
            <p:extLst>
              <p:ext uri="{D42A27DB-BD31-4B8C-83A1-F6EECF244321}">
                <p14:modId xmlns:p14="http://schemas.microsoft.com/office/powerpoint/2010/main" val="2980431417"/>
              </p:ext>
            </p:extLst>
          </p:nvPr>
        </p:nvGraphicFramePr>
        <p:xfrm>
          <a:off x="629587" y="2465363"/>
          <a:ext cx="11197652" cy="3500437"/>
        </p:xfrm>
        <a:graphic>
          <a:graphicData uri="http://schemas.openxmlformats.org/drawingml/2006/chart">
            <c:chart xmlns:c="http://schemas.openxmlformats.org/drawingml/2006/chart" xmlns:r="http://schemas.openxmlformats.org/officeDocument/2006/relationships" r:id="rId2"/>
          </a:graphicData>
        </a:graphic>
      </p:graphicFrame>
      <p:pic>
        <p:nvPicPr>
          <p:cNvPr id="4" name="Image 3">
            <a:extLst>
              <a:ext uri="{FF2B5EF4-FFF2-40B4-BE49-F238E27FC236}">
                <a16:creationId xmlns:a16="http://schemas.microsoft.com/office/drawing/2014/main" id="{7C35CAC4-0638-D6F5-84F9-64B199A13824}"/>
              </a:ext>
            </a:extLst>
          </p:cNvPr>
          <p:cNvPicPr>
            <a:picLocks noChangeAspect="1"/>
          </p:cNvPicPr>
          <p:nvPr/>
        </p:nvPicPr>
        <p:blipFill>
          <a:blip r:embed="rId3"/>
          <a:stretch>
            <a:fillRect/>
          </a:stretch>
        </p:blipFill>
        <p:spPr>
          <a:xfrm>
            <a:off x="10614425" y="311"/>
            <a:ext cx="1537632" cy="1455807"/>
          </a:xfrm>
          <a:prstGeom prst="rect">
            <a:avLst/>
          </a:prstGeom>
        </p:spPr>
      </p:pic>
      <p:sp>
        <p:nvSpPr>
          <p:cNvPr id="9" name="Rectangle à coins arrondis 9">
            <a:extLst>
              <a:ext uri="{FF2B5EF4-FFF2-40B4-BE49-F238E27FC236}">
                <a16:creationId xmlns:a16="http://schemas.microsoft.com/office/drawing/2014/main" id="{8D4A9DD0-8FB0-4A4C-FF6F-CBEF63841FF7}"/>
              </a:ext>
            </a:extLst>
          </p:cNvPr>
          <p:cNvSpPr/>
          <p:nvPr/>
        </p:nvSpPr>
        <p:spPr>
          <a:xfrm>
            <a:off x="1355895"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1 137 €</a:t>
            </a:r>
          </a:p>
        </p:txBody>
      </p:sp>
      <p:sp>
        <p:nvSpPr>
          <p:cNvPr id="5" name="Rectangle à coins arrondis 9">
            <a:extLst>
              <a:ext uri="{FF2B5EF4-FFF2-40B4-BE49-F238E27FC236}">
                <a16:creationId xmlns:a16="http://schemas.microsoft.com/office/drawing/2014/main" id="{4286033F-B9DC-88D5-F1D5-13513EFDAAAE}"/>
              </a:ext>
            </a:extLst>
          </p:cNvPr>
          <p:cNvSpPr/>
          <p:nvPr/>
        </p:nvSpPr>
        <p:spPr>
          <a:xfrm>
            <a:off x="2468558"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1 147 €</a:t>
            </a:r>
          </a:p>
        </p:txBody>
      </p:sp>
      <p:sp>
        <p:nvSpPr>
          <p:cNvPr id="7" name="Rectangle à coins arrondis 9">
            <a:extLst>
              <a:ext uri="{FF2B5EF4-FFF2-40B4-BE49-F238E27FC236}">
                <a16:creationId xmlns:a16="http://schemas.microsoft.com/office/drawing/2014/main" id="{34C3B299-4282-B29D-EBE7-5D42F214183A}"/>
              </a:ext>
            </a:extLst>
          </p:cNvPr>
          <p:cNvSpPr/>
          <p:nvPr/>
        </p:nvSpPr>
        <p:spPr>
          <a:xfrm>
            <a:off x="3641181"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1 153 €</a:t>
            </a:r>
          </a:p>
        </p:txBody>
      </p:sp>
      <p:sp>
        <p:nvSpPr>
          <p:cNvPr id="8" name="Rectangle à coins arrondis 9">
            <a:extLst>
              <a:ext uri="{FF2B5EF4-FFF2-40B4-BE49-F238E27FC236}">
                <a16:creationId xmlns:a16="http://schemas.microsoft.com/office/drawing/2014/main" id="{ED8A9CEB-5065-D2E0-2854-971988EE9B80}"/>
              </a:ext>
            </a:extLst>
          </p:cNvPr>
          <p:cNvSpPr/>
          <p:nvPr/>
        </p:nvSpPr>
        <p:spPr>
          <a:xfrm>
            <a:off x="4813804"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1 154 €</a:t>
            </a:r>
          </a:p>
        </p:txBody>
      </p:sp>
      <p:sp>
        <p:nvSpPr>
          <p:cNvPr id="10" name="Rectangle à coins arrondis 9">
            <a:extLst>
              <a:ext uri="{FF2B5EF4-FFF2-40B4-BE49-F238E27FC236}">
                <a16:creationId xmlns:a16="http://schemas.microsoft.com/office/drawing/2014/main" id="{E6AB4162-FC3F-184C-0078-74048ED8C215}"/>
              </a:ext>
            </a:extLst>
          </p:cNvPr>
          <p:cNvSpPr/>
          <p:nvPr/>
        </p:nvSpPr>
        <p:spPr>
          <a:xfrm>
            <a:off x="5986427"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1 165 €</a:t>
            </a:r>
          </a:p>
        </p:txBody>
      </p:sp>
      <p:sp>
        <p:nvSpPr>
          <p:cNvPr id="11" name="Rectangle à coins arrondis 9">
            <a:extLst>
              <a:ext uri="{FF2B5EF4-FFF2-40B4-BE49-F238E27FC236}">
                <a16:creationId xmlns:a16="http://schemas.microsoft.com/office/drawing/2014/main" id="{69F374EB-77D7-8359-56DD-7514A1DDF9CC}"/>
              </a:ext>
            </a:extLst>
          </p:cNvPr>
          <p:cNvSpPr/>
          <p:nvPr/>
        </p:nvSpPr>
        <p:spPr>
          <a:xfrm>
            <a:off x="7159050"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1 180 €</a:t>
            </a:r>
          </a:p>
        </p:txBody>
      </p:sp>
      <p:sp>
        <p:nvSpPr>
          <p:cNvPr id="12" name="Rectangle à coins arrondis 9">
            <a:extLst>
              <a:ext uri="{FF2B5EF4-FFF2-40B4-BE49-F238E27FC236}">
                <a16:creationId xmlns:a16="http://schemas.microsoft.com/office/drawing/2014/main" id="{1C555A0E-E67E-A1AF-3F94-502B27027D23}"/>
              </a:ext>
            </a:extLst>
          </p:cNvPr>
          <p:cNvSpPr/>
          <p:nvPr/>
        </p:nvSpPr>
        <p:spPr>
          <a:xfrm>
            <a:off x="8320521"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1 181 €</a:t>
            </a:r>
          </a:p>
        </p:txBody>
      </p:sp>
      <p:sp>
        <p:nvSpPr>
          <p:cNvPr id="13" name="Rectangle à coins arrondis 9">
            <a:extLst>
              <a:ext uri="{FF2B5EF4-FFF2-40B4-BE49-F238E27FC236}">
                <a16:creationId xmlns:a16="http://schemas.microsoft.com/office/drawing/2014/main" id="{FD6A5561-6090-BD05-3B70-CE25CEE1E4BA}"/>
              </a:ext>
            </a:extLst>
          </p:cNvPr>
          <p:cNvSpPr/>
          <p:nvPr/>
        </p:nvSpPr>
        <p:spPr>
          <a:xfrm>
            <a:off x="9481992"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1 192 €</a:t>
            </a:r>
          </a:p>
        </p:txBody>
      </p:sp>
      <p:sp>
        <p:nvSpPr>
          <p:cNvPr id="14" name="Rectangle à coins arrondis 9">
            <a:extLst>
              <a:ext uri="{FF2B5EF4-FFF2-40B4-BE49-F238E27FC236}">
                <a16:creationId xmlns:a16="http://schemas.microsoft.com/office/drawing/2014/main" id="{61F870BE-795D-A137-A48B-AF1C0328B9E4}"/>
              </a:ext>
            </a:extLst>
          </p:cNvPr>
          <p:cNvSpPr/>
          <p:nvPr/>
        </p:nvSpPr>
        <p:spPr>
          <a:xfrm>
            <a:off x="10644405"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1 199 €</a:t>
            </a:r>
          </a:p>
        </p:txBody>
      </p:sp>
    </p:spTree>
    <p:extLst>
      <p:ext uri="{BB962C8B-B14F-4D97-AF65-F5344CB8AC3E}">
        <p14:creationId xmlns:p14="http://schemas.microsoft.com/office/powerpoint/2010/main" val="4120167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398EC238-B601-00AF-0E22-687D8E975978}"/>
              </a:ext>
            </a:extLst>
          </p:cNvPr>
          <p:cNvSpPr/>
          <p:nvPr/>
        </p:nvSpPr>
        <p:spPr>
          <a:xfrm>
            <a:off x="444664" y="402063"/>
            <a:ext cx="2576606" cy="419100"/>
          </a:xfrm>
          <a:prstGeom prst="roundRect">
            <a:avLst/>
          </a:prstGeom>
          <a:solidFill>
            <a:schemeClr val="bg2">
              <a:lumMod val="9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Monsieur Joaquim </a:t>
            </a:r>
            <a:r>
              <a:rPr lang="fr-FR" sz="1200" dirty="0" err="1">
                <a:solidFill>
                  <a:schemeClr val="tx1"/>
                </a:solidFill>
              </a:rPr>
              <a:t>Pinela</a:t>
            </a:r>
            <a:endParaRPr lang="fr-FR" sz="1200" dirty="0">
              <a:solidFill>
                <a:schemeClr val="tx1"/>
              </a:solidFill>
            </a:endParaRPr>
          </a:p>
        </p:txBody>
      </p:sp>
      <p:sp>
        <p:nvSpPr>
          <p:cNvPr id="7" name="Rectangle : coins arrondis 6">
            <a:extLst>
              <a:ext uri="{FF2B5EF4-FFF2-40B4-BE49-F238E27FC236}">
                <a16:creationId xmlns:a16="http://schemas.microsoft.com/office/drawing/2014/main" id="{EECA7CEC-7204-33BB-667F-7D54A5D076D2}"/>
              </a:ext>
            </a:extLst>
          </p:cNvPr>
          <p:cNvSpPr/>
          <p:nvPr/>
        </p:nvSpPr>
        <p:spPr>
          <a:xfrm>
            <a:off x="444664" y="921279"/>
            <a:ext cx="2576606" cy="419100"/>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15 Juillet 2025</a:t>
            </a:r>
          </a:p>
        </p:txBody>
      </p:sp>
      <p:cxnSp>
        <p:nvCxnSpPr>
          <p:cNvPr id="10" name="Connecteur droit 9">
            <a:extLst>
              <a:ext uri="{FF2B5EF4-FFF2-40B4-BE49-F238E27FC236}">
                <a16:creationId xmlns:a16="http://schemas.microsoft.com/office/drawing/2014/main" id="{E635C235-B2DD-6359-F214-CE70807D1F82}"/>
              </a:ext>
            </a:extLst>
          </p:cNvPr>
          <p:cNvCxnSpPr>
            <a:cxnSpLocks/>
          </p:cNvCxnSpPr>
          <p:nvPr/>
        </p:nvCxnSpPr>
        <p:spPr>
          <a:xfrm>
            <a:off x="319314" y="2389594"/>
            <a:ext cx="11582400" cy="0"/>
          </a:xfrm>
          <a:prstGeom prst="line">
            <a:avLst/>
          </a:prstGeom>
          <a:ln w="3492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1B294FF6-F973-DE06-6E24-D512EE72779A}"/>
              </a:ext>
            </a:extLst>
          </p:cNvPr>
          <p:cNvSpPr/>
          <p:nvPr/>
        </p:nvSpPr>
        <p:spPr>
          <a:xfrm>
            <a:off x="10522227" y="2305887"/>
            <a:ext cx="185530" cy="159009"/>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38B88241-3552-1B6D-ABB2-FF9DFBA0126A}"/>
              </a:ext>
            </a:extLst>
          </p:cNvPr>
          <p:cNvSpPr txBox="1"/>
          <p:nvPr/>
        </p:nvSpPr>
        <p:spPr>
          <a:xfrm>
            <a:off x="444664" y="1870378"/>
            <a:ext cx="7368209" cy="461665"/>
          </a:xfrm>
          <a:prstGeom prst="rect">
            <a:avLst/>
          </a:prstGeom>
          <a:noFill/>
        </p:spPr>
        <p:txBody>
          <a:bodyPr wrap="square" rtlCol="0">
            <a:spAutoFit/>
          </a:bodyPr>
          <a:lstStyle/>
          <a:p>
            <a:r>
              <a:rPr lang="fr-FR" sz="2400" b="1" dirty="0"/>
              <a:t>Bilan Retraite</a:t>
            </a:r>
          </a:p>
        </p:txBody>
      </p:sp>
      <p:pic>
        <p:nvPicPr>
          <p:cNvPr id="14" name="Image 13">
            <a:extLst>
              <a:ext uri="{FF2B5EF4-FFF2-40B4-BE49-F238E27FC236}">
                <a16:creationId xmlns:a16="http://schemas.microsoft.com/office/drawing/2014/main" id="{78BA6B83-8D1F-DF57-423D-D42F45A3D486}"/>
              </a:ext>
            </a:extLst>
          </p:cNvPr>
          <p:cNvPicPr>
            <a:picLocks noChangeAspect="1"/>
          </p:cNvPicPr>
          <p:nvPr/>
        </p:nvPicPr>
        <p:blipFill>
          <a:blip r:embed="rId2"/>
          <a:stretch>
            <a:fillRect/>
          </a:stretch>
        </p:blipFill>
        <p:spPr>
          <a:xfrm>
            <a:off x="4655380" y="3021475"/>
            <a:ext cx="2881239" cy="2074492"/>
          </a:xfrm>
          <a:prstGeom prst="rect">
            <a:avLst/>
          </a:prstGeom>
        </p:spPr>
      </p:pic>
      <p:sp>
        <p:nvSpPr>
          <p:cNvPr id="15" name="ZoneTexte 14">
            <a:extLst>
              <a:ext uri="{FF2B5EF4-FFF2-40B4-BE49-F238E27FC236}">
                <a16:creationId xmlns:a16="http://schemas.microsoft.com/office/drawing/2014/main" id="{E1190F59-73D8-A526-79F4-B3836998AC37}"/>
              </a:ext>
            </a:extLst>
          </p:cNvPr>
          <p:cNvSpPr txBox="1"/>
          <p:nvPr/>
        </p:nvSpPr>
        <p:spPr>
          <a:xfrm>
            <a:off x="444664" y="5373791"/>
            <a:ext cx="2809461" cy="861774"/>
          </a:xfrm>
          <a:prstGeom prst="rect">
            <a:avLst/>
          </a:prstGeom>
          <a:noFill/>
        </p:spPr>
        <p:txBody>
          <a:bodyPr wrap="square" rtlCol="0">
            <a:spAutoFit/>
          </a:bodyPr>
          <a:lstStyle/>
          <a:p>
            <a:r>
              <a:rPr lang="fr-FR" sz="1000" dirty="0"/>
              <a:t>Romain Depardieu</a:t>
            </a:r>
          </a:p>
          <a:p>
            <a:r>
              <a:rPr lang="fr-FR" sz="1000" dirty="0"/>
              <a:t>28 Avenue de </a:t>
            </a:r>
            <a:r>
              <a:rPr lang="fr-FR" sz="1000"/>
              <a:t>Marinville</a:t>
            </a:r>
            <a:endParaRPr lang="fr-FR" sz="1000" dirty="0"/>
          </a:p>
          <a:p>
            <a:r>
              <a:rPr lang="fr-FR" sz="1000" dirty="0"/>
              <a:t>94100 Saint Maur des Fosses</a:t>
            </a:r>
          </a:p>
          <a:p>
            <a:r>
              <a:rPr lang="fr-FR" sz="1000" dirty="0"/>
              <a:t>Tel : 06 58 52 86 41</a:t>
            </a:r>
          </a:p>
          <a:p>
            <a:r>
              <a:rPr lang="fr-FR" sz="1000" dirty="0" err="1">
                <a:solidFill>
                  <a:srgbClr val="FF0000"/>
                </a:solidFill>
              </a:rPr>
              <a:t>r.depardieu@toucan-conseils.fr</a:t>
            </a:r>
            <a:endParaRPr lang="fr-FR" sz="1000" dirty="0">
              <a:solidFill>
                <a:srgbClr val="FF0000"/>
              </a:solidFill>
            </a:endParaRPr>
          </a:p>
        </p:txBody>
      </p:sp>
      <p:sp>
        <p:nvSpPr>
          <p:cNvPr id="16" name="ZoneTexte 15">
            <a:extLst>
              <a:ext uri="{FF2B5EF4-FFF2-40B4-BE49-F238E27FC236}">
                <a16:creationId xmlns:a16="http://schemas.microsoft.com/office/drawing/2014/main" id="{21A18772-B328-3188-9F33-A01BBE47550E}"/>
              </a:ext>
            </a:extLst>
          </p:cNvPr>
          <p:cNvSpPr txBox="1"/>
          <p:nvPr/>
        </p:nvSpPr>
        <p:spPr>
          <a:xfrm>
            <a:off x="8560906" y="2607090"/>
            <a:ext cx="2054086" cy="707886"/>
          </a:xfrm>
          <a:prstGeom prst="rect">
            <a:avLst/>
          </a:prstGeom>
          <a:noFill/>
        </p:spPr>
        <p:txBody>
          <a:bodyPr wrap="square" rtlCol="0">
            <a:spAutoFit/>
          </a:bodyPr>
          <a:lstStyle/>
          <a:p>
            <a:pPr algn="r"/>
            <a:r>
              <a:rPr lang="fr-FR" sz="1000" dirty="0">
                <a:solidFill>
                  <a:schemeClr val="accent2"/>
                </a:solidFill>
              </a:rPr>
              <a:t>PREVOYANCE</a:t>
            </a:r>
          </a:p>
          <a:p>
            <a:pPr algn="r"/>
            <a:r>
              <a:rPr lang="fr-FR" sz="1000" dirty="0">
                <a:solidFill>
                  <a:schemeClr val="accent2"/>
                </a:solidFill>
              </a:rPr>
              <a:t>SANTE</a:t>
            </a:r>
          </a:p>
          <a:p>
            <a:pPr algn="r"/>
            <a:r>
              <a:rPr lang="fr-FR" sz="1000" dirty="0">
                <a:solidFill>
                  <a:schemeClr val="accent2"/>
                </a:solidFill>
              </a:rPr>
              <a:t>RETRAITE</a:t>
            </a:r>
          </a:p>
          <a:p>
            <a:pPr algn="r"/>
            <a:r>
              <a:rPr lang="fr-FR" sz="1000" dirty="0">
                <a:solidFill>
                  <a:schemeClr val="accent2"/>
                </a:solidFill>
              </a:rPr>
              <a:t>EPARGNE SALARIALE</a:t>
            </a:r>
          </a:p>
        </p:txBody>
      </p:sp>
      <p:sp>
        <p:nvSpPr>
          <p:cNvPr id="2" name="Rectangle 2">
            <a:extLst>
              <a:ext uri="{FF2B5EF4-FFF2-40B4-BE49-F238E27FC236}">
                <a16:creationId xmlns:a16="http://schemas.microsoft.com/office/drawing/2014/main" id="{0043B06E-6CEB-3D40-F9F1-EC093FCCF543}"/>
              </a:ext>
            </a:extLst>
          </p:cNvPr>
          <p:cNvSpPr>
            <a:spLocks noChangeArrowheads="1"/>
          </p:cNvSpPr>
          <p:nvPr/>
        </p:nvSpPr>
        <p:spPr bwMode="auto">
          <a:xfrm>
            <a:off x="9910989" y="11947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3" name="Image 2">
            <a:extLst>
              <a:ext uri="{FF2B5EF4-FFF2-40B4-BE49-F238E27FC236}">
                <a16:creationId xmlns:a16="http://schemas.microsoft.com/office/drawing/2014/main" id="{A540E7C4-17A1-8961-22E4-764DC045694F}"/>
              </a:ext>
            </a:extLst>
          </p:cNvPr>
          <p:cNvPicPr>
            <a:picLocks noChangeAspect="1"/>
          </p:cNvPicPr>
          <p:nvPr/>
        </p:nvPicPr>
        <p:blipFill>
          <a:blip r:embed="rId3"/>
          <a:stretch>
            <a:fillRect/>
          </a:stretch>
        </p:blipFill>
        <p:spPr>
          <a:xfrm>
            <a:off x="10664893" y="0"/>
            <a:ext cx="1537632" cy="1455807"/>
          </a:xfrm>
          <a:prstGeom prst="rect">
            <a:avLst/>
          </a:prstGeom>
        </p:spPr>
      </p:pic>
    </p:spTree>
    <p:extLst>
      <p:ext uri="{BB962C8B-B14F-4D97-AF65-F5344CB8AC3E}">
        <p14:creationId xmlns:p14="http://schemas.microsoft.com/office/powerpoint/2010/main" val="1983909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BILAN RETRAITE</a:t>
            </a:r>
          </a:p>
        </p:txBody>
      </p:sp>
      <p:sp>
        <p:nvSpPr>
          <p:cNvPr id="3" name="Espace réservé du contenu 2">
            <a:extLst>
              <a:ext uri="{FF2B5EF4-FFF2-40B4-BE49-F238E27FC236}">
                <a16:creationId xmlns:a16="http://schemas.microsoft.com/office/drawing/2014/main" id="{C2017E53-D37F-6413-B21C-723B3828EABC}"/>
              </a:ext>
            </a:extLst>
          </p:cNvPr>
          <p:cNvSpPr>
            <a:spLocks noGrp="1"/>
          </p:cNvSpPr>
          <p:nvPr>
            <p:ph idx="1"/>
          </p:nvPr>
        </p:nvSpPr>
        <p:spPr>
          <a:xfrm>
            <a:off x="838200" y="1074057"/>
            <a:ext cx="10515600" cy="5204506"/>
          </a:xfrm>
        </p:spPr>
        <p:txBody>
          <a:bodyPr>
            <a:normAutofit/>
          </a:bodyPr>
          <a:lstStyle/>
          <a:p>
            <a:pPr marL="0" indent="0">
              <a:buNone/>
            </a:pPr>
            <a:r>
              <a:rPr lang="fr-FR" sz="1600" dirty="0"/>
              <a:t>Afin de réaliser votre bilan retraite, nous avons besoin de :</a:t>
            </a:r>
          </a:p>
          <a:p>
            <a:pPr marL="0" indent="0">
              <a:buNone/>
            </a:pPr>
            <a:endParaRPr lang="fr-FR" sz="1600" dirty="0"/>
          </a:p>
          <a:p>
            <a:pPr marL="0" indent="0">
              <a:buNone/>
            </a:pPr>
            <a:r>
              <a:rPr lang="fr-FR" sz="1600" dirty="0"/>
              <a:t>	- Votre Relevé de Situation tous régimes confondus (à télécharger sur le site de l’Assurance Retraite)</a:t>
            </a:r>
          </a:p>
          <a:p>
            <a:pPr marL="0" indent="0">
              <a:buNone/>
            </a:pPr>
            <a:r>
              <a:rPr lang="fr-FR" sz="1600" dirty="0"/>
              <a:t>	- Livret de Famille</a:t>
            </a:r>
          </a:p>
          <a:p>
            <a:pPr marL="0" indent="0">
              <a:buNone/>
            </a:pPr>
            <a:r>
              <a:rPr lang="fr-FR" sz="1600" dirty="0"/>
              <a:t>	- Relevé de Situation de contrat de Retraite Supplémentaire (Madelin, Art.83, PER….)</a:t>
            </a:r>
          </a:p>
          <a:p>
            <a:pPr marL="0" indent="0">
              <a:buNone/>
            </a:pPr>
            <a:r>
              <a:rPr lang="fr-FR" sz="1600" dirty="0"/>
              <a:t>	- Nombre d’Enfant</a:t>
            </a:r>
          </a:p>
          <a:p>
            <a:pPr marL="0" indent="0">
              <a:buNone/>
            </a:pPr>
            <a:endParaRPr lang="fr-FR" sz="1600" dirty="0"/>
          </a:p>
          <a:p>
            <a:pPr marL="0" indent="0">
              <a:buNone/>
            </a:pPr>
            <a:r>
              <a:rPr lang="fr-FR" sz="1600" dirty="0"/>
              <a:t>Notre Rapport présente :</a:t>
            </a:r>
          </a:p>
          <a:p>
            <a:pPr marL="0" indent="0">
              <a:buNone/>
            </a:pPr>
            <a:r>
              <a:rPr lang="fr-FR" sz="1600" dirty="0"/>
              <a:t>	</a:t>
            </a:r>
          </a:p>
          <a:p>
            <a:pPr marL="0" indent="0">
              <a:buNone/>
            </a:pPr>
            <a:r>
              <a:rPr lang="fr-FR" sz="1600" dirty="0"/>
              <a:t>	- Présentation de votre situation personnelle</a:t>
            </a:r>
          </a:p>
          <a:p>
            <a:pPr marL="0" indent="0">
              <a:buNone/>
            </a:pPr>
            <a:r>
              <a:rPr lang="fr-FR" sz="1600" dirty="0"/>
              <a:t>	- Simulation de départ à la retraite</a:t>
            </a:r>
          </a:p>
          <a:p>
            <a:pPr marL="0" indent="0">
              <a:buNone/>
            </a:pPr>
            <a:r>
              <a:rPr lang="fr-FR" sz="1600" dirty="0"/>
              <a:t>	- Simulation de réversion</a:t>
            </a:r>
          </a:p>
          <a:p>
            <a:pPr marL="0" indent="0">
              <a:buNone/>
            </a:pPr>
            <a:r>
              <a:rPr lang="fr-FR" sz="1600" dirty="0"/>
              <a:t>	- Présentation PER</a:t>
            </a:r>
          </a:p>
          <a:p>
            <a:pPr marL="0" indent="0">
              <a:buNone/>
            </a:pPr>
            <a:r>
              <a:rPr lang="fr-FR" sz="1600" dirty="0"/>
              <a:t>	</a:t>
            </a:r>
          </a:p>
        </p:txBody>
      </p:sp>
      <p:pic>
        <p:nvPicPr>
          <p:cNvPr id="4" name="Image 3">
            <a:extLst>
              <a:ext uri="{FF2B5EF4-FFF2-40B4-BE49-F238E27FC236}">
                <a16:creationId xmlns:a16="http://schemas.microsoft.com/office/drawing/2014/main" id="{614BECF2-B56C-7F66-0BF7-A9B2577819B8}"/>
              </a:ext>
            </a:extLst>
          </p:cNvPr>
          <p:cNvPicPr>
            <a:picLocks noChangeAspect="1"/>
          </p:cNvPicPr>
          <p:nvPr/>
        </p:nvPicPr>
        <p:blipFill>
          <a:blip r:embed="rId2"/>
          <a:stretch>
            <a:fillRect/>
          </a:stretch>
        </p:blipFill>
        <p:spPr>
          <a:xfrm>
            <a:off x="10654368" y="0"/>
            <a:ext cx="1537632" cy="1455807"/>
          </a:xfrm>
          <a:prstGeom prst="rect">
            <a:avLst/>
          </a:prstGeom>
        </p:spPr>
      </p:pic>
    </p:spTree>
    <p:extLst>
      <p:ext uri="{BB962C8B-B14F-4D97-AF65-F5344CB8AC3E}">
        <p14:creationId xmlns:p14="http://schemas.microsoft.com/office/powerpoint/2010/main" val="1599139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COMMENT SE CALCULE LA RETRAITE DU REGIME DE BASE</a:t>
            </a:r>
          </a:p>
        </p:txBody>
      </p:sp>
      <p:sp>
        <p:nvSpPr>
          <p:cNvPr id="3" name="Espace réservé du contenu 2">
            <a:extLst>
              <a:ext uri="{FF2B5EF4-FFF2-40B4-BE49-F238E27FC236}">
                <a16:creationId xmlns:a16="http://schemas.microsoft.com/office/drawing/2014/main" id="{C2017E53-D37F-6413-B21C-723B3828EABC}"/>
              </a:ext>
            </a:extLst>
          </p:cNvPr>
          <p:cNvSpPr>
            <a:spLocks noGrp="1"/>
          </p:cNvSpPr>
          <p:nvPr>
            <p:ph idx="1"/>
          </p:nvPr>
        </p:nvSpPr>
        <p:spPr>
          <a:xfrm>
            <a:off x="838200" y="1074057"/>
            <a:ext cx="10515600" cy="5204506"/>
          </a:xfrm>
        </p:spPr>
        <p:txBody>
          <a:bodyPr>
            <a:normAutofit/>
          </a:bodyPr>
          <a:lstStyle/>
          <a:p>
            <a:pPr marL="0" indent="0">
              <a:buNone/>
            </a:pPr>
            <a:r>
              <a:rPr lang="fr-FR" sz="1600" dirty="0"/>
              <a:t>Afin de bénéficier de la Retraite de Base (CNAV) à Taux Plein, il convient de réunir les 2 conditions suivantes :</a:t>
            </a:r>
          </a:p>
          <a:p>
            <a:pPr marL="0" indent="0">
              <a:buNone/>
            </a:pPr>
            <a:r>
              <a:rPr lang="fr-FR" sz="1600" dirty="0"/>
              <a:t>	- Avoir Atteint l’âge légal de départ, 63 Ans et 6 Mois, sauf cas spécifique (carrière longue, régimes spéciaux ….)</a:t>
            </a:r>
          </a:p>
          <a:p>
            <a:pPr marL="0" indent="0">
              <a:buNone/>
            </a:pPr>
            <a:r>
              <a:rPr lang="fr-FR" sz="1600" dirty="0"/>
              <a:t>	- Avoir le nombre de trimestres cotisés nécessaires. Ce nombre variant en fonction de votre date de naissance</a:t>
            </a:r>
          </a:p>
          <a:p>
            <a:pPr marL="0" indent="0">
              <a:buNone/>
            </a:pPr>
            <a:r>
              <a:rPr lang="fr-FR" sz="1600" dirty="0"/>
              <a:t>	- Les prélèvements sociaux sont de 9,10 % et ils sont retirés de notre rapport.</a:t>
            </a:r>
          </a:p>
          <a:p>
            <a:pPr marL="0" indent="0">
              <a:buNone/>
            </a:pPr>
            <a:r>
              <a:rPr lang="fr-FR" sz="1600" b="1" u="sng" dirty="0"/>
              <a:t>A 67 Ans, le taux plein est automatiquement acquis même si tous les trimestres ne sont pas acquis.</a:t>
            </a:r>
          </a:p>
          <a:p>
            <a:pPr marL="0" indent="0">
              <a:buNone/>
            </a:pPr>
            <a:r>
              <a:rPr lang="fr-FR" sz="1600" dirty="0"/>
              <a:t>Conditions pour avoir le montant maximum de retraite :</a:t>
            </a:r>
          </a:p>
          <a:p>
            <a:pPr marL="0" indent="0">
              <a:buNone/>
            </a:pPr>
            <a:r>
              <a:rPr lang="fr-FR" sz="1600" dirty="0"/>
              <a:t>	- Avoir 25 Années au Plafond Annuel de la Sécurité Sociale</a:t>
            </a:r>
          </a:p>
          <a:p>
            <a:pPr marL="0" indent="0">
              <a:buNone/>
            </a:pPr>
            <a:r>
              <a:rPr lang="fr-FR" sz="1600" dirty="0"/>
              <a:t>	- Avoir tous les trimestres soit 167 pour votre année de naissance</a:t>
            </a:r>
          </a:p>
          <a:p>
            <a:pPr marL="0" indent="0">
              <a:buNone/>
            </a:pPr>
            <a:endParaRPr lang="fr-FR" sz="1600" dirty="0"/>
          </a:p>
          <a:p>
            <a:pPr marL="0" indent="0">
              <a:buNone/>
            </a:pPr>
            <a:r>
              <a:rPr lang="fr-FR" sz="1600" dirty="0"/>
              <a:t>Règle de Calcul : SAM x Taux Plein x       Trimestres Cotisés			Ex : 40 000 € x 50 % x 	167</a:t>
            </a:r>
          </a:p>
          <a:p>
            <a:pPr marL="0" indent="0">
              <a:buNone/>
            </a:pPr>
            <a:r>
              <a:rPr lang="fr-FR" sz="1600" dirty="0"/>
              <a:t>			      Trimestres Nécessaires			  	                    167</a:t>
            </a:r>
          </a:p>
          <a:p>
            <a:pPr marL="0" indent="0">
              <a:buNone/>
            </a:pPr>
            <a:endParaRPr lang="fr-FR" sz="1600" dirty="0"/>
          </a:p>
        </p:txBody>
      </p:sp>
      <p:cxnSp>
        <p:nvCxnSpPr>
          <p:cNvPr id="6" name="Connecteur droit 5">
            <a:extLst>
              <a:ext uri="{FF2B5EF4-FFF2-40B4-BE49-F238E27FC236}">
                <a16:creationId xmlns:a16="http://schemas.microsoft.com/office/drawing/2014/main" id="{D6A718F3-7CFC-75AB-FEA3-1030A36E7C69}"/>
              </a:ext>
            </a:extLst>
          </p:cNvPr>
          <p:cNvCxnSpPr/>
          <p:nvPr/>
        </p:nvCxnSpPr>
        <p:spPr>
          <a:xfrm>
            <a:off x="3875314" y="4489418"/>
            <a:ext cx="1959429" cy="0"/>
          </a:xfrm>
          <a:prstGeom prst="line">
            <a:avLst/>
          </a:prstGeom>
          <a:ln/>
        </p:spPr>
        <p:style>
          <a:lnRef idx="1">
            <a:schemeClr val="dk1"/>
          </a:lnRef>
          <a:fillRef idx="0">
            <a:schemeClr val="dk1"/>
          </a:fillRef>
          <a:effectRef idx="0">
            <a:schemeClr val="dk1"/>
          </a:effectRef>
          <a:fontRef idx="minor">
            <a:schemeClr val="tx1"/>
          </a:fontRef>
        </p:style>
      </p:cxnSp>
      <p:cxnSp>
        <p:nvCxnSpPr>
          <p:cNvPr id="7" name="Connecteur droit 6">
            <a:extLst>
              <a:ext uri="{FF2B5EF4-FFF2-40B4-BE49-F238E27FC236}">
                <a16:creationId xmlns:a16="http://schemas.microsoft.com/office/drawing/2014/main" id="{EE823C57-AE1F-9F8D-8D76-A51B3F11E106}"/>
              </a:ext>
            </a:extLst>
          </p:cNvPr>
          <p:cNvCxnSpPr>
            <a:cxnSpLocks/>
          </p:cNvCxnSpPr>
          <p:nvPr/>
        </p:nvCxnSpPr>
        <p:spPr>
          <a:xfrm>
            <a:off x="10015606" y="4489418"/>
            <a:ext cx="384630" cy="0"/>
          </a:xfrm>
          <a:prstGeom prst="line">
            <a:avLst/>
          </a:prstGeom>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E4C51D9A-5A70-6175-2E21-9EB5952FF64B}"/>
              </a:ext>
            </a:extLst>
          </p:cNvPr>
          <p:cNvSpPr/>
          <p:nvPr/>
        </p:nvSpPr>
        <p:spPr>
          <a:xfrm>
            <a:off x="464458" y="4981508"/>
            <a:ext cx="5848708" cy="1015663"/>
          </a:xfrm>
          <a:prstGeom prst="rect">
            <a:avLst/>
          </a:prstGeom>
        </p:spPr>
        <p:txBody>
          <a:bodyPr wrap="square">
            <a:spAutoFit/>
          </a:bodyPr>
          <a:lstStyle/>
          <a:p>
            <a:pPr lvl="1"/>
            <a:r>
              <a:rPr lang="fr-FR" sz="1200" b="1" dirty="0">
                <a:ea typeface="Cambria Math" panose="02040503050406030204" pitchFamily="18" charset="0"/>
              </a:rPr>
              <a:t>SAM : </a:t>
            </a:r>
            <a:r>
              <a:rPr lang="fr-FR" sz="1200" dirty="0">
                <a:ea typeface="Cambria Math" panose="02040503050406030204" pitchFamily="18" charset="0"/>
              </a:rPr>
              <a:t>Salaire annuel moyen plafonné au PASS sur les 25 meilleures années</a:t>
            </a:r>
          </a:p>
          <a:p>
            <a:pPr lvl="1"/>
            <a:r>
              <a:rPr lang="fr-FR" sz="1200" b="1" dirty="0">
                <a:ea typeface="Cambria Math" panose="02040503050406030204" pitchFamily="18" charset="0"/>
              </a:rPr>
              <a:t>Taux plein : </a:t>
            </a:r>
            <a:r>
              <a:rPr lang="fr-FR" sz="1200" dirty="0">
                <a:ea typeface="Cambria Math" panose="02040503050406030204" pitchFamily="18" charset="0"/>
              </a:rPr>
              <a:t>50 % si atteinte du nombre de trimestres cotisés nécessaires</a:t>
            </a:r>
          </a:p>
          <a:p>
            <a:pPr lvl="1"/>
            <a:r>
              <a:rPr lang="fr-FR" sz="1200" b="1" dirty="0">
                <a:ea typeface="Cambria Math" panose="02040503050406030204" pitchFamily="18" charset="0"/>
              </a:rPr>
              <a:t>Trimestres cotisés </a:t>
            </a:r>
            <a:r>
              <a:rPr lang="fr-FR" sz="1200" dirty="0">
                <a:ea typeface="Cambria Math" panose="02040503050406030204" pitchFamily="18" charset="0"/>
              </a:rPr>
              <a:t>: nombre de trimestres cotisés pendant votre carrière</a:t>
            </a:r>
          </a:p>
          <a:p>
            <a:pPr lvl="1"/>
            <a:r>
              <a:rPr lang="fr-FR" sz="1200" b="1" dirty="0">
                <a:ea typeface="Cambria Math" panose="02040503050406030204" pitchFamily="18" charset="0"/>
              </a:rPr>
              <a:t>Trimestres nécessaires : </a:t>
            </a:r>
            <a:r>
              <a:rPr lang="fr-FR" sz="1200" dirty="0">
                <a:ea typeface="Cambria Math" panose="02040503050406030204" pitchFamily="18" charset="0"/>
              </a:rPr>
              <a:t>nombre de trimestres nécessaires en fonction de votre année de naissance</a:t>
            </a:r>
          </a:p>
        </p:txBody>
      </p:sp>
      <p:sp>
        <p:nvSpPr>
          <p:cNvPr id="11" name="Rectangle 10">
            <a:extLst>
              <a:ext uri="{FF2B5EF4-FFF2-40B4-BE49-F238E27FC236}">
                <a16:creationId xmlns:a16="http://schemas.microsoft.com/office/drawing/2014/main" id="{0F7C8431-FF8F-9FE2-2F85-B295DFC20EA7}"/>
              </a:ext>
            </a:extLst>
          </p:cNvPr>
          <p:cNvSpPr/>
          <p:nvPr/>
        </p:nvSpPr>
        <p:spPr>
          <a:xfrm>
            <a:off x="7008658" y="5007850"/>
            <a:ext cx="4170024" cy="646331"/>
          </a:xfrm>
          <a:prstGeom prst="rect">
            <a:avLst/>
          </a:prstGeom>
        </p:spPr>
        <p:txBody>
          <a:bodyPr wrap="square">
            <a:spAutoFit/>
          </a:bodyPr>
          <a:lstStyle/>
          <a:p>
            <a:pPr lvl="1"/>
            <a:r>
              <a:rPr lang="fr-FR" sz="1200" dirty="0">
                <a:ea typeface="Cambria Math" panose="02040503050406030204" pitchFamily="18" charset="0"/>
              </a:rPr>
              <a:t>Pour une personne née en 1959,  ayant 25 années au Plafond annuel de la Sécurité Sociale et qui a cotisé à 167 trimestres pendant sa carrière.</a:t>
            </a:r>
          </a:p>
        </p:txBody>
      </p:sp>
      <p:pic>
        <p:nvPicPr>
          <p:cNvPr id="4" name="Image 3">
            <a:extLst>
              <a:ext uri="{FF2B5EF4-FFF2-40B4-BE49-F238E27FC236}">
                <a16:creationId xmlns:a16="http://schemas.microsoft.com/office/drawing/2014/main" id="{E0A8B18C-FCE1-99A1-3CAB-DAB758BA8831}"/>
              </a:ext>
            </a:extLst>
          </p:cNvPr>
          <p:cNvPicPr>
            <a:picLocks noChangeAspect="1"/>
          </p:cNvPicPr>
          <p:nvPr/>
        </p:nvPicPr>
        <p:blipFill>
          <a:blip r:embed="rId2"/>
          <a:stretch>
            <a:fillRect/>
          </a:stretch>
        </p:blipFill>
        <p:spPr>
          <a:xfrm>
            <a:off x="10654368" y="0"/>
            <a:ext cx="1537632" cy="1455807"/>
          </a:xfrm>
          <a:prstGeom prst="rect">
            <a:avLst/>
          </a:prstGeom>
        </p:spPr>
      </p:pic>
    </p:spTree>
    <p:extLst>
      <p:ext uri="{BB962C8B-B14F-4D97-AF65-F5344CB8AC3E}">
        <p14:creationId xmlns:p14="http://schemas.microsoft.com/office/powerpoint/2010/main" val="3697299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72908" y="1975221"/>
            <a:ext cx="10246183" cy="1537956"/>
          </a:xfrm>
          <a:prstGeom prst="rect">
            <a:avLst/>
          </a:prstGeom>
        </p:spPr>
        <p:txBody>
          <a:bodyPr vert="horz" wrap="square" lIns="0" tIns="9242" rIns="0" bIns="0" rtlCol="0">
            <a:spAutoFit/>
          </a:bodyPr>
          <a:lstStyle/>
          <a:p>
            <a:pPr marL="7701" algn="just">
              <a:spcBef>
                <a:spcPts val="73"/>
              </a:spcBef>
            </a:pPr>
            <a:r>
              <a:rPr lang="fr-FR" sz="1600" spc="33" dirty="0">
                <a:cs typeface="Arial"/>
              </a:rPr>
              <a:t>Les trimestres suivants sont pris en compte par la CNAV pour déterminer le nombre de trimestres effectués.</a:t>
            </a:r>
          </a:p>
          <a:p>
            <a:pPr marL="7701" algn="just">
              <a:spcBef>
                <a:spcPts val="73"/>
              </a:spcBef>
            </a:pPr>
            <a:endParaRPr lang="fr-FR" sz="1600" spc="33" dirty="0">
              <a:cs typeface="Arial"/>
            </a:endParaRPr>
          </a:p>
          <a:p>
            <a:pPr marL="7701" algn="just">
              <a:spcBef>
                <a:spcPts val="73"/>
              </a:spcBef>
            </a:pPr>
            <a:r>
              <a:rPr lang="fr-FR" sz="1600" b="1" u="sng" spc="33" dirty="0">
                <a:cs typeface="Arial"/>
              </a:rPr>
              <a:t>Trimestres Cotisés </a:t>
            </a:r>
            <a:r>
              <a:rPr lang="fr-FR" sz="1600" b="1" spc="33" dirty="0">
                <a:cs typeface="Arial"/>
              </a:rPr>
              <a:t>: </a:t>
            </a:r>
            <a:r>
              <a:rPr lang="fr-FR" sz="1600" spc="33" dirty="0">
                <a:cs typeface="Arial"/>
              </a:rPr>
              <a:t>ils sont déterminés en fonction des salaires annuels bruts des assurés plafonnés au PASS.</a:t>
            </a:r>
          </a:p>
          <a:p>
            <a:pPr marL="7701" algn="just">
              <a:spcBef>
                <a:spcPts val="73"/>
              </a:spcBef>
            </a:pPr>
            <a:endParaRPr lang="fr-FR" sz="1600" spc="33" dirty="0">
              <a:cs typeface="Arial"/>
            </a:endParaRPr>
          </a:p>
          <a:p>
            <a:pPr marL="7701" algn="just">
              <a:spcBef>
                <a:spcPts val="73"/>
              </a:spcBef>
            </a:pPr>
            <a:r>
              <a:rPr lang="fr-FR" sz="1600" b="1" u="sng" dirty="0">
                <a:cs typeface="Arial"/>
              </a:rPr>
              <a:t>Trimestres Assimilés :</a:t>
            </a:r>
            <a:r>
              <a:rPr lang="fr-FR" sz="1600" dirty="0">
                <a:cs typeface="Arial"/>
              </a:rPr>
              <a:t> il d’agit des trimestres validés par la CNAV pour des interruptions d’activité (Maladie, Invalidité, Pole Emploi, Service Militaire, Carrière effectuée à l’étranger si convention bilatérale de Sécurité Sociale entre les 2 pays)</a:t>
            </a:r>
            <a:endParaRPr sz="1600" dirty="0">
              <a:cs typeface="Arial"/>
            </a:endParaRPr>
          </a:p>
        </p:txBody>
      </p:sp>
      <p:pic>
        <p:nvPicPr>
          <p:cNvPr id="14" name="Image 13">
            <a:extLst>
              <a:ext uri="{FF2B5EF4-FFF2-40B4-BE49-F238E27FC236}">
                <a16:creationId xmlns:a16="http://schemas.microsoft.com/office/drawing/2014/main" id="{B7512764-3F89-976D-1C1B-DA22D852F999}"/>
              </a:ext>
            </a:extLst>
          </p:cNvPr>
          <p:cNvPicPr>
            <a:picLocks noChangeAspect="1"/>
          </p:cNvPicPr>
          <p:nvPr/>
        </p:nvPicPr>
        <p:blipFill>
          <a:blip r:embed="rId2"/>
          <a:stretch>
            <a:fillRect/>
          </a:stretch>
        </p:blipFill>
        <p:spPr>
          <a:xfrm>
            <a:off x="10654368" y="0"/>
            <a:ext cx="1537632" cy="1455807"/>
          </a:xfrm>
          <a:prstGeom prst="rect">
            <a:avLst/>
          </a:prstGeom>
        </p:spPr>
      </p:pic>
      <p:sp>
        <p:nvSpPr>
          <p:cNvPr id="15" name="Titre 1">
            <a:extLst>
              <a:ext uri="{FF2B5EF4-FFF2-40B4-BE49-F238E27FC236}">
                <a16:creationId xmlns:a16="http://schemas.microsoft.com/office/drawing/2014/main" id="{2F951ECF-699B-65E5-E427-BC19CB91785E}"/>
              </a:ext>
            </a:extLst>
          </p:cNvPr>
          <p:cNvSpPr txBox="1">
            <a:spLocks/>
          </p:cNvSpPr>
          <p:nvPr/>
        </p:nvSpPr>
        <p:spPr>
          <a:xfrm>
            <a:off x="838200" y="365125"/>
            <a:ext cx="10515600" cy="4476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000" b="1" dirty="0"/>
              <a:t>La </a:t>
            </a:r>
            <a:r>
              <a:rPr lang="fr-FR" sz="2000" b="1" dirty="0" err="1"/>
              <a:t>Cnav</a:t>
            </a:r>
            <a:r>
              <a:rPr lang="fr-FR" sz="2000" b="1" dirty="0"/>
              <a:t>  : Différents Type de Trimestre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B7512764-3F89-976D-1C1B-DA22D852F999}"/>
              </a:ext>
            </a:extLst>
          </p:cNvPr>
          <p:cNvPicPr>
            <a:picLocks noChangeAspect="1"/>
          </p:cNvPicPr>
          <p:nvPr/>
        </p:nvPicPr>
        <p:blipFill>
          <a:blip r:embed="rId2"/>
          <a:stretch>
            <a:fillRect/>
          </a:stretch>
        </p:blipFill>
        <p:spPr>
          <a:xfrm>
            <a:off x="10654368" y="0"/>
            <a:ext cx="1537632" cy="1455807"/>
          </a:xfrm>
          <a:prstGeom prst="rect">
            <a:avLst/>
          </a:prstGeom>
        </p:spPr>
      </p:pic>
      <p:sp>
        <p:nvSpPr>
          <p:cNvPr id="15" name="Titre 1">
            <a:extLst>
              <a:ext uri="{FF2B5EF4-FFF2-40B4-BE49-F238E27FC236}">
                <a16:creationId xmlns:a16="http://schemas.microsoft.com/office/drawing/2014/main" id="{2F951ECF-699B-65E5-E427-BC19CB91785E}"/>
              </a:ext>
            </a:extLst>
          </p:cNvPr>
          <p:cNvSpPr txBox="1">
            <a:spLocks/>
          </p:cNvSpPr>
          <p:nvPr/>
        </p:nvSpPr>
        <p:spPr>
          <a:xfrm>
            <a:off x="838200" y="365125"/>
            <a:ext cx="10515600" cy="4476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000" b="1" dirty="0"/>
              <a:t>La </a:t>
            </a:r>
            <a:r>
              <a:rPr lang="fr-FR" sz="2000" b="1" dirty="0" err="1"/>
              <a:t>Cnav</a:t>
            </a:r>
            <a:r>
              <a:rPr lang="fr-FR" sz="2000" b="1" dirty="0"/>
              <a:t>  : Age de Départ à la Retraite</a:t>
            </a:r>
          </a:p>
        </p:txBody>
      </p:sp>
      <p:graphicFrame>
        <p:nvGraphicFramePr>
          <p:cNvPr id="2" name="object 35">
            <a:extLst>
              <a:ext uri="{FF2B5EF4-FFF2-40B4-BE49-F238E27FC236}">
                <a16:creationId xmlns:a16="http://schemas.microsoft.com/office/drawing/2014/main" id="{EF95D1E4-AB74-F546-166B-CE9830146B5C}"/>
              </a:ext>
            </a:extLst>
          </p:cNvPr>
          <p:cNvGraphicFramePr>
            <a:graphicFrameLocks noGrp="1"/>
          </p:cNvGraphicFramePr>
          <p:nvPr>
            <p:extLst>
              <p:ext uri="{D42A27DB-BD31-4B8C-83A1-F6EECF244321}">
                <p14:modId xmlns:p14="http://schemas.microsoft.com/office/powerpoint/2010/main" val="64219091"/>
              </p:ext>
            </p:extLst>
          </p:nvPr>
        </p:nvGraphicFramePr>
        <p:xfrm>
          <a:off x="1500188" y="1741175"/>
          <a:ext cx="9154180" cy="3872208"/>
        </p:xfrm>
        <a:graphic>
          <a:graphicData uri="http://schemas.openxmlformats.org/drawingml/2006/table">
            <a:tbl>
              <a:tblPr firstRow="1" bandRow="1">
                <a:tableStyleId>{2D5ABB26-0587-4C30-8999-92F81FD0307C}</a:tableStyleId>
              </a:tblPr>
              <a:tblGrid>
                <a:gridCol w="1830836">
                  <a:extLst>
                    <a:ext uri="{9D8B030D-6E8A-4147-A177-3AD203B41FA5}">
                      <a16:colId xmlns:a16="http://schemas.microsoft.com/office/drawing/2014/main" val="20000"/>
                    </a:ext>
                  </a:extLst>
                </a:gridCol>
                <a:gridCol w="1830836">
                  <a:extLst>
                    <a:ext uri="{9D8B030D-6E8A-4147-A177-3AD203B41FA5}">
                      <a16:colId xmlns:a16="http://schemas.microsoft.com/office/drawing/2014/main" val="20001"/>
                    </a:ext>
                  </a:extLst>
                </a:gridCol>
                <a:gridCol w="1830836">
                  <a:extLst>
                    <a:ext uri="{9D8B030D-6E8A-4147-A177-3AD203B41FA5}">
                      <a16:colId xmlns:a16="http://schemas.microsoft.com/office/drawing/2014/main" val="20002"/>
                    </a:ext>
                  </a:extLst>
                </a:gridCol>
                <a:gridCol w="1830836">
                  <a:extLst>
                    <a:ext uri="{9D8B030D-6E8A-4147-A177-3AD203B41FA5}">
                      <a16:colId xmlns:a16="http://schemas.microsoft.com/office/drawing/2014/main" val="20003"/>
                    </a:ext>
                  </a:extLst>
                </a:gridCol>
                <a:gridCol w="1830836">
                  <a:extLst>
                    <a:ext uri="{9D8B030D-6E8A-4147-A177-3AD203B41FA5}">
                      <a16:colId xmlns:a16="http://schemas.microsoft.com/office/drawing/2014/main" val="20004"/>
                    </a:ext>
                  </a:extLst>
                </a:gridCol>
              </a:tblGrid>
              <a:tr h="583758">
                <a:tc>
                  <a:txBody>
                    <a:bodyPr/>
                    <a:lstStyle/>
                    <a:p>
                      <a:pPr>
                        <a:lnSpc>
                          <a:spcPct val="100000"/>
                        </a:lnSpc>
                      </a:pPr>
                      <a:endParaRPr sz="800">
                        <a:latin typeface="Montserrat" pitchFamily="2" charset="0"/>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857885" marR="461645" indent="-388620">
                        <a:lnSpc>
                          <a:spcPct val="100000"/>
                        </a:lnSpc>
                      </a:pPr>
                      <a:endParaRPr sz="800" dirty="0">
                        <a:latin typeface="Montserrat" pitchFamily="2" charset="0"/>
                        <a:cs typeface="Arial"/>
                      </a:endParaRPr>
                    </a:p>
                  </a:txBody>
                  <a:tcPr marL="0" marR="0" marT="80093" marB="0" anchor="ctr">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33020" algn="ctr">
                        <a:lnSpc>
                          <a:spcPct val="100000"/>
                        </a:lnSpc>
                        <a:spcBef>
                          <a:spcPts val="5"/>
                        </a:spcBef>
                      </a:pPr>
                      <a:r>
                        <a:rPr sz="800" b="1" spc="80" dirty="0">
                          <a:latin typeface="Montserrat" pitchFamily="2" charset="0"/>
                          <a:cs typeface="Arial"/>
                        </a:rPr>
                        <a:t>Durée</a:t>
                      </a:r>
                      <a:r>
                        <a:rPr sz="800" b="1" spc="15" dirty="0">
                          <a:latin typeface="Montserrat" pitchFamily="2" charset="0"/>
                          <a:cs typeface="Arial"/>
                        </a:rPr>
                        <a:t> </a:t>
                      </a:r>
                      <a:r>
                        <a:rPr sz="800" b="1" spc="90" dirty="0">
                          <a:latin typeface="Montserrat" pitchFamily="2" charset="0"/>
                          <a:cs typeface="Arial"/>
                        </a:rPr>
                        <a:t>de</a:t>
                      </a:r>
                      <a:r>
                        <a:rPr sz="800" b="1" spc="20" dirty="0">
                          <a:latin typeface="Montserrat" pitchFamily="2" charset="0"/>
                          <a:cs typeface="Arial"/>
                        </a:rPr>
                        <a:t> </a:t>
                      </a:r>
                      <a:r>
                        <a:rPr sz="800" b="1" spc="45" dirty="0">
                          <a:latin typeface="Montserrat" pitchFamily="2" charset="0"/>
                          <a:cs typeface="Arial"/>
                        </a:rPr>
                        <a:t>cotisation</a:t>
                      </a:r>
                      <a:endParaRPr sz="800" dirty="0">
                        <a:latin typeface="Montserrat" pitchFamily="2" charset="0"/>
                        <a:cs typeface="Arial"/>
                      </a:endParaRPr>
                    </a:p>
                  </a:txBody>
                  <a:tcPr marL="0" marR="0" marT="0" marB="0" anchor="ctr">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marL="857885" marR="464184" indent="-386080">
                        <a:lnSpc>
                          <a:spcPct val="100000"/>
                        </a:lnSpc>
                        <a:spcBef>
                          <a:spcPts val="5"/>
                        </a:spcBef>
                      </a:pPr>
                      <a:endParaRPr sz="800" dirty="0">
                        <a:latin typeface="Montserrat" pitchFamily="2" charset="0"/>
                        <a:cs typeface="Arial"/>
                      </a:endParaRPr>
                    </a:p>
                  </a:txBody>
                  <a:tcPr marL="0" marR="0" marT="80093" marB="0" anchor="ctr">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74295" algn="ctr">
                        <a:lnSpc>
                          <a:spcPct val="100000"/>
                        </a:lnSpc>
                      </a:pPr>
                      <a:r>
                        <a:rPr sz="800" b="1" spc="80" dirty="0">
                          <a:latin typeface="Montserrat" pitchFamily="2" charset="0"/>
                          <a:cs typeface="Arial"/>
                        </a:rPr>
                        <a:t>Durée</a:t>
                      </a:r>
                      <a:r>
                        <a:rPr sz="800" b="1" spc="15" dirty="0">
                          <a:latin typeface="Montserrat" pitchFamily="2" charset="0"/>
                          <a:cs typeface="Arial"/>
                        </a:rPr>
                        <a:t> </a:t>
                      </a:r>
                      <a:r>
                        <a:rPr sz="800" b="1" spc="90" dirty="0">
                          <a:latin typeface="Montserrat" pitchFamily="2" charset="0"/>
                          <a:cs typeface="Arial"/>
                        </a:rPr>
                        <a:t>de</a:t>
                      </a:r>
                      <a:r>
                        <a:rPr sz="800" b="1" spc="20" dirty="0">
                          <a:latin typeface="Montserrat" pitchFamily="2" charset="0"/>
                          <a:cs typeface="Arial"/>
                        </a:rPr>
                        <a:t> </a:t>
                      </a:r>
                      <a:r>
                        <a:rPr sz="800" b="1" spc="45" dirty="0">
                          <a:latin typeface="Montserrat" pitchFamily="2" charset="0"/>
                          <a:cs typeface="Arial"/>
                        </a:rPr>
                        <a:t>cotisation</a:t>
                      </a:r>
                      <a:endParaRPr sz="800" dirty="0">
                        <a:latin typeface="Montserrat" pitchFamily="2" charset="0"/>
                        <a:cs typeface="Arial"/>
                      </a:endParaRPr>
                    </a:p>
                  </a:txBody>
                  <a:tcPr marL="0" marR="0" marT="0" marB="0" anchor="ctr">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extLst>
                  <a:ext uri="{0D108BD9-81ED-4DB2-BD59-A6C34878D82A}">
                    <a16:rowId xmlns:a16="http://schemas.microsoft.com/office/drawing/2014/main" val="10000"/>
                  </a:ext>
                </a:extLst>
              </a:tr>
              <a:tr h="328845">
                <a:tc>
                  <a:txBody>
                    <a:bodyPr/>
                    <a:lstStyle/>
                    <a:p>
                      <a:pPr>
                        <a:lnSpc>
                          <a:spcPct val="100000"/>
                        </a:lnSpc>
                        <a:spcBef>
                          <a:spcPts val="35"/>
                        </a:spcBef>
                      </a:pPr>
                      <a:endParaRPr sz="800" dirty="0">
                        <a:latin typeface="Montserrat" pitchFamily="2" charset="0"/>
                        <a:cs typeface="Times New Roman"/>
                      </a:endParaRPr>
                    </a:p>
                    <a:p>
                      <a:pPr marL="6985" algn="ctr">
                        <a:lnSpc>
                          <a:spcPct val="100000"/>
                        </a:lnSpc>
                      </a:pPr>
                      <a:r>
                        <a:rPr sz="800" b="1" spc="90" dirty="0">
                          <a:latin typeface="Montserrat" pitchFamily="2" charset="0"/>
                          <a:cs typeface="Arial"/>
                        </a:rPr>
                        <a:t>Née</a:t>
                      </a:r>
                      <a:r>
                        <a:rPr sz="800" b="1" spc="70" dirty="0">
                          <a:latin typeface="Montserrat" pitchFamily="2" charset="0"/>
                          <a:cs typeface="Arial"/>
                        </a:rPr>
                        <a:t> </a:t>
                      </a:r>
                      <a:r>
                        <a:rPr sz="800" b="1" spc="80" dirty="0">
                          <a:latin typeface="Montserrat" pitchFamily="2" charset="0"/>
                          <a:cs typeface="Arial"/>
                        </a:rPr>
                        <a:t>entre</a:t>
                      </a:r>
                      <a:r>
                        <a:rPr sz="800" b="1" spc="70" dirty="0">
                          <a:latin typeface="Montserrat" pitchFamily="2" charset="0"/>
                          <a:cs typeface="Arial"/>
                        </a:rPr>
                        <a:t> </a:t>
                      </a:r>
                      <a:r>
                        <a:rPr sz="800" b="1" dirty="0">
                          <a:latin typeface="Montserrat" pitchFamily="2" charset="0"/>
                          <a:cs typeface="Arial"/>
                        </a:rPr>
                        <a:t>09/61</a:t>
                      </a:r>
                      <a:r>
                        <a:rPr sz="800" b="1" spc="70" dirty="0">
                          <a:latin typeface="Montserrat" pitchFamily="2" charset="0"/>
                          <a:cs typeface="Arial"/>
                        </a:rPr>
                        <a:t> </a:t>
                      </a:r>
                      <a:r>
                        <a:rPr sz="800" b="1" spc="100" dirty="0">
                          <a:latin typeface="Montserrat" pitchFamily="2" charset="0"/>
                          <a:cs typeface="Arial"/>
                        </a:rPr>
                        <a:t>et</a:t>
                      </a:r>
                      <a:r>
                        <a:rPr sz="800" b="1" spc="70" dirty="0">
                          <a:latin typeface="Montserrat" pitchFamily="2" charset="0"/>
                          <a:cs typeface="Arial"/>
                        </a:rPr>
                        <a:t> </a:t>
                      </a:r>
                      <a:r>
                        <a:rPr sz="800" b="1" spc="-10" dirty="0">
                          <a:latin typeface="Montserrat" pitchFamily="2" charset="0"/>
                          <a:cs typeface="Arial"/>
                        </a:rPr>
                        <a:t>12/61</a:t>
                      </a:r>
                      <a:endParaRPr sz="800" dirty="0">
                        <a:latin typeface="Montserrat" pitchFamily="2" charset="0"/>
                        <a:cs typeface="Arial"/>
                      </a:endParaRPr>
                    </a:p>
                  </a:txBody>
                  <a:tcPr marL="0" marR="0" marT="269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35"/>
                        </a:spcBef>
                      </a:pPr>
                      <a:endParaRPr sz="800" dirty="0">
                        <a:latin typeface="Montserrat" pitchFamily="2" charset="0"/>
                        <a:cs typeface="Times New Roman"/>
                      </a:endParaRPr>
                    </a:p>
                    <a:p>
                      <a:pPr algn="ctr">
                        <a:lnSpc>
                          <a:spcPct val="100000"/>
                        </a:lnSpc>
                      </a:pPr>
                      <a:r>
                        <a:rPr sz="800" b="1" spc="70" dirty="0">
                          <a:latin typeface="Montserrat" pitchFamily="2" charset="0"/>
                          <a:cs typeface="Arial"/>
                        </a:rPr>
                        <a:t>62</a:t>
                      </a:r>
                      <a:r>
                        <a:rPr sz="800" b="1" spc="5" dirty="0">
                          <a:latin typeface="Montserrat" pitchFamily="2" charset="0"/>
                          <a:cs typeface="Arial"/>
                        </a:rPr>
                        <a:t> </a:t>
                      </a:r>
                      <a:r>
                        <a:rPr sz="800" b="1" spc="-25" dirty="0">
                          <a:latin typeface="Montserrat" pitchFamily="2" charset="0"/>
                          <a:cs typeface="Arial"/>
                        </a:rPr>
                        <a:t>ans</a:t>
                      </a:r>
                      <a:endParaRPr sz="800" dirty="0">
                        <a:latin typeface="Montserrat" pitchFamily="2" charset="0"/>
                        <a:cs typeface="Arial"/>
                      </a:endParaRPr>
                    </a:p>
                  </a:txBody>
                  <a:tcPr marL="0" marR="0" marT="269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35"/>
                        </a:spcBef>
                      </a:pPr>
                      <a:endParaRPr sz="800">
                        <a:latin typeface="Montserrat" pitchFamily="2" charset="0"/>
                        <a:cs typeface="Times New Roman"/>
                      </a:endParaRPr>
                    </a:p>
                    <a:p>
                      <a:pPr marL="33020" algn="ctr">
                        <a:lnSpc>
                          <a:spcPct val="100000"/>
                        </a:lnSpc>
                      </a:pPr>
                      <a:r>
                        <a:rPr sz="800" b="1" spc="-25" dirty="0">
                          <a:latin typeface="Montserrat" pitchFamily="2" charset="0"/>
                          <a:cs typeface="Arial"/>
                        </a:rPr>
                        <a:t>168</a:t>
                      </a:r>
                      <a:endParaRPr sz="800">
                        <a:latin typeface="Montserrat" pitchFamily="2" charset="0"/>
                        <a:cs typeface="Arial"/>
                      </a:endParaRPr>
                    </a:p>
                  </a:txBody>
                  <a:tcPr marL="0" marR="0" marT="269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35"/>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62</a:t>
                      </a:r>
                      <a:r>
                        <a:rPr sz="800" b="1" spc="50" dirty="0">
                          <a:latin typeface="Montserrat" pitchFamily="2" charset="0"/>
                          <a:cs typeface="Arial"/>
                        </a:rPr>
                        <a:t> </a:t>
                      </a:r>
                      <a:r>
                        <a:rPr sz="800" b="1" dirty="0">
                          <a:latin typeface="Montserrat" pitchFamily="2" charset="0"/>
                          <a:cs typeface="Arial"/>
                        </a:rPr>
                        <a:t>ans</a:t>
                      </a:r>
                      <a:r>
                        <a:rPr sz="800" b="1" spc="50" dirty="0">
                          <a:latin typeface="Montserrat" pitchFamily="2" charset="0"/>
                          <a:cs typeface="Arial"/>
                        </a:rPr>
                        <a:t> </a:t>
                      </a:r>
                      <a:r>
                        <a:rPr sz="800" b="1" spc="100" dirty="0">
                          <a:latin typeface="Montserrat" pitchFamily="2" charset="0"/>
                          <a:cs typeface="Arial"/>
                        </a:rPr>
                        <a:t>et</a:t>
                      </a:r>
                      <a:r>
                        <a:rPr sz="800" b="1" spc="55" dirty="0">
                          <a:latin typeface="Montserrat" pitchFamily="2" charset="0"/>
                          <a:cs typeface="Arial"/>
                        </a:rPr>
                        <a:t> </a:t>
                      </a:r>
                      <a:r>
                        <a:rPr sz="800" b="1" dirty="0">
                          <a:latin typeface="Montserrat" pitchFamily="2" charset="0"/>
                          <a:cs typeface="Arial"/>
                        </a:rPr>
                        <a:t>3</a:t>
                      </a:r>
                      <a:r>
                        <a:rPr sz="800" b="1" spc="50" dirty="0">
                          <a:latin typeface="Montserrat" pitchFamily="2" charset="0"/>
                          <a:cs typeface="Arial"/>
                        </a:rPr>
                        <a:t> </a:t>
                      </a:r>
                      <a:r>
                        <a:rPr sz="800" b="1" spc="35" dirty="0">
                          <a:latin typeface="Montserrat" pitchFamily="2" charset="0"/>
                          <a:cs typeface="Arial"/>
                        </a:rPr>
                        <a:t>mois</a:t>
                      </a:r>
                      <a:endParaRPr sz="800">
                        <a:latin typeface="Montserrat" pitchFamily="2" charset="0"/>
                        <a:cs typeface="Arial"/>
                      </a:endParaRPr>
                    </a:p>
                  </a:txBody>
                  <a:tcPr marL="0" marR="0" marT="269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35"/>
                        </a:spcBef>
                      </a:pPr>
                      <a:endParaRPr sz="800">
                        <a:latin typeface="Montserrat" pitchFamily="2" charset="0"/>
                        <a:cs typeface="Times New Roman"/>
                      </a:endParaRPr>
                    </a:p>
                    <a:p>
                      <a:pPr marL="74295" algn="ctr">
                        <a:lnSpc>
                          <a:spcPct val="100000"/>
                        </a:lnSpc>
                      </a:pPr>
                      <a:r>
                        <a:rPr sz="800" b="1" spc="-25" dirty="0">
                          <a:latin typeface="Montserrat" pitchFamily="2" charset="0"/>
                          <a:cs typeface="Arial"/>
                        </a:rPr>
                        <a:t>169</a:t>
                      </a:r>
                      <a:endParaRPr sz="800">
                        <a:latin typeface="Montserrat" pitchFamily="2" charset="0"/>
                        <a:cs typeface="Arial"/>
                      </a:endParaRPr>
                    </a:p>
                  </a:txBody>
                  <a:tcPr marL="0" marR="0" marT="269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extLst>
                  <a:ext uri="{0D108BD9-81ED-4DB2-BD59-A6C34878D82A}">
                    <a16:rowId xmlns:a16="http://schemas.microsoft.com/office/drawing/2014/main" val="10001"/>
                  </a:ext>
                </a:extLst>
              </a:tr>
              <a:tr h="328845">
                <a:tc>
                  <a:txBody>
                    <a:bodyPr/>
                    <a:lstStyle/>
                    <a:p>
                      <a:pPr>
                        <a:lnSpc>
                          <a:spcPct val="100000"/>
                        </a:lnSpc>
                        <a:spcBef>
                          <a:spcPts val="90"/>
                        </a:spcBef>
                      </a:pPr>
                      <a:endParaRPr sz="800" dirty="0">
                        <a:latin typeface="Montserrat" pitchFamily="2" charset="0"/>
                        <a:cs typeface="Times New Roman"/>
                      </a:endParaRPr>
                    </a:p>
                    <a:p>
                      <a:pPr marL="6985" algn="ctr">
                        <a:lnSpc>
                          <a:spcPct val="100000"/>
                        </a:lnSpc>
                      </a:pPr>
                      <a:r>
                        <a:rPr sz="800" b="1" spc="90" dirty="0">
                          <a:latin typeface="Montserrat" pitchFamily="2" charset="0"/>
                          <a:cs typeface="Arial"/>
                        </a:rPr>
                        <a:t>Née</a:t>
                      </a:r>
                      <a:r>
                        <a:rPr sz="800" b="1" spc="10" dirty="0">
                          <a:latin typeface="Montserrat" pitchFamily="2" charset="0"/>
                          <a:cs typeface="Arial"/>
                        </a:rPr>
                        <a:t> </a:t>
                      </a:r>
                      <a:r>
                        <a:rPr sz="800" b="1" spc="90" dirty="0">
                          <a:latin typeface="Montserrat" pitchFamily="2" charset="0"/>
                          <a:cs typeface="Arial"/>
                        </a:rPr>
                        <a:t>en</a:t>
                      </a:r>
                      <a:r>
                        <a:rPr sz="800" b="1" spc="10" dirty="0">
                          <a:latin typeface="Montserrat" pitchFamily="2" charset="0"/>
                          <a:cs typeface="Arial"/>
                        </a:rPr>
                        <a:t> </a:t>
                      </a:r>
                      <a:r>
                        <a:rPr sz="800" b="1" spc="-20" dirty="0">
                          <a:latin typeface="Montserrat" pitchFamily="2" charset="0"/>
                          <a:cs typeface="Arial"/>
                        </a:rPr>
                        <a:t>1962</a:t>
                      </a:r>
                      <a:endParaRPr sz="800" dirty="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a:lnSpc>
                          <a:spcPct val="100000"/>
                        </a:lnSpc>
                        <a:spcBef>
                          <a:spcPts val="90"/>
                        </a:spcBef>
                      </a:pPr>
                      <a:endParaRPr sz="800" dirty="0">
                        <a:latin typeface="Montserrat" pitchFamily="2" charset="0"/>
                        <a:cs typeface="Times New Roman"/>
                      </a:endParaRPr>
                    </a:p>
                    <a:p>
                      <a:pPr algn="ctr">
                        <a:lnSpc>
                          <a:spcPct val="100000"/>
                        </a:lnSpc>
                      </a:pPr>
                      <a:r>
                        <a:rPr sz="800" b="1" spc="70" dirty="0">
                          <a:latin typeface="Montserrat" pitchFamily="2" charset="0"/>
                          <a:cs typeface="Arial"/>
                        </a:rPr>
                        <a:t>62</a:t>
                      </a:r>
                      <a:r>
                        <a:rPr sz="800" b="1" spc="5" dirty="0">
                          <a:latin typeface="Montserrat" pitchFamily="2" charset="0"/>
                          <a:cs typeface="Arial"/>
                        </a:rPr>
                        <a:t> </a:t>
                      </a:r>
                      <a:r>
                        <a:rPr sz="800" b="1" spc="-25" dirty="0">
                          <a:latin typeface="Montserrat" pitchFamily="2" charset="0"/>
                          <a:cs typeface="Arial"/>
                        </a:rPr>
                        <a:t>ans</a:t>
                      </a:r>
                      <a:endParaRPr sz="800" dirty="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90"/>
                        </a:spcBef>
                      </a:pPr>
                      <a:endParaRPr sz="800" dirty="0">
                        <a:latin typeface="Montserrat" pitchFamily="2" charset="0"/>
                        <a:cs typeface="Times New Roman"/>
                      </a:endParaRPr>
                    </a:p>
                    <a:p>
                      <a:pPr marL="33020" algn="ctr">
                        <a:lnSpc>
                          <a:spcPct val="100000"/>
                        </a:lnSpc>
                      </a:pPr>
                      <a:r>
                        <a:rPr sz="800" b="1" spc="-25" dirty="0">
                          <a:latin typeface="Montserrat" pitchFamily="2" charset="0"/>
                          <a:cs typeface="Arial"/>
                        </a:rPr>
                        <a:t>168</a:t>
                      </a:r>
                      <a:endParaRPr sz="800" dirty="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a:lnSpc>
                          <a:spcPct val="100000"/>
                        </a:lnSpc>
                        <a:spcBef>
                          <a:spcPts val="90"/>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62</a:t>
                      </a:r>
                      <a:r>
                        <a:rPr sz="800" b="1" spc="40" dirty="0">
                          <a:latin typeface="Montserrat" pitchFamily="2" charset="0"/>
                          <a:cs typeface="Arial"/>
                        </a:rPr>
                        <a:t> </a:t>
                      </a:r>
                      <a:r>
                        <a:rPr sz="800" b="1" dirty="0">
                          <a:latin typeface="Montserrat" pitchFamily="2" charset="0"/>
                          <a:cs typeface="Arial"/>
                        </a:rPr>
                        <a:t>ans</a:t>
                      </a:r>
                      <a:r>
                        <a:rPr sz="800" b="1" spc="40" dirty="0">
                          <a:latin typeface="Montserrat" pitchFamily="2" charset="0"/>
                          <a:cs typeface="Arial"/>
                        </a:rPr>
                        <a:t> </a:t>
                      </a:r>
                      <a:r>
                        <a:rPr sz="800" b="1" spc="100" dirty="0">
                          <a:latin typeface="Montserrat" pitchFamily="2" charset="0"/>
                          <a:cs typeface="Arial"/>
                        </a:rPr>
                        <a:t>et</a:t>
                      </a:r>
                      <a:r>
                        <a:rPr sz="800" b="1" spc="40" dirty="0">
                          <a:latin typeface="Montserrat" pitchFamily="2" charset="0"/>
                          <a:cs typeface="Arial"/>
                        </a:rPr>
                        <a:t> </a:t>
                      </a:r>
                      <a:r>
                        <a:rPr sz="800" b="1" spc="95" dirty="0">
                          <a:latin typeface="Montserrat" pitchFamily="2" charset="0"/>
                          <a:cs typeface="Arial"/>
                        </a:rPr>
                        <a:t>6</a:t>
                      </a:r>
                      <a:r>
                        <a:rPr sz="800" b="1" spc="40" dirty="0">
                          <a:latin typeface="Montserrat" pitchFamily="2" charset="0"/>
                          <a:cs typeface="Arial"/>
                        </a:rPr>
                        <a:t> </a:t>
                      </a:r>
                      <a:r>
                        <a:rPr sz="800" b="1" spc="35" dirty="0">
                          <a:latin typeface="Montserrat" pitchFamily="2" charset="0"/>
                          <a:cs typeface="Arial"/>
                        </a:rPr>
                        <a:t>mois</a:t>
                      </a:r>
                      <a:endParaRPr sz="80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90"/>
                        </a:spcBef>
                      </a:pPr>
                      <a:endParaRPr sz="800">
                        <a:latin typeface="Montserrat" pitchFamily="2" charset="0"/>
                        <a:cs typeface="Times New Roman"/>
                      </a:endParaRPr>
                    </a:p>
                    <a:p>
                      <a:pPr marL="74295" algn="ctr">
                        <a:lnSpc>
                          <a:spcPct val="100000"/>
                        </a:lnSpc>
                      </a:pPr>
                      <a:r>
                        <a:rPr sz="800" b="1" spc="-25" dirty="0">
                          <a:latin typeface="Montserrat" pitchFamily="2" charset="0"/>
                          <a:cs typeface="Arial"/>
                        </a:rPr>
                        <a:t>169</a:t>
                      </a:r>
                      <a:endParaRPr sz="80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extLst>
                  <a:ext uri="{0D108BD9-81ED-4DB2-BD59-A6C34878D82A}">
                    <a16:rowId xmlns:a16="http://schemas.microsoft.com/office/drawing/2014/main" val="10002"/>
                  </a:ext>
                </a:extLst>
              </a:tr>
              <a:tr h="328845">
                <a:tc>
                  <a:txBody>
                    <a:bodyPr/>
                    <a:lstStyle/>
                    <a:p>
                      <a:pPr>
                        <a:lnSpc>
                          <a:spcPct val="100000"/>
                        </a:lnSpc>
                        <a:spcBef>
                          <a:spcPts val="130"/>
                        </a:spcBef>
                      </a:pPr>
                      <a:endParaRPr sz="800">
                        <a:latin typeface="Montserrat" pitchFamily="2" charset="0"/>
                        <a:cs typeface="Times New Roman"/>
                      </a:endParaRPr>
                    </a:p>
                    <a:p>
                      <a:pPr marL="6985" algn="ctr">
                        <a:lnSpc>
                          <a:spcPct val="100000"/>
                        </a:lnSpc>
                      </a:pPr>
                      <a:r>
                        <a:rPr sz="800" b="1" spc="90" dirty="0">
                          <a:latin typeface="Montserrat" pitchFamily="2" charset="0"/>
                          <a:cs typeface="Arial"/>
                        </a:rPr>
                        <a:t>Née</a:t>
                      </a:r>
                      <a:r>
                        <a:rPr sz="800" b="1" spc="10" dirty="0">
                          <a:latin typeface="Montserrat" pitchFamily="2" charset="0"/>
                          <a:cs typeface="Arial"/>
                        </a:rPr>
                        <a:t> </a:t>
                      </a:r>
                      <a:r>
                        <a:rPr sz="800" b="1" spc="90" dirty="0">
                          <a:latin typeface="Montserrat" pitchFamily="2" charset="0"/>
                          <a:cs typeface="Arial"/>
                        </a:rPr>
                        <a:t>en</a:t>
                      </a:r>
                      <a:r>
                        <a:rPr sz="800" b="1" spc="10" dirty="0">
                          <a:latin typeface="Montserrat" pitchFamily="2" charset="0"/>
                          <a:cs typeface="Arial"/>
                        </a:rPr>
                        <a:t> </a:t>
                      </a:r>
                      <a:r>
                        <a:rPr sz="800" b="1" spc="-20" dirty="0">
                          <a:latin typeface="Montserrat" pitchFamily="2" charset="0"/>
                          <a:cs typeface="Arial"/>
                        </a:rPr>
                        <a:t>1963</a:t>
                      </a:r>
                      <a:endParaRPr sz="800">
                        <a:latin typeface="Montserrat" pitchFamily="2" charset="0"/>
                        <a:cs typeface="Arial"/>
                      </a:endParaRPr>
                    </a:p>
                  </a:txBody>
                  <a:tcPr marL="0" marR="0" marT="1001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30"/>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62</a:t>
                      </a:r>
                      <a:r>
                        <a:rPr sz="800" b="1" spc="5"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1001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30"/>
                        </a:spcBef>
                      </a:pPr>
                      <a:endParaRPr sz="800" dirty="0">
                        <a:latin typeface="Montserrat" pitchFamily="2" charset="0"/>
                        <a:cs typeface="Times New Roman"/>
                      </a:endParaRPr>
                    </a:p>
                    <a:p>
                      <a:pPr marL="33020" algn="ctr">
                        <a:lnSpc>
                          <a:spcPct val="100000"/>
                        </a:lnSpc>
                      </a:pPr>
                      <a:r>
                        <a:rPr sz="800" b="1" spc="-25" dirty="0">
                          <a:latin typeface="Montserrat" pitchFamily="2" charset="0"/>
                          <a:cs typeface="Arial"/>
                        </a:rPr>
                        <a:t>168</a:t>
                      </a:r>
                      <a:endParaRPr sz="800" dirty="0">
                        <a:latin typeface="Montserrat" pitchFamily="2" charset="0"/>
                        <a:cs typeface="Arial"/>
                      </a:endParaRPr>
                    </a:p>
                  </a:txBody>
                  <a:tcPr marL="0" marR="0" marT="1001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30"/>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62</a:t>
                      </a:r>
                      <a:r>
                        <a:rPr sz="800" b="1" spc="40" dirty="0">
                          <a:latin typeface="Montserrat" pitchFamily="2" charset="0"/>
                          <a:cs typeface="Arial"/>
                        </a:rPr>
                        <a:t> </a:t>
                      </a:r>
                      <a:r>
                        <a:rPr sz="800" b="1" dirty="0">
                          <a:latin typeface="Montserrat" pitchFamily="2" charset="0"/>
                          <a:cs typeface="Arial"/>
                        </a:rPr>
                        <a:t>ans</a:t>
                      </a:r>
                      <a:r>
                        <a:rPr sz="800" b="1" spc="40" dirty="0">
                          <a:latin typeface="Montserrat" pitchFamily="2" charset="0"/>
                          <a:cs typeface="Arial"/>
                        </a:rPr>
                        <a:t> </a:t>
                      </a:r>
                      <a:r>
                        <a:rPr sz="800" b="1" spc="100" dirty="0">
                          <a:latin typeface="Montserrat" pitchFamily="2" charset="0"/>
                          <a:cs typeface="Arial"/>
                        </a:rPr>
                        <a:t>et</a:t>
                      </a:r>
                      <a:r>
                        <a:rPr sz="800" b="1" spc="40" dirty="0">
                          <a:latin typeface="Montserrat" pitchFamily="2" charset="0"/>
                          <a:cs typeface="Arial"/>
                        </a:rPr>
                        <a:t> </a:t>
                      </a:r>
                      <a:r>
                        <a:rPr sz="800" b="1" spc="95" dirty="0">
                          <a:latin typeface="Montserrat" pitchFamily="2" charset="0"/>
                          <a:cs typeface="Arial"/>
                        </a:rPr>
                        <a:t>9</a:t>
                      </a:r>
                      <a:r>
                        <a:rPr sz="800" b="1" spc="40" dirty="0">
                          <a:latin typeface="Montserrat" pitchFamily="2" charset="0"/>
                          <a:cs typeface="Arial"/>
                        </a:rPr>
                        <a:t> </a:t>
                      </a:r>
                      <a:r>
                        <a:rPr sz="800" b="1" spc="35" dirty="0">
                          <a:latin typeface="Montserrat" pitchFamily="2" charset="0"/>
                          <a:cs typeface="Arial"/>
                        </a:rPr>
                        <a:t>mois</a:t>
                      </a:r>
                      <a:endParaRPr sz="800">
                        <a:latin typeface="Montserrat" pitchFamily="2" charset="0"/>
                        <a:cs typeface="Arial"/>
                      </a:endParaRPr>
                    </a:p>
                  </a:txBody>
                  <a:tcPr marL="0" marR="0" marT="1001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30"/>
                        </a:spcBef>
                      </a:pPr>
                      <a:endParaRPr sz="800">
                        <a:latin typeface="Montserrat" pitchFamily="2" charset="0"/>
                        <a:cs typeface="Times New Roman"/>
                      </a:endParaRPr>
                    </a:p>
                    <a:p>
                      <a:pPr marL="71755" algn="ctr">
                        <a:lnSpc>
                          <a:spcPct val="100000"/>
                        </a:lnSpc>
                      </a:pPr>
                      <a:r>
                        <a:rPr sz="800" b="1" spc="-25" dirty="0">
                          <a:latin typeface="Montserrat" pitchFamily="2" charset="0"/>
                          <a:cs typeface="Arial"/>
                        </a:rPr>
                        <a:t>170</a:t>
                      </a:r>
                      <a:endParaRPr sz="800">
                        <a:latin typeface="Montserrat" pitchFamily="2" charset="0"/>
                        <a:cs typeface="Arial"/>
                      </a:endParaRPr>
                    </a:p>
                  </a:txBody>
                  <a:tcPr marL="0" marR="0" marT="1001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extLst>
                  <a:ext uri="{0D108BD9-81ED-4DB2-BD59-A6C34878D82A}">
                    <a16:rowId xmlns:a16="http://schemas.microsoft.com/office/drawing/2014/main" val="10003"/>
                  </a:ext>
                </a:extLst>
              </a:tr>
              <a:tr h="328845">
                <a:tc>
                  <a:txBody>
                    <a:bodyPr/>
                    <a:lstStyle/>
                    <a:p>
                      <a:pPr>
                        <a:lnSpc>
                          <a:spcPct val="100000"/>
                        </a:lnSpc>
                        <a:spcBef>
                          <a:spcPts val="65"/>
                        </a:spcBef>
                      </a:pPr>
                      <a:endParaRPr sz="800">
                        <a:latin typeface="Montserrat" pitchFamily="2" charset="0"/>
                        <a:cs typeface="Times New Roman"/>
                      </a:endParaRPr>
                    </a:p>
                    <a:p>
                      <a:pPr algn="ctr">
                        <a:lnSpc>
                          <a:spcPct val="100000"/>
                        </a:lnSpc>
                      </a:pPr>
                      <a:r>
                        <a:rPr sz="800" b="1" spc="90" dirty="0">
                          <a:latin typeface="Montserrat" pitchFamily="2" charset="0"/>
                          <a:cs typeface="Arial"/>
                        </a:rPr>
                        <a:t>Née</a:t>
                      </a:r>
                      <a:r>
                        <a:rPr sz="800" b="1" spc="10" dirty="0">
                          <a:latin typeface="Montserrat" pitchFamily="2" charset="0"/>
                          <a:cs typeface="Arial"/>
                        </a:rPr>
                        <a:t> </a:t>
                      </a:r>
                      <a:r>
                        <a:rPr sz="800" b="1" spc="90" dirty="0">
                          <a:latin typeface="Montserrat" pitchFamily="2" charset="0"/>
                          <a:cs typeface="Arial"/>
                        </a:rPr>
                        <a:t>en</a:t>
                      </a:r>
                      <a:r>
                        <a:rPr sz="800" b="1" spc="10" dirty="0">
                          <a:latin typeface="Montserrat" pitchFamily="2" charset="0"/>
                          <a:cs typeface="Arial"/>
                        </a:rPr>
                        <a:t> </a:t>
                      </a:r>
                      <a:r>
                        <a:rPr sz="800" b="1" spc="-20" dirty="0">
                          <a:latin typeface="Montserrat" pitchFamily="2" charset="0"/>
                          <a:cs typeface="Arial"/>
                        </a:rPr>
                        <a:t>1964</a:t>
                      </a:r>
                      <a:endParaRPr sz="800">
                        <a:latin typeface="Montserrat" pitchFamily="2" charset="0"/>
                        <a:cs typeface="Arial"/>
                      </a:endParaRPr>
                    </a:p>
                  </a:txBody>
                  <a:tcPr marL="0" marR="0" marT="5006"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65"/>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62</a:t>
                      </a:r>
                      <a:r>
                        <a:rPr sz="800" b="1" spc="5"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5006"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65"/>
                        </a:spcBef>
                      </a:pPr>
                      <a:endParaRPr sz="800" dirty="0">
                        <a:latin typeface="Montserrat" pitchFamily="2" charset="0"/>
                        <a:cs typeface="Times New Roman"/>
                      </a:endParaRPr>
                    </a:p>
                    <a:p>
                      <a:pPr marL="33020" algn="ctr">
                        <a:lnSpc>
                          <a:spcPct val="100000"/>
                        </a:lnSpc>
                      </a:pPr>
                      <a:r>
                        <a:rPr sz="800" b="1" spc="-25" dirty="0">
                          <a:latin typeface="Montserrat" pitchFamily="2" charset="0"/>
                          <a:cs typeface="Arial"/>
                        </a:rPr>
                        <a:t>169</a:t>
                      </a:r>
                      <a:endParaRPr sz="800" dirty="0">
                        <a:latin typeface="Montserrat" pitchFamily="2" charset="0"/>
                        <a:cs typeface="Arial"/>
                      </a:endParaRPr>
                    </a:p>
                  </a:txBody>
                  <a:tcPr marL="0" marR="0" marT="5006"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65"/>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63</a:t>
                      </a:r>
                      <a:r>
                        <a:rPr sz="800" b="1" spc="5"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5006"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65"/>
                        </a:spcBef>
                      </a:pPr>
                      <a:endParaRPr sz="800">
                        <a:latin typeface="Montserrat" pitchFamily="2" charset="0"/>
                        <a:cs typeface="Times New Roman"/>
                      </a:endParaRPr>
                    </a:p>
                    <a:p>
                      <a:pPr marL="88900" algn="ctr">
                        <a:lnSpc>
                          <a:spcPct val="100000"/>
                        </a:lnSpc>
                      </a:pPr>
                      <a:r>
                        <a:rPr sz="800" b="1" spc="-25" dirty="0">
                          <a:latin typeface="Montserrat" pitchFamily="2" charset="0"/>
                          <a:cs typeface="Arial"/>
                        </a:rPr>
                        <a:t>171</a:t>
                      </a:r>
                      <a:endParaRPr sz="800">
                        <a:latin typeface="Montserrat" pitchFamily="2" charset="0"/>
                        <a:cs typeface="Arial"/>
                      </a:endParaRPr>
                    </a:p>
                  </a:txBody>
                  <a:tcPr marL="0" marR="0" marT="5006"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328845">
                <a:tc>
                  <a:txBody>
                    <a:bodyPr/>
                    <a:lstStyle/>
                    <a:p>
                      <a:pPr>
                        <a:lnSpc>
                          <a:spcPct val="100000"/>
                        </a:lnSpc>
                        <a:spcBef>
                          <a:spcPts val="160"/>
                        </a:spcBef>
                      </a:pPr>
                      <a:endParaRPr sz="800">
                        <a:latin typeface="Montserrat" pitchFamily="2" charset="0"/>
                        <a:cs typeface="Times New Roman"/>
                      </a:endParaRPr>
                    </a:p>
                    <a:p>
                      <a:pPr algn="ctr">
                        <a:lnSpc>
                          <a:spcPct val="100000"/>
                        </a:lnSpc>
                      </a:pPr>
                      <a:r>
                        <a:rPr sz="800" b="1" spc="90" dirty="0">
                          <a:latin typeface="Montserrat" pitchFamily="2" charset="0"/>
                          <a:cs typeface="Arial"/>
                        </a:rPr>
                        <a:t>Née</a:t>
                      </a:r>
                      <a:r>
                        <a:rPr sz="800" b="1" spc="10" dirty="0">
                          <a:latin typeface="Montserrat" pitchFamily="2" charset="0"/>
                          <a:cs typeface="Arial"/>
                        </a:rPr>
                        <a:t> </a:t>
                      </a:r>
                      <a:r>
                        <a:rPr sz="800" b="1" spc="90" dirty="0">
                          <a:latin typeface="Montserrat" pitchFamily="2" charset="0"/>
                          <a:cs typeface="Arial"/>
                        </a:rPr>
                        <a:t>en</a:t>
                      </a:r>
                      <a:r>
                        <a:rPr sz="800" b="1" spc="10" dirty="0">
                          <a:latin typeface="Montserrat" pitchFamily="2" charset="0"/>
                          <a:cs typeface="Arial"/>
                        </a:rPr>
                        <a:t> </a:t>
                      </a:r>
                      <a:r>
                        <a:rPr sz="800" b="1" spc="-20" dirty="0">
                          <a:latin typeface="Montserrat" pitchFamily="2" charset="0"/>
                          <a:cs typeface="Arial"/>
                        </a:rPr>
                        <a:t>1965</a:t>
                      </a:r>
                      <a:endParaRPr sz="800">
                        <a:latin typeface="Montserrat" pitchFamily="2" charset="0"/>
                        <a:cs typeface="Arial"/>
                      </a:endParaRPr>
                    </a:p>
                  </a:txBody>
                  <a:tcPr marL="0" marR="0" marT="1232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60"/>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62</a:t>
                      </a:r>
                      <a:r>
                        <a:rPr sz="800" b="1" spc="5"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1232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60"/>
                        </a:spcBef>
                      </a:pPr>
                      <a:endParaRPr sz="800" dirty="0">
                        <a:latin typeface="Montserrat" pitchFamily="2" charset="0"/>
                        <a:cs typeface="Times New Roman"/>
                      </a:endParaRPr>
                    </a:p>
                    <a:p>
                      <a:pPr marL="33020" algn="ctr">
                        <a:lnSpc>
                          <a:spcPct val="100000"/>
                        </a:lnSpc>
                      </a:pPr>
                      <a:r>
                        <a:rPr sz="800" b="1" spc="-25" dirty="0">
                          <a:latin typeface="Montserrat" pitchFamily="2" charset="0"/>
                          <a:cs typeface="Arial"/>
                        </a:rPr>
                        <a:t>169</a:t>
                      </a:r>
                      <a:endParaRPr sz="800" dirty="0">
                        <a:latin typeface="Montserrat" pitchFamily="2" charset="0"/>
                        <a:cs typeface="Arial"/>
                      </a:endParaRPr>
                    </a:p>
                  </a:txBody>
                  <a:tcPr marL="0" marR="0" marT="1232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60"/>
                        </a:spcBef>
                      </a:pPr>
                      <a:endParaRPr sz="800" dirty="0">
                        <a:latin typeface="Montserrat" pitchFamily="2" charset="0"/>
                        <a:cs typeface="Times New Roman"/>
                      </a:endParaRPr>
                    </a:p>
                    <a:p>
                      <a:pPr algn="ctr">
                        <a:lnSpc>
                          <a:spcPct val="100000"/>
                        </a:lnSpc>
                        <a:spcBef>
                          <a:spcPts val="5"/>
                        </a:spcBef>
                      </a:pPr>
                      <a:r>
                        <a:rPr sz="800" b="1" spc="70" dirty="0">
                          <a:latin typeface="Montserrat" pitchFamily="2" charset="0"/>
                          <a:cs typeface="Arial"/>
                        </a:rPr>
                        <a:t>63</a:t>
                      </a:r>
                      <a:r>
                        <a:rPr sz="800" b="1" spc="50" dirty="0">
                          <a:latin typeface="Montserrat" pitchFamily="2" charset="0"/>
                          <a:cs typeface="Arial"/>
                        </a:rPr>
                        <a:t> </a:t>
                      </a:r>
                      <a:r>
                        <a:rPr sz="800" b="1" dirty="0">
                          <a:latin typeface="Montserrat" pitchFamily="2" charset="0"/>
                          <a:cs typeface="Arial"/>
                        </a:rPr>
                        <a:t>ans</a:t>
                      </a:r>
                      <a:r>
                        <a:rPr sz="800" b="1" spc="50" dirty="0">
                          <a:latin typeface="Montserrat" pitchFamily="2" charset="0"/>
                          <a:cs typeface="Arial"/>
                        </a:rPr>
                        <a:t> </a:t>
                      </a:r>
                      <a:r>
                        <a:rPr sz="800" b="1" spc="100" dirty="0">
                          <a:latin typeface="Montserrat" pitchFamily="2" charset="0"/>
                          <a:cs typeface="Arial"/>
                        </a:rPr>
                        <a:t>et</a:t>
                      </a:r>
                      <a:r>
                        <a:rPr sz="800" b="1" spc="55" dirty="0">
                          <a:latin typeface="Montserrat" pitchFamily="2" charset="0"/>
                          <a:cs typeface="Arial"/>
                        </a:rPr>
                        <a:t> </a:t>
                      </a:r>
                      <a:r>
                        <a:rPr sz="800" b="1" dirty="0">
                          <a:latin typeface="Montserrat" pitchFamily="2" charset="0"/>
                          <a:cs typeface="Arial"/>
                        </a:rPr>
                        <a:t>3</a:t>
                      </a:r>
                      <a:r>
                        <a:rPr sz="800" b="1" spc="50" dirty="0">
                          <a:latin typeface="Montserrat" pitchFamily="2" charset="0"/>
                          <a:cs typeface="Arial"/>
                        </a:rPr>
                        <a:t> </a:t>
                      </a:r>
                      <a:r>
                        <a:rPr sz="800" b="1" spc="35" dirty="0">
                          <a:latin typeface="Montserrat" pitchFamily="2" charset="0"/>
                          <a:cs typeface="Arial"/>
                        </a:rPr>
                        <a:t>mois</a:t>
                      </a:r>
                      <a:endParaRPr sz="800" dirty="0">
                        <a:latin typeface="Montserrat" pitchFamily="2" charset="0"/>
                        <a:cs typeface="Arial"/>
                      </a:endParaRPr>
                    </a:p>
                  </a:txBody>
                  <a:tcPr marL="0" marR="0" marT="1232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60"/>
                        </a:spcBef>
                      </a:pPr>
                      <a:endParaRPr sz="800">
                        <a:latin typeface="Montserrat" pitchFamily="2" charset="0"/>
                        <a:cs typeface="Times New Roman"/>
                      </a:endParaRPr>
                    </a:p>
                    <a:p>
                      <a:pPr marL="74295" algn="ctr">
                        <a:lnSpc>
                          <a:spcPct val="100000"/>
                        </a:lnSpc>
                      </a:pPr>
                      <a:r>
                        <a:rPr sz="800" b="1" spc="-25" dirty="0">
                          <a:latin typeface="Montserrat" pitchFamily="2" charset="0"/>
                          <a:cs typeface="Arial"/>
                        </a:rPr>
                        <a:t>172</a:t>
                      </a:r>
                      <a:endParaRPr sz="800">
                        <a:latin typeface="Montserrat" pitchFamily="2" charset="0"/>
                        <a:cs typeface="Arial"/>
                      </a:endParaRPr>
                    </a:p>
                  </a:txBody>
                  <a:tcPr marL="0" marR="0" marT="1232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extLst>
                  <a:ext uri="{0D108BD9-81ED-4DB2-BD59-A6C34878D82A}">
                    <a16:rowId xmlns:a16="http://schemas.microsoft.com/office/drawing/2014/main" val="10005"/>
                  </a:ext>
                </a:extLst>
              </a:tr>
              <a:tr h="328845">
                <a:tc>
                  <a:txBody>
                    <a:bodyPr/>
                    <a:lstStyle/>
                    <a:p>
                      <a:pPr>
                        <a:lnSpc>
                          <a:spcPct val="100000"/>
                        </a:lnSpc>
                        <a:spcBef>
                          <a:spcPts val="200"/>
                        </a:spcBef>
                      </a:pPr>
                      <a:endParaRPr sz="800">
                        <a:latin typeface="Montserrat" pitchFamily="2" charset="0"/>
                        <a:cs typeface="Times New Roman"/>
                      </a:endParaRPr>
                    </a:p>
                    <a:p>
                      <a:pPr algn="ctr">
                        <a:lnSpc>
                          <a:spcPct val="100000"/>
                        </a:lnSpc>
                      </a:pPr>
                      <a:r>
                        <a:rPr sz="800" b="1" spc="90" dirty="0">
                          <a:latin typeface="Montserrat" pitchFamily="2" charset="0"/>
                          <a:cs typeface="Arial"/>
                        </a:rPr>
                        <a:t>Née</a:t>
                      </a:r>
                      <a:r>
                        <a:rPr sz="800" b="1" spc="10" dirty="0">
                          <a:latin typeface="Montserrat" pitchFamily="2" charset="0"/>
                          <a:cs typeface="Arial"/>
                        </a:rPr>
                        <a:t> </a:t>
                      </a:r>
                      <a:r>
                        <a:rPr sz="800" b="1" spc="90" dirty="0">
                          <a:latin typeface="Montserrat" pitchFamily="2" charset="0"/>
                          <a:cs typeface="Arial"/>
                        </a:rPr>
                        <a:t>en</a:t>
                      </a:r>
                      <a:r>
                        <a:rPr sz="800" b="1" spc="10" dirty="0">
                          <a:latin typeface="Montserrat" pitchFamily="2" charset="0"/>
                          <a:cs typeface="Arial"/>
                        </a:rPr>
                        <a:t> </a:t>
                      </a:r>
                      <a:r>
                        <a:rPr sz="800" b="1" spc="-20" dirty="0">
                          <a:latin typeface="Montserrat" pitchFamily="2" charset="0"/>
                          <a:cs typeface="Arial"/>
                        </a:rPr>
                        <a:t>1966</a:t>
                      </a:r>
                      <a:endParaRPr sz="800">
                        <a:latin typeface="Montserrat" pitchFamily="2" charset="0"/>
                        <a:cs typeface="Arial"/>
                      </a:endParaRPr>
                    </a:p>
                  </a:txBody>
                  <a:tcPr marL="0" marR="0" marT="15403"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a:lnSpc>
                          <a:spcPct val="100000"/>
                        </a:lnSpc>
                        <a:spcBef>
                          <a:spcPts val="200"/>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62</a:t>
                      </a:r>
                      <a:r>
                        <a:rPr sz="800" b="1" spc="5"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15403"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200"/>
                        </a:spcBef>
                      </a:pPr>
                      <a:endParaRPr sz="800">
                        <a:latin typeface="Montserrat" pitchFamily="2" charset="0"/>
                        <a:cs typeface="Times New Roman"/>
                      </a:endParaRPr>
                    </a:p>
                    <a:p>
                      <a:pPr marL="23495" algn="ctr">
                        <a:lnSpc>
                          <a:spcPct val="100000"/>
                        </a:lnSpc>
                      </a:pPr>
                      <a:r>
                        <a:rPr sz="800" b="1" spc="-25" dirty="0">
                          <a:latin typeface="Montserrat" pitchFamily="2" charset="0"/>
                          <a:cs typeface="Arial"/>
                        </a:rPr>
                        <a:t>169</a:t>
                      </a:r>
                      <a:endParaRPr sz="800">
                        <a:latin typeface="Montserrat" pitchFamily="2" charset="0"/>
                        <a:cs typeface="Arial"/>
                      </a:endParaRPr>
                    </a:p>
                  </a:txBody>
                  <a:tcPr marL="0" marR="0" marT="15403"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a:lnSpc>
                          <a:spcPct val="100000"/>
                        </a:lnSpc>
                        <a:spcBef>
                          <a:spcPts val="200"/>
                        </a:spcBef>
                      </a:pPr>
                      <a:endParaRPr sz="800" dirty="0">
                        <a:latin typeface="Montserrat" pitchFamily="2" charset="0"/>
                        <a:cs typeface="Times New Roman"/>
                      </a:endParaRPr>
                    </a:p>
                    <a:p>
                      <a:pPr algn="ctr">
                        <a:lnSpc>
                          <a:spcPct val="100000"/>
                        </a:lnSpc>
                      </a:pPr>
                      <a:r>
                        <a:rPr sz="800" b="1" spc="70" dirty="0">
                          <a:latin typeface="Montserrat" pitchFamily="2" charset="0"/>
                          <a:cs typeface="Arial"/>
                        </a:rPr>
                        <a:t>63</a:t>
                      </a:r>
                      <a:r>
                        <a:rPr sz="800" b="1" spc="40" dirty="0">
                          <a:latin typeface="Montserrat" pitchFamily="2" charset="0"/>
                          <a:cs typeface="Arial"/>
                        </a:rPr>
                        <a:t> </a:t>
                      </a:r>
                      <a:r>
                        <a:rPr sz="800" b="1" dirty="0">
                          <a:latin typeface="Montserrat" pitchFamily="2" charset="0"/>
                          <a:cs typeface="Arial"/>
                        </a:rPr>
                        <a:t>ans</a:t>
                      </a:r>
                      <a:r>
                        <a:rPr sz="800" b="1" spc="40" dirty="0">
                          <a:latin typeface="Montserrat" pitchFamily="2" charset="0"/>
                          <a:cs typeface="Arial"/>
                        </a:rPr>
                        <a:t> </a:t>
                      </a:r>
                      <a:r>
                        <a:rPr sz="800" b="1" spc="100" dirty="0">
                          <a:latin typeface="Montserrat" pitchFamily="2" charset="0"/>
                          <a:cs typeface="Arial"/>
                        </a:rPr>
                        <a:t>et</a:t>
                      </a:r>
                      <a:r>
                        <a:rPr sz="800" b="1" spc="40" dirty="0">
                          <a:latin typeface="Montserrat" pitchFamily="2" charset="0"/>
                          <a:cs typeface="Arial"/>
                        </a:rPr>
                        <a:t> </a:t>
                      </a:r>
                      <a:r>
                        <a:rPr sz="800" b="1" spc="95" dirty="0">
                          <a:latin typeface="Montserrat" pitchFamily="2" charset="0"/>
                          <a:cs typeface="Arial"/>
                        </a:rPr>
                        <a:t>6</a:t>
                      </a:r>
                      <a:r>
                        <a:rPr sz="800" b="1" spc="40" dirty="0">
                          <a:latin typeface="Montserrat" pitchFamily="2" charset="0"/>
                          <a:cs typeface="Arial"/>
                        </a:rPr>
                        <a:t> </a:t>
                      </a:r>
                      <a:r>
                        <a:rPr sz="800" b="1" spc="35" dirty="0">
                          <a:latin typeface="Montserrat" pitchFamily="2" charset="0"/>
                          <a:cs typeface="Arial"/>
                        </a:rPr>
                        <a:t>mois</a:t>
                      </a:r>
                      <a:endParaRPr sz="800" dirty="0">
                        <a:latin typeface="Montserrat" pitchFamily="2" charset="0"/>
                        <a:cs typeface="Arial"/>
                      </a:endParaRPr>
                    </a:p>
                  </a:txBody>
                  <a:tcPr marL="0" marR="0" marT="15403"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200"/>
                        </a:spcBef>
                      </a:pPr>
                      <a:endParaRPr sz="800" dirty="0">
                        <a:latin typeface="Montserrat" pitchFamily="2" charset="0"/>
                        <a:cs typeface="Times New Roman"/>
                      </a:endParaRPr>
                    </a:p>
                    <a:p>
                      <a:pPr marL="68580" algn="ctr">
                        <a:lnSpc>
                          <a:spcPct val="100000"/>
                        </a:lnSpc>
                      </a:pPr>
                      <a:r>
                        <a:rPr sz="800" b="1" spc="-25" dirty="0">
                          <a:latin typeface="Montserrat" pitchFamily="2" charset="0"/>
                          <a:cs typeface="Arial"/>
                        </a:rPr>
                        <a:t>172</a:t>
                      </a:r>
                      <a:endParaRPr sz="800" dirty="0">
                        <a:latin typeface="Montserrat" pitchFamily="2" charset="0"/>
                        <a:cs typeface="Arial"/>
                      </a:endParaRPr>
                    </a:p>
                  </a:txBody>
                  <a:tcPr marL="0" marR="0" marT="15403"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extLst>
                  <a:ext uri="{0D108BD9-81ED-4DB2-BD59-A6C34878D82A}">
                    <a16:rowId xmlns:a16="http://schemas.microsoft.com/office/drawing/2014/main" val="10006"/>
                  </a:ext>
                </a:extLst>
              </a:tr>
              <a:tr h="328845">
                <a:tc>
                  <a:txBody>
                    <a:bodyPr/>
                    <a:lstStyle/>
                    <a:p>
                      <a:pPr>
                        <a:lnSpc>
                          <a:spcPct val="100000"/>
                        </a:lnSpc>
                        <a:spcBef>
                          <a:spcPts val="140"/>
                        </a:spcBef>
                      </a:pPr>
                      <a:endParaRPr sz="800">
                        <a:latin typeface="Montserrat" pitchFamily="2" charset="0"/>
                        <a:cs typeface="Times New Roman"/>
                      </a:endParaRPr>
                    </a:p>
                    <a:p>
                      <a:pPr marL="6985" algn="ctr">
                        <a:lnSpc>
                          <a:spcPct val="100000"/>
                        </a:lnSpc>
                      </a:pPr>
                      <a:r>
                        <a:rPr sz="800" b="1" spc="90" dirty="0">
                          <a:latin typeface="Montserrat" pitchFamily="2" charset="0"/>
                          <a:cs typeface="Arial"/>
                        </a:rPr>
                        <a:t>Née</a:t>
                      </a:r>
                      <a:r>
                        <a:rPr sz="800" b="1" spc="10" dirty="0">
                          <a:latin typeface="Montserrat" pitchFamily="2" charset="0"/>
                          <a:cs typeface="Arial"/>
                        </a:rPr>
                        <a:t> </a:t>
                      </a:r>
                      <a:r>
                        <a:rPr sz="800" b="1" spc="90" dirty="0">
                          <a:latin typeface="Montserrat" pitchFamily="2" charset="0"/>
                          <a:cs typeface="Arial"/>
                        </a:rPr>
                        <a:t>en</a:t>
                      </a:r>
                      <a:r>
                        <a:rPr sz="800" b="1" spc="10" dirty="0">
                          <a:latin typeface="Montserrat" pitchFamily="2" charset="0"/>
                          <a:cs typeface="Arial"/>
                        </a:rPr>
                        <a:t> </a:t>
                      </a:r>
                      <a:r>
                        <a:rPr sz="800" b="1" spc="-20" dirty="0">
                          <a:latin typeface="Montserrat" pitchFamily="2" charset="0"/>
                          <a:cs typeface="Arial"/>
                        </a:rPr>
                        <a:t>1967</a:t>
                      </a:r>
                      <a:endParaRPr sz="800">
                        <a:latin typeface="Montserrat" pitchFamily="2" charset="0"/>
                        <a:cs typeface="Arial"/>
                      </a:endParaRPr>
                    </a:p>
                  </a:txBody>
                  <a:tcPr marL="0" marR="0" marT="1078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40"/>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62</a:t>
                      </a:r>
                      <a:r>
                        <a:rPr sz="800" b="1" spc="5"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1078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40"/>
                        </a:spcBef>
                      </a:pPr>
                      <a:endParaRPr sz="800">
                        <a:latin typeface="Montserrat" pitchFamily="2" charset="0"/>
                        <a:cs typeface="Times New Roman"/>
                      </a:endParaRPr>
                    </a:p>
                    <a:p>
                      <a:pPr algn="ctr">
                        <a:lnSpc>
                          <a:spcPct val="100000"/>
                        </a:lnSpc>
                      </a:pPr>
                      <a:r>
                        <a:rPr sz="800" b="1" spc="-25" dirty="0">
                          <a:latin typeface="Montserrat" pitchFamily="2" charset="0"/>
                          <a:cs typeface="Arial"/>
                        </a:rPr>
                        <a:t>170</a:t>
                      </a:r>
                      <a:endParaRPr sz="800">
                        <a:latin typeface="Montserrat" pitchFamily="2" charset="0"/>
                        <a:cs typeface="Arial"/>
                      </a:endParaRPr>
                    </a:p>
                  </a:txBody>
                  <a:tcPr marL="0" marR="0" marT="1078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40"/>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63</a:t>
                      </a:r>
                      <a:r>
                        <a:rPr sz="800" b="1" spc="40" dirty="0">
                          <a:latin typeface="Montserrat" pitchFamily="2" charset="0"/>
                          <a:cs typeface="Arial"/>
                        </a:rPr>
                        <a:t> </a:t>
                      </a:r>
                      <a:r>
                        <a:rPr sz="800" b="1" dirty="0">
                          <a:latin typeface="Montserrat" pitchFamily="2" charset="0"/>
                          <a:cs typeface="Arial"/>
                        </a:rPr>
                        <a:t>ans</a:t>
                      </a:r>
                      <a:r>
                        <a:rPr sz="800" b="1" spc="40" dirty="0">
                          <a:latin typeface="Montserrat" pitchFamily="2" charset="0"/>
                          <a:cs typeface="Arial"/>
                        </a:rPr>
                        <a:t> </a:t>
                      </a:r>
                      <a:r>
                        <a:rPr sz="800" b="1" spc="100" dirty="0">
                          <a:latin typeface="Montserrat" pitchFamily="2" charset="0"/>
                          <a:cs typeface="Arial"/>
                        </a:rPr>
                        <a:t>et</a:t>
                      </a:r>
                      <a:r>
                        <a:rPr sz="800" b="1" spc="40" dirty="0">
                          <a:latin typeface="Montserrat" pitchFamily="2" charset="0"/>
                          <a:cs typeface="Arial"/>
                        </a:rPr>
                        <a:t> </a:t>
                      </a:r>
                      <a:r>
                        <a:rPr sz="800" b="1" spc="95" dirty="0">
                          <a:latin typeface="Montserrat" pitchFamily="2" charset="0"/>
                          <a:cs typeface="Arial"/>
                        </a:rPr>
                        <a:t>9</a:t>
                      </a:r>
                      <a:r>
                        <a:rPr sz="800" b="1" spc="40" dirty="0">
                          <a:latin typeface="Montserrat" pitchFamily="2" charset="0"/>
                          <a:cs typeface="Arial"/>
                        </a:rPr>
                        <a:t> </a:t>
                      </a:r>
                      <a:r>
                        <a:rPr sz="800" b="1" spc="35" dirty="0">
                          <a:latin typeface="Montserrat" pitchFamily="2" charset="0"/>
                          <a:cs typeface="Arial"/>
                        </a:rPr>
                        <a:t>mois</a:t>
                      </a:r>
                      <a:endParaRPr sz="800">
                        <a:latin typeface="Montserrat" pitchFamily="2" charset="0"/>
                        <a:cs typeface="Arial"/>
                      </a:endParaRPr>
                    </a:p>
                  </a:txBody>
                  <a:tcPr marL="0" marR="0" marT="1078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140"/>
                        </a:spcBef>
                      </a:pPr>
                      <a:endParaRPr sz="800" dirty="0">
                        <a:latin typeface="Montserrat" pitchFamily="2" charset="0"/>
                        <a:cs typeface="Times New Roman"/>
                      </a:endParaRPr>
                    </a:p>
                    <a:p>
                      <a:pPr marL="74295" algn="ctr">
                        <a:lnSpc>
                          <a:spcPct val="100000"/>
                        </a:lnSpc>
                      </a:pPr>
                      <a:r>
                        <a:rPr sz="800" b="1" spc="-25" dirty="0">
                          <a:latin typeface="Montserrat" pitchFamily="2" charset="0"/>
                          <a:cs typeface="Arial"/>
                        </a:rPr>
                        <a:t>172</a:t>
                      </a:r>
                      <a:endParaRPr sz="800" dirty="0">
                        <a:latin typeface="Montserrat" pitchFamily="2" charset="0"/>
                        <a:cs typeface="Arial"/>
                      </a:endParaRPr>
                    </a:p>
                  </a:txBody>
                  <a:tcPr marL="0" marR="0" marT="10782"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extLst>
                  <a:ext uri="{0D108BD9-81ED-4DB2-BD59-A6C34878D82A}">
                    <a16:rowId xmlns:a16="http://schemas.microsoft.com/office/drawing/2014/main" val="10007"/>
                  </a:ext>
                </a:extLst>
              </a:tr>
              <a:tr h="328845">
                <a:tc>
                  <a:txBody>
                    <a:bodyPr/>
                    <a:lstStyle/>
                    <a:p>
                      <a:pPr>
                        <a:lnSpc>
                          <a:spcPct val="100000"/>
                        </a:lnSpc>
                        <a:spcBef>
                          <a:spcPts val="110"/>
                        </a:spcBef>
                      </a:pPr>
                      <a:endParaRPr sz="800">
                        <a:latin typeface="Montserrat" pitchFamily="2" charset="0"/>
                        <a:cs typeface="Times New Roman"/>
                      </a:endParaRPr>
                    </a:p>
                    <a:p>
                      <a:pPr marL="6985" algn="ctr">
                        <a:lnSpc>
                          <a:spcPct val="100000"/>
                        </a:lnSpc>
                      </a:pPr>
                      <a:r>
                        <a:rPr sz="800" b="1" spc="90" dirty="0">
                          <a:latin typeface="Montserrat" pitchFamily="2" charset="0"/>
                          <a:cs typeface="Arial"/>
                        </a:rPr>
                        <a:t>Née</a:t>
                      </a:r>
                      <a:r>
                        <a:rPr sz="800" b="1" spc="40" dirty="0">
                          <a:latin typeface="Montserrat" pitchFamily="2" charset="0"/>
                          <a:cs typeface="Arial"/>
                        </a:rPr>
                        <a:t> </a:t>
                      </a:r>
                      <a:r>
                        <a:rPr sz="800" b="1" spc="80" dirty="0">
                          <a:latin typeface="Montserrat" pitchFamily="2" charset="0"/>
                          <a:cs typeface="Arial"/>
                        </a:rPr>
                        <a:t>entre</a:t>
                      </a:r>
                      <a:r>
                        <a:rPr sz="800" b="1" spc="45" dirty="0">
                          <a:latin typeface="Montserrat" pitchFamily="2" charset="0"/>
                          <a:cs typeface="Arial"/>
                        </a:rPr>
                        <a:t> </a:t>
                      </a:r>
                      <a:r>
                        <a:rPr sz="800" b="1" dirty="0">
                          <a:latin typeface="Montserrat" pitchFamily="2" charset="0"/>
                          <a:cs typeface="Arial"/>
                        </a:rPr>
                        <a:t>1968</a:t>
                      </a:r>
                      <a:r>
                        <a:rPr sz="800" b="1" spc="45" dirty="0">
                          <a:latin typeface="Montserrat" pitchFamily="2" charset="0"/>
                          <a:cs typeface="Arial"/>
                        </a:rPr>
                        <a:t> </a:t>
                      </a:r>
                      <a:r>
                        <a:rPr sz="800" b="1" spc="100" dirty="0">
                          <a:latin typeface="Montserrat" pitchFamily="2" charset="0"/>
                          <a:cs typeface="Arial"/>
                        </a:rPr>
                        <a:t>et</a:t>
                      </a:r>
                      <a:r>
                        <a:rPr sz="800" b="1" spc="45" dirty="0">
                          <a:latin typeface="Montserrat" pitchFamily="2" charset="0"/>
                          <a:cs typeface="Arial"/>
                        </a:rPr>
                        <a:t> </a:t>
                      </a:r>
                      <a:r>
                        <a:rPr sz="800" b="1" spc="-20" dirty="0">
                          <a:latin typeface="Montserrat" pitchFamily="2" charset="0"/>
                          <a:cs typeface="Arial"/>
                        </a:rPr>
                        <a:t>1969</a:t>
                      </a:r>
                      <a:endParaRPr sz="800">
                        <a:latin typeface="Montserrat" pitchFamily="2" charset="0"/>
                        <a:cs typeface="Arial"/>
                      </a:endParaRPr>
                    </a:p>
                  </a:txBody>
                  <a:tcPr marL="0" marR="0" marT="847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a:lnSpc>
                          <a:spcPct val="100000"/>
                        </a:lnSpc>
                        <a:spcBef>
                          <a:spcPts val="110"/>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62</a:t>
                      </a:r>
                      <a:r>
                        <a:rPr sz="800" b="1" spc="5"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847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110"/>
                        </a:spcBef>
                      </a:pPr>
                      <a:endParaRPr sz="800">
                        <a:latin typeface="Montserrat" pitchFamily="2" charset="0"/>
                        <a:cs typeface="Times New Roman"/>
                      </a:endParaRPr>
                    </a:p>
                    <a:p>
                      <a:pPr marL="29845" algn="ctr">
                        <a:lnSpc>
                          <a:spcPct val="100000"/>
                        </a:lnSpc>
                      </a:pPr>
                      <a:r>
                        <a:rPr sz="800" b="1" spc="-25" dirty="0">
                          <a:latin typeface="Montserrat" pitchFamily="2" charset="0"/>
                          <a:cs typeface="Arial"/>
                        </a:rPr>
                        <a:t>170</a:t>
                      </a:r>
                      <a:endParaRPr sz="800">
                        <a:latin typeface="Montserrat" pitchFamily="2" charset="0"/>
                        <a:cs typeface="Arial"/>
                      </a:endParaRPr>
                    </a:p>
                  </a:txBody>
                  <a:tcPr marL="0" marR="0" marT="847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a:lnSpc>
                          <a:spcPct val="100000"/>
                        </a:lnSpc>
                        <a:spcBef>
                          <a:spcPts val="110"/>
                        </a:spcBef>
                      </a:pPr>
                      <a:endParaRPr sz="800">
                        <a:latin typeface="Montserrat" pitchFamily="2" charset="0"/>
                        <a:cs typeface="Times New Roman"/>
                      </a:endParaRPr>
                    </a:p>
                    <a:p>
                      <a:pPr algn="ctr">
                        <a:lnSpc>
                          <a:spcPct val="100000"/>
                        </a:lnSpc>
                      </a:pPr>
                      <a:r>
                        <a:rPr sz="800" b="1" spc="125" dirty="0">
                          <a:latin typeface="Montserrat" pitchFamily="2" charset="0"/>
                          <a:cs typeface="Arial"/>
                        </a:rPr>
                        <a:t>64</a:t>
                      </a:r>
                      <a:r>
                        <a:rPr sz="800" b="1" spc="10"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847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110"/>
                        </a:spcBef>
                      </a:pPr>
                      <a:endParaRPr sz="800" dirty="0">
                        <a:latin typeface="Montserrat" pitchFamily="2" charset="0"/>
                        <a:cs typeface="Times New Roman"/>
                      </a:endParaRPr>
                    </a:p>
                    <a:p>
                      <a:pPr marL="88900" algn="ctr">
                        <a:lnSpc>
                          <a:spcPct val="100000"/>
                        </a:lnSpc>
                      </a:pPr>
                      <a:r>
                        <a:rPr sz="800" b="1" spc="-25" dirty="0">
                          <a:latin typeface="Montserrat" pitchFamily="2" charset="0"/>
                          <a:cs typeface="Arial"/>
                        </a:rPr>
                        <a:t>172</a:t>
                      </a:r>
                      <a:endParaRPr sz="800" dirty="0">
                        <a:latin typeface="Montserrat" pitchFamily="2" charset="0"/>
                        <a:cs typeface="Arial"/>
                      </a:endParaRPr>
                    </a:p>
                  </a:txBody>
                  <a:tcPr marL="0" marR="0" marT="847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extLst>
                  <a:ext uri="{0D108BD9-81ED-4DB2-BD59-A6C34878D82A}">
                    <a16:rowId xmlns:a16="http://schemas.microsoft.com/office/drawing/2014/main" val="10008"/>
                  </a:ext>
                </a:extLst>
              </a:tr>
              <a:tr h="328845">
                <a:tc>
                  <a:txBody>
                    <a:bodyPr/>
                    <a:lstStyle/>
                    <a:p>
                      <a:pPr>
                        <a:lnSpc>
                          <a:spcPct val="100000"/>
                        </a:lnSpc>
                        <a:spcBef>
                          <a:spcPts val="90"/>
                        </a:spcBef>
                      </a:pPr>
                      <a:endParaRPr sz="800">
                        <a:latin typeface="Montserrat" pitchFamily="2" charset="0"/>
                        <a:cs typeface="Times New Roman"/>
                      </a:endParaRPr>
                    </a:p>
                    <a:p>
                      <a:pPr algn="ctr">
                        <a:lnSpc>
                          <a:spcPct val="100000"/>
                        </a:lnSpc>
                      </a:pPr>
                      <a:r>
                        <a:rPr sz="800" b="1" spc="90" dirty="0">
                          <a:latin typeface="Montserrat" pitchFamily="2" charset="0"/>
                          <a:cs typeface="Arial"/>
                        </a:rPr>
                        <a:t>Née</a:t>
                      </a:r>
                      <a:r>
                        <a:rPr sz="800" b="1" spc="35" dirty="0">
                          <a:latin typeface="Montserrat" pitchFamily="2" charset="0"/>
                          <a:cs typeface="Arial"/>
                        </a:rPr>
                        <a:t> </a:t>
                      </a:r>
                      <a:r>
                        <a:rPr sz="800" b="1" spc="80" dirty="0">
                          <a:latin typeface="Montserrat" pitchFamily="2" charset="0"/>
                          <a:cs typeface="Arial"/>
                        </a:rPr>
                        <a:t>entre</a:t>
                      </a:r>
                      <a:r>
                        <a:rPr sz="800" b="1" spc="40" dirty="0">
                          <a:latin typeface="Montserrat" pitchFamily="2" charset="0"/>
                          <a:cs typeface="Arial"/>
                        </a:rPr>
                        <a:t> </a:t>
                      </a:r>
                      <a:r>
                        <a:rPr sz="800" b="1" dirty="0">
                          <a:latin typeface="Montserrat" pitchFamily="2" charset="0"/>
                          <a:cs typeface="Arial"/>
                        </a:rPr>
                        <a:t>1970</a:t>
                      </a:r>
                      <a:r>
                        <a:rPr sz="800" b="1" spc="40" dirty="0">
                          <a:latin typeface="Montserrat" pitchFamily="2" charset="0"/>
                          <a:cs typeface="Arial"/>
                        </a:rPr>
                        <a:t> </a:t>
                      </a:r>
                      <a:r>
                        <a:rPr sz="800" b="1" spc="100" dirty="0">
                          <a:latin typeface="Montserrat" pitchFamily="2" charset="0"/>
                          <a:cs typeface="Arial"/>
                        </a:rPr>
                        <a:t>et</a:t>
                      </a:r>
                      <a:r>
                        <a:rPr sz="800" b="1" spc="35" dirty="0">
                          <a:latin typeface="Montserrat" pitchFamily="2" charset="0"/>
                          <a:cs typeface="Arial"/>
                        </a:rPr>
                        <a:t> </a:t>
                      </a:r>
                      <a:r>
                        <a:rPr sz="800" b="1" spc="-20" dirty="0">
                          <a:latin typeface="Montserrat" pitchFamily="2" charset="0"/>
                          <a:cs typeface="Arial"/>
                        </a:rPr>
                        <a:t>1972</a:t>
                      </a:r>
                      <a:endParaRPr sz="80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90"/>
                        </a:spcBef>
                      </a:pPr>
                      <a:endParaRPr sz="800" dirty="0">
                        <a:latin typeface="Montserrat" pitchFamily="2" charset="0"/>
                        <a:cs typeface="Times New Roman"/>
                      </a:endParaRPr>
                    </a:p>
                    <a:p>
                      <a:pPr algn="ctr">
                        <a:lnSpc>
                          <a:spcPct val="100000"/>
                        </a:lnSpc>
                      </a:pPr>
                      <a:r>
                        <a:rPr sz="800" b="1" spc="70" dirty="0">
                          <a:latin typeface="Montserrat" pitchFamily="2" charset="0"/>
                          <a:cs typeface="Arial"/>
                        </a:rPr>
                        <a:t>62</a:t>
                      </a:r>
                      <a:r>
                        <a:rPr sz="800" b="1" spc="5" dirty="0">
                          <a:latin typeface="Montserrat" pitchFamily="2" charset="0"/>
                          <a:cs typeface="Arial"/>
                        </a:rPr>
                        <a:t> </a:t>
                      </a:r>
                      <a:r>
                        <a:rPr sz="800" b="1" spc="-25" dirty="0">
                          <a:latin typeface="Montserrat" pitchFamily="2" charset="0"/>
                          <a:cs typeface="Arial"/>
                        </a:rPr>
                        <a:t>ans</a:t>
                      </a:r>
                      <a:endParaRPr sz="800" dirty="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90"/>
                        </a:spcBef>
                      </a:pPr>
                      <a:endParaRPr sz="800">
                        <a:latin typeface="Montserrat" pitchFamily="2" charset="0"/>
                        <a:cs typeface="Times New Roman"/>
                      </a:endParaRPr>
                    </a:p>
                    <a:p>
                      <a:pPr marL="33020" algn="ctr">
                        <a:lnSpc>
                          <a:spcPct val="100000"/>
                        </a:lnSpc>
                      </a:pPr>
                      <a:r>
                        <a:rPr sz="800" b="1" spc="-25" dirty="0">
                          <a:latin typeface="Montserrat" pitchFamily="2" charset="0"/>
                          <a:cs typeface="Arial"/>
                        </a:rPr>
                        <a:t>171</a:t>
                      </a:r>
                      <a:endParaRPr sz="80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90"/>
                        </a:spcBef>
                      </a:pPr>
                      <a:endParaRPr sz="800">
                        <a:latin typeface="Montserrat" pitchFamily="2" charset="0"/>
                        <a:cs typeface="Times New Roman"/>
                      </a:endParaRPr>
                    </a:p>
                    <a:p>
                      <a:pPr algn="ctr">
                        <a:lnSpc>
                          <a:spcPct val="100000"/>
                        </a:lnSpc>
                      </a:pPr>
                      <a:r>
                        <a:rPr sz="800" b="1" spc="125" dirty="0">
                          <a:latin typeface="Montserrat" pitchFamily="2" charset="0"/>
                          <a:cs typeface="Arial"/>
                        </a:rPr>
                        <a:t>64</a:t>
                      </a:r>
                      <a:r>
                        <a:rPr sz="800" b="1" spc="10"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tc>
                  <a:txBody>
                    <a:bodyPr/>
                    <a:lstStyle/>
                    <a:p>
                      <a:pPr>
                        <a:lnSpc>
                          <a:spcPct val="100000"/>
                        </a:lnSpc>
                        <a:spcBef>
                          <a:spcPts val="90"/>
                        </a:spcBef>
                      </a:pPr>
                      <a:endParaRPr sz="800" dirty="0">
                        <a:latin typeface="Montserrat" pitchFamily="2" charset="0"/>
                        <a:cs typeface="Times New Roman"/>
                      </a:endParaRPr>
                    </a:p>
                    <a:p>
                      <a:pPr marL="68580" algn="ctr">
                        <a:lnSpc>
                          <a:spcPct val="100000"/>
                        </a:lnSpc>
                      </a:pPr>
                      <a:r>
                        <a:rPr sz="800" b="1" spc="-25" dirty="0">
                          <a:latin typeface="Montserrat" pitchFamily="2" charset="0"/>
                          <a:cs typeface="Arial"/>
                        </a:rPr>
                        <a:t>172</a:t>
                      </a:r>
                      <a:endParaRPr sz="800" dirty="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9C9C9"/>
                    </a:solidFill>
                  </a:tcPr>
                </a:tc>
                <a:extLst>
                  <a:ext uri="{0D108BD9-81ED-4DB2-BD59-A6C34878D82A}">
                    <a16:rowId xmlns:a16="http://schemas.microsoft.com/office/drawing/2014/main" val="10009"/>
                  </a:ext>
                </a:extLst>
              </a:tr>
              <a:tr h="328845">
                <a:tc>
                  <a:txBody>
                    <a:bodyPr/>
                    <a:lstStyle/>
                    <a:p>
                      <a:pPr>
                        <a:lnSpc>
                          <a:spcPct val="100000"/>
                        </a:lnSpc>
                        <a:spcBef>
                          <a:spcPts val="90"/>
                        </a:spcBef>
                      </a:pPr>
                      <a:endParaRPr sz="800" dirty="0">
                        <a:latin typeface="Montserrat" pitchFamily="2" charset="0"/>
                        <a:cs typeface="Times New Roman"/>
                      </a:endParaRPr>
                    </a:p>
                    <a:p>
                      <a:pPr marL="6985" algn="ctr">
                        <a:lnSpc>
                          <a:spcPct val="100000"/>
                        </a:lnSpc>
                      </a:pPr>
                      <a:r>
                        <a:rPr sz="800" b="1" spc="90" dirty="0">
                          <a:latin typeface="Montserrat" pitchFamily="2" charset="0"/>
                          <a:cs typeface="Arial"/>
                        </a:rPr>
                        <a:t>Née</a:t>
                      </a:r>
                      <a:r>
                        <a:rPr sz="800" b="1" spc="10" dirty="0">
                          <a:latin typeface="Montserrat" pitchFamily="2" charset="0"/>
                          <a:cs typeface="Arial"/>
                        </a:rPr>
                        <a:t> </a:t>
                      </a:r>
                      <a:r>
                        <a:rPr sz="800" b="1" spc="70" dirty="0">
                          <a:latin typeface="Montserrat" pitchFamily="2" charset="0"/>
                          <a:cs typeface="Arial"/>
                        </a:rPr>
                        <a:t>à</a:t>
                      </a:r>
                      <a:r>
                        <a:rPr sz="800" b="1" spc="15" dirty="0">
                          <a:latin typeface="Montserrat" pitchFamily="2" charset="0"/>
                          <a:cs typeface="Arial"/>
                        </a:rPr>
                        <a:t> </a:t>
                      </a:r>
                      <a:r>
                        <a:rPr sz="800" b="1" spc="60" dirty="0">
                          <a:latin typeface="Montserrat" pitchFamily="2" charset="0"/>
                          <a:cs typeface="Arial"/>
                        </a:rPr>
                        <a:t>partir</a:t>
                      </a:r>
                      <a:r>
                        <a:rPr sz="800" b="1" spc="15" dirty="0">
                          <a:latin typeface="Montserrat" pitchFamily="2" charset="0"/>
                          <a:cs typeface="Arial"/>
                        </a:rPr>
                        <a:t> </a:t>
                      </a:r>
                      <a:r>
                        <a:rPr sz="800" b="1" spc="90" dirty="0">
                          <a:latin typeface="Montserrat" pitchFamily="2" charset="0"/>
                          <a:cs typeface="Arial"/>
                        </a:rPr>
                        <a:t>de</a:t>
                      </a:r>
                      <a:r>
                        <a:rPr sz="800" b="1" spc="15" dirty="0">
                          <a:latin typeface="Montserrat" pitchFamily="2" charset="0"/>
                          <a:cs typeface="Arial"/>
                        </a:rPr>
                        <a:t> </a:t>
                      </a:r>
                      <a:r>
                        <a:rPr sz="800" b="1" spc="-20" dirty="0">
                          <a:latin typeface="Montserrat" pitchFamily="2" charset="0"/>
                          <a:cs typeface="Arial"/>
                        </a:rPr>
                        <a:t>1973</a:t>
                      </a:r>
                      <a:endParaRPr sz="800" dirty="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a:lnSpc>
                          <a:spcPct val="100000"/>
                        </a:lnSpc>
                        <a:spcBef>
                          <a:spcPts val="90"/>
                        </a:spcBef>
                      </a:pPr>
                      <a:endParaRPr sz="800">
                        <a:latin typeface="Montserrat" pitchFamily="2" charset="0"/>
                        <a:cs typeface="Times New Roman"/>
                      </a:endParaRPr>
                    </a:p>
                    <a:p>
                      <a:pPr algn="ctr">
                        <a:lnSpc>
                          <a:spcPct val="100000"/>
                        </a:lnSpc>
                      </a:pPr>
                      <a:r>
                        <a:rPr sz="800" b="1" spc="70" dirty="0">
                          <a:latin typeface="Montserrat" pitchFamily="2" charset="0"/>
                          <a:cs typeface="Arial"/>
                        </a:rPr>
                        <a:t>62</a:t>
                      </a:r>
                      <a:r>
                        <a:rPr sz="800" b="1" spc="5"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90"/>
                        </a:spcBef>
                      </a:pPr>
                      <a:endParaRPr sz="800">
                        <a:latin typeface="Montserrat" pitchFamily="2" charset="0"/>
                        <a:cs typeface="Times New Roman"/>
                      </a:endParaRPr>
                    </a:p>
                    <a:p>
                      <a:pPr marL="33020" algn="ctr">
                        <a:lnSpc>
                          <a:spcPct val="100000"/>
                        </a:lnSpc>
                      </a:pPr>
                      <a:r>
                        <a:rPr sz="800" b="1" spc="-25" dirty="0">
                          <a:latin typeface="Montserrat" pitchFamily="2" charset="0"/>
                          <a:cs typeface="Arial"/>
                        </a:rPr>
                        <a:t>172</a:t>
                      </a:r>
                      <a:endParaRPr sz="80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a:lnSpc>
                          <a:spcPct val="100000"/>
                        </a:lnSpc>
                        <a:spcBef>
                          <a:spcPts val="90"/>
                        </a:spcBef>
                      </a:pPr>
                      <a:endParaRPr sz="800">
                        <a:latin typeface="Montserrat" pitchFamily="2" charset="0"/>
                        <a:cs typeface="Times New Roman"/>
                      </a:endParaRPr>
                    </a:p>
                    <a:p>
                      <a:pPr algn="ctr">
                        <a:lnSpc>
                          <a:spcPct val="100000"/>
                        </a:lnSpc>
                      </a:pPr>
                      <a:r>
                        <a:rPr sz="800" b="1" spc="125" dirty="0">
                          <a:latin typeface="Montserrat" pitchFamily="2" charset="0"/>
                          <a:cs typeface="Arial"/>
                        </a:rPr>
                        <a:t>64</a:t>
                      </a:r>
                      <a:r>
                        <a:rPr sz="800" b="1" spc="10" dirty="0">
                          <a:latin typeface="Montserrat" pitchFamily="2" charset="0"/>
                          <a:cs typeface="Arial"/>
                        </a:rPr>
                        <a:t> </a:t>
                      </a:r>
                      <a:r>
                        <a:rPr sz="800" b="1" spc="-25" dirty="0">
                          <a:latin typeface="Montserrat" pitchFamily="2" charset="0"/>
                          <a:cs typeface="Arial"/>
                        </a:rPr>
                        <a:t>ans</a:t>
                      </a:r>
                      <a:endParaRPr sz="80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spcBef>
                          <a:spcPts val="90"/>
                        </a:spcBef>
                      </a:pPr>
                      <a:endParaRPr sz="800" dirty="0">
                        <a:latin typeface="Montserrat" pitchFamily="2" charset="0"/>
                        <a:cs typeface="Times New Roman"/>
                      </a:endParaRPr>
                    </a:p>
                    <a:p>
                      <a:pPr marL="88900" algn="ctr">
                        <a:lnSpc>
                          <a:spcPct val="100000"/>
                        </a:lnSpc>
                      </a:pPr>
                      <a:r>
                        <a:rPr sz="800" b="1" spc="-25" dirty="0">
                          <a:latin typeface="Montserrat" pitchFamily="2" charset="0"/>
                          <a:cs typeface="Arial"/>
                        </a:rPr>
                        <a:t>172</a:t>
                      </a:r>
                      <a:endParaRPr sz="800" dirty="0">
                        <a:latin typeface="Montserrat" pitchFamily="2" charset="0"/>
                        <a:cs typeface="Arial"/>
                      </a:endParaRPr>
                    </a:p>
                  </a:txBody>
                  <a:tcPr marL="0" marR="0" marT="6931"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639107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COMMENT SE CALCULE LA RETRAITE DU REGIME COMPLEMENTAIRE</a:t>
            </a:r>
          </a:p>
        </p:txBody>
      </p:sp>
      <mc:AlternateContent xmlns:mc="http://schemas.openxmlformats.org/markup-compatibility/2006" xmlns:a14="http://schemas.microsoft.com/office/drawing/2010/main">
        <mc:Choice Requires="a14">
          <p:sp>
            <p:nvSpPr>
              <p:cNvPr id="12" name="Espace réservé du texte 8">
                <a:extLst>
                  <a:ext uri="{FF2B5EF4-FFF2-40B4-BE49-F238E27FC236}">
                    <a16:creationId xmlns:a16="http://schemas.microsoft.com/office/drawing/2014/main" id="{B654165B-D98F-AD45-7080-A137D639987A}"/>
                  </a:ext>
                </a:extLst>
              </p:cNvPr>
              <p:cNvSpPr txBox="1">
                <a:spLocks/>
              </p:cNvSpPr>
              <p:nvPr/>
            </p:nvSpPr>
            <p:spPr>
              <a:xfrm>
                <a:off x="561385" y="1455807"/>
                <a:ext cx="10792415" cy="47183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fr-FR" sz="1600" dirty="0"/>
                  <a:t>Plusieurs systèmes de retraite complémentaire </a:t>
                </a:r>
                <a:r>
                  <a:rPr lang="fr-FR" sz="1600" dirty="0" err="1"/>
                  <a:t>co-existent</a:t>
                </a:r>
                <a:r>
                  <a:rPr lang="fr-FR" sz="1600" dirty="0"/>
                  <a:t>. Chacun a son fonctionnement propre et ses règles de calculs</a:t>
                </a:r>
              </a:p>
              <a:p>
                <a:pPr marL="1657350" lvl="4" indent="-285750"/>
                <a:r>
                  <a:rPr lang="fr-FR" sz="1600" b="1" dirty="0"/>
                  <a:t>Agirc Arrco </a:t>
                </a:r>
                <a:r>
                  <a:rPr lang="fr-FR" sz="1600" dirty="0"/>
                  <a:t>(pour les salariés cadres et non cadres)</a:t>
                </a:r>
              </a:p>
              <a:p>
                <a:pPr marL="1657350" lvl="4" indent="-285750"/>
                <a:r>
                  <a:rPr lang="fr-FR" sz="1600" b="1" dirty="0"/>
                  <a:t>CNBF </a:t>
                </a:r>
                <a:r>
                  <a:rPr lang="fr-FR" sz="1600" dirty="0"/>
                  <a:t>(Avocat), </a:t>
                </a:r>
                <a:r>
                  <a:rPr lang="fr-FR" sz="1600" b="1" dirty="0"/>
                  <a:t>CRN</a:t>
                </a:r>
                <a:r>
                  <a:rPr lang="fr-FR" sz="1600" dirty="0"/>
                  <a:t> (Notaire),…</a:t>
                </a:r>
              </a:p>
              <a:p>
                <a:pPr lvl="1"/>
                <a:endParaRPr lang="fr-FR" sz="1600" dirty="0"/>
              </a:p>
              <a:p>
                <a:pPr lvl="1"/>
                <a:r>
                  <a:rPr lang="fr-FR" sz="1600" b="1" u="sng" dirty="0"/>
                  <a:t>Règles de déblocage des régimes de retraite complémentaire :</a:t>
                </a:r>
              </a:p>
              <a:p>
                <a:pPr lvl="3"/>
                <a:r>
                  <a:rPr lang="fr-FR" sz="1600" dirty="0"/>
                  <a:t>Les prélèvements sociaux sont de 10,10 % et ils sont retirés de notre rapport pour l’Agirc Arrco</a:t>
                </a:r>
              </a:p>
              <a:p>
                <a:pPr marL="1371600" lvl="3" indent="0">
                  <a:buNone/>
                </a:pPr>
                <a:r>
                  <a:rPr lang="fr-FR" sz="1200" b="1" dirty="0"/>
                  <a:t>	</a:t>
                </a:r>
                <a:endParaRPr lang="fr-FR" sz="1200" dirty="0"/>
              </a:p>
              <a:p>
                <a:pPr lvl="1"/>
                <a:r>
                  <a:rPr lang="fr-FR" sz="1600" b="1" u="sng" dirty="0"/>
                  <a:t>Règles de calcul de la retraite complémentaire versée :</a:t>
                </a:r>
                <a14:m>
                  <m:oMath xmlns:m="http://schemas.openxmlformats.org/officeDocument/2006/math">
                    <m:r>
                      <a:rPr lang="fr-FR" sz="1600" i="1" dirty="0">
                        <a:latin typeface="Cambria Math" panose="02040503050406030204" pitchFamily="18" charset="0"/>
                      </a:rPr>
                      <m:t>	</m:t>
                    </m:r>
                  </m:oMath>
                </a14:m>
                <a:r>
                  <a:rPr lang="fr-FR" sz="1600" dirty="0"/>
                  <a:t>		</a:t>
                </a:r>
              </a:p>
            </p:txBody>
          </p:sp>
        </mc:Choice>
        <mc:Fallback xmlns="">
          <p:sp>
            <p:nvSpPr>
              <p:cNvPr id="12" name="Espace réservé du texte 8">
                <a:extLst>
                  <a:ext uri="{FF2B5EF4-FFF2-40B4-BE49-F238E27FC236}">
                    <a16:creationId xmlns:a16="http://schemas.microsoft.com/office/drawing/2014/main" id="{B654165B-D98F-AD45-7080-A137D639987A}"/>
                  </a:ext>
                </a:extLst>
              </p:cNvPr>
              <p:cNvSpPr txBox="1">
                <a:spLocks noRot="1" noChangeAspect="1" noMove="1" noResize="1" noEditPoints="1" noAdjustHandles="1" noChangeArrowheads="1" noChangeShapeType="1" noTextEdit="1"/>
              </p:cNvSpPr>
              <p:nvPr/>
            </p:nvSpPr>
            <p:spPr>
              <a:xfrm>
                <a:off x="561385" y="1455807"/>
                <a:ext cx="10792415" cy="4718304"/>
              </a:xfrm>
              <a:prstGeom prst="rect">
                <a:avLst/>
              </a:prstGeom>
              <a:blipFill>
                <a:blip r:embed="rId2"/>
                <a:stretch>
                  <a:fillRect t="-80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C5F4B6F8-D7C2-7E63-2FD2-943BA1EDFA0F}"/>
                  </a:ext>
                </a:extLst>
              </p:cNvPr>
              <p:cNvSpPr/>
              <p:nvPr/>
            </p:nvSpPr>
            <p:spPr>
              <a:xfrm>
                <a:off x="1216298" y="3913086"/>
                <a:ext cx="9324470" cy="338554"/>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fr-FR" sz="1600" b="1" i="0" dirty="0" smtClean="0">
                          <a:latin typeface="Cambria Math" panose="02040503050406030204" pitchFamily="18" charset="0"/>
                        </a:rPr>
                        <m:t>𝐑𝐞𝐭𝐫𝐚𝐢𝐭𝐞</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𝐚𝐧𝐧𝐮𝐞𝐥𝐥𝐞</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𝐧𝐨𝐦𝐛𝐫𝐞</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𝐝𝐞</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𝐩𝐨𝐢𝐧𝐭𝐬</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𝐚𝐜𝐪𝐮𝐢𝐬</m:t>
                      </m:r>
                      <m:r>
                        <a:rPr lang="fr-FR" sz="1600" b="1" i="0" dirty="0" smtClean="0">
                          <a:latin typeface="Cambria Math" panose="02040503050406030204" pitchFamily="18" charset="0"/>
                        </a:rPr>
                        <m:t> ∗ </m:t>
                      </m:r>
                      <m:r>
                        <a:rPr lang="fr-FR" sz="1600" b="1" i="0" dirty="0" smtClean="0">
                          <a:latin typeface="Cambria Math" panose="02040503050406030204" pitchFamily="18" charset="0"/>
                        </a:rPr>
                        <m:t>𝐯𝐚𝐥𝐞𝐮𝐫</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𝐝𝐮</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𝐩𝐨𝐢𝐧𝐭</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𝐚𝐮</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𝐦𝐨𝐦𝐞𝐧𝐭</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𝐝𝐞</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𝐥𝐚</m:t>
                      </m:r>
                      <m:r>
                        <a:rPr lang="fr-FR" sz="1600" b="1" i="0" dirty="0" smtClean="0">
                          <a:latin typeface="Cambria Math" panose="02040503050406030204" pitchFamily="18" charset="0"/>
                        </a:rPr>
                        <m:t> </m:t>
                      </m:r>
                      <m:r>
                        <a:rPr lang="fr-FR" sz="1600" b="1" i="0" dirty="0" smtClean="0">
                          <a:latin typeface="Cambria Math" panose="02040503050406030204" pitchFamily="18" charset="0"/>
                        </a:rPr>
                        <m:t>𝐫𝐞𝐭𝐫𝐚𝐢𝐭𝐞</m:t>
                      </m:r>
                    </m:oMath>
                  </m:oMathPara>
                </a14:m>
                <a:endParaRPr lang="fr-FR" sz="1600" b="1" dirty="0"/>
              </a:p>
            </p:txBody>
          </p:sp>
        </mc:Choice>
        <mc:Fallback xmlns="">
          <p:sp>
            <p:nvSpPr>
              <p:cNvPr id="13" name="Rectangle 12">
                <a:extLst>
                  <a:ext uri="{FF2B5EF4-FFF2-40B4-BE49-F238E27FC236}">
                    <a16:creationId xmlns:a16="http://schemas.microsoft.com/office/drawing/2014/main" id="{C5F4B6F8-D7C2-7E63-2FD2-943BA1EDFA0F}"/>
                  </a:ext>
                </a:extLst>
              </p:cNvPr>
              <p:cNvSpPr>
                <a:spLocks noRot="1" noChangeAspect="1" noMove="1" noResize="1" noEditPoints="1" noAdjustHandles="1" noChangeArrowheads="1" noChangeShapeType="1" noTextEdit="1"/>
              </p:cNvSpPr>
              <p:nvPr/>
            </p:nvSpPr>
            <p:spPr>
              <a:xfrm>
                <a:off x="1216298" y="3913086"/>
                <a:ext cx="9324470" cy="338554"/>
              </a:xfrm>
              <a:prstGeom prst="rect">
                <a:avLst/>
              </a:prstGeom>
              <a:blipFill>
                <a:blip r:embed="rId3"/>
                <a:stretch>
                  <a:fillRect b="-14815"/>
                </a:stretch>
              </a:blipFill>
            </p:spPr>
            <p:txBody>
              <a:bodyPr/>
              <a:lstStyle/>
              <a:p>
                <a:r>
                  <a:rPr lang="fr-FR">
                    <a:noFill/>
                  </a:rPr>
                  <a:t> </a:t>
                </a:r>
              </a:p>
            </p:txBody>
          </p:sp>
        </mc:Fallback>
      </mc:AlternateContent>
      <p:grpSp>
        <p:nvGrpSpPr>
          <p:cNvPr id="14" name="Groupe 13">
            <a:extLst>
              <a:ext uri="{FF2B5EF4-FFF2-40B4-BE49-F238E27FC236}">
                <a16:creationId xmlns:a16="http://schemas.microsoft.com/office/drawing/2014/main" id="{D9EF85CF-A170-AA3A-48E0-A0E99222A6B7}"/>
              </a:ext>
            </a:extLst>
          </p:cNvPr>
          <p:cNvGrpSpPr/>
          <p:nvPr/>
        </p:nvGrpSpPr>
        <p:grpSpPr>
          <a:xfrm>
            <a:off x="1154764" y="4494501"/>
            <a:ext cx="7994844" cy="628333"/>
            <a:chOff x="611922" y="4294235"/>
            <a:chExt cx="7994844" cy="628333"/>
          </a:xfrm>
        </p:grpSpPr>
        <p:sp>
          <p:nvSpPr>
            <p:cNvPr id="15" name="Rectangle 14">
              <a:extLst>
                <a:ext uri="{FF2B5EF4-FFF2-40B4-BE49-F238E27FC236}">
                  <a16:creationId xmlns:a16="http://schemas.microsoft.com/office/drawing/2014/main" id="{A44A92E3-124B-D88E-2602-B5346BC5F1AC}"/>
                </a:ext>
              </a:extLst>
            </p:cNvPr>
            <p:cNvSpPr/>
            <p:nvPr/>
          </p:nvSpPr>
          <p:spPr>
            <a:xfrm>
              <a:off x="611922" y="4294235"/>
              <a:ext cx="2554188" cy="369332"/>
            </a:xfrm>
            <a:prstGeom prst="rect">
              <a:avLst/>
            </a:prstGeom>
          </p:spPr>
          <p:txBody>
            <a:bodyPr wrap="square">
              <a:spAutoFit/>
            </a:bodyPr>
            <a:lstStyle/>
            <a:p>
              <a:pPr marL="11113" lvl="1"/>
              <a:r>
                <a:rPr lang="fr-FR" b="1" dirty="0"/>
                <a:t>Exemple (Agirc Arrco) :</a:t>
              </a:r>
            </a:p>
          </p:txBody>
        </p:sp>
        <p:sp>
          <p:nvSpPr>
            <p:cNvPr id="16" name="Rectangle 15">
              <a:extLst>
                <a:ext uri="{FF2B5EF4-FFF2-40B4-BE49-F238E27FC236}">
                  <a16:creationId xmlns:a16="http://schemas.microsoft.com/office/drawing/2014/main" id="{74CF328E-4C4E-7A5C-89C5-BC2F7FA91D0E}"/>
                </a:ext>
              </a:extLst>
            </p:cNvPr>
            <p:cNvSpPr/>
            <p:nvPr/>
          </p:nvSpPr>
          <p:spPr>
            <a:xfrm>
              <a:off x="611922" y="4645569"/>
              <a:ext cx="6706974" cy="276999"/>
            </a:xfrm>
            <a:prstGeom prst="rect">
              <a:avLst/>
            </a:prstGeom>
          </p:spPr>
          <p:txBody>
            <a:bodyPr wrap="square">
              <a:spAutoFit/>
            </a:bodyPr>
            <a:lstStyle/>
            <a:p>
              <a:pPr marL="11113" lvl="1"/>
              <a:r>
                <a:rPr lang="fr-FR" sz="1200" dirty="0">
                  <a:latin typeface="Cambria Math" panose="02040503050406030204" pitchFamily="18" charset="0"/>
                  <a:ea typeface="Cambria Math" panose="02040503050406030204" pitchFamily="18" charset="0"/>
                </a:rPr>
                <a:t>Pour une personne ayant 11 000 points AGIRC-ARRCO ; le point valant depuis </a:t>
              </a:r>
              <a:r>
                <a:rPr lang="fr-FR" sz="1200" dirty="0" err="1">
                  <a:latin typeface="Cambria Math" panose="02040503050406030204" pitchFamily="18" charset="0"/>
                  <a:ea typeface="Cambria Math" panose="02040503050406030204" pitchFamily="18" charset="0"/>
                </a:rPr>
                <a:t>Nov</a:t>
              </a:r>
              <a:r>
                <a:rPr lang="fr-FR" sz="1200" dirty="0">
                  <a:latin typeface="Cambria Math" panose="02040503050406030204" pitchFamily="18" charset="0"/>
                  <a:ea typeface="Cambria Math" panose="02040503050406030204" pitchFamily="18" charset="0"/>
                </a:rPr>
                <a:t> 24  1,4386 €.</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7032D20-2329-D05B-E3E8-F6F0FB75A8B0}"/>
                    </a:ext>
                  </a:extLst>
                </p:cNvPr>
                <p:cNvSpPr/>
                <p:nvPr/>
              </p:nvSpPr>
              <p:spPr>
                <a:xfrm>
                  <a:off x="2802420" y="4337792"/>
                  <a:ext cx="580434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sz="1400" b="0" i="1" dirty="0" smtClean="0">
                            <a:latin typeface="Cambria Math" panose="02040503050406030204" pitchFamily="18" charset="0"/>
                          </a:rPr>
                          <m:t>11 000 </m:t>
                        </m:r>
                        <m:r>
                          <a:rPr lang="fr-FR" sz="1400" b="0" i="1" dirty="0" smtClean="0">
                            <a:latin typeface="Cambria Math" panose="02040503050406030204" pitchFamily="18" charset="0"/>
                          </a:rPr>
                          <m:t>𝑥</m:t>
                        </m:r>
                        <m:r>
                          <a:rPr lang="fr-FR" sz="1400" b="0" i="1" dirty="0" smtClean="0">
                            <a:latin typeface="Cambria Math" panose="02040503050406030204" pitchFamily="18" charset="0"/>
                          </a:rPr>
                          <m:t> 1,4386=15 824,60 € </m:t>
                        </m:r>
                        <m:r>
                          <a:rPr lang="fr-FR" sz="1400" b="0" i="1" dirty="0" smtClean="0">
                            <a:latin typeface="Cambria Math" panose="02040503050406030204" pitchFamily="18" charset="0"/>
                          </a:rPr>
                          <m:t>𝑝𝑎𝑟</m:t>
                        </m:r>
                        <m:r>
                          <a:rPr lang="fr-FR" sz="1400" b="0" i="1" dirty="0" smtClean="0">
                            <a:latin typeface="Cambria Math" panose="02040503050406030204" pitchFamily="18" charset="0"/>
                          </a:rPr>
                          <m:t> </m:t>
                        </m:r>
                        <m:r>
                          <a:rPr lang="fr-FR" sz="1400" b="0" i="1" dirty="0" smtClean="0">
                            <a:latin typeface="Cambria Math" panose="02040503050406030204" pitchFamily="18" charset="0"/>
                          </a:rPr>
                          <m:t>𝑎𝑛</m:t>
                        </m:r>
                        <m:r>
                          <a:rPr lang="fr-FR" sz="1400" b="0" i="1" dirty="0" smtClean="0">
                            <a:latin typeface="Cambria Math" panose="02040503050406030204" pitchFamily="18" charset="0"/>
                          </a:rPr>
                          <m:t> </m:t>
                        </m:r>
                        <m:r>
                          <a:rPr lang="fr-FR" sz="1400" b="0" i="1" dirty="0" smtClean="0">
                            <a:latin typeface="Cambria Math" panose="02040503050406030204" pitchFamily="18" charset="0"/>
                          </a:rPr>
                          <m:t>𝑎𝑣𝑎𝑛𝑡</m:t>
                        </m:r>
                        <m:r>
                          <a:rPr lang="fr-FR" sz="1400" b="0" i="1" dirty="0" smtClean="0">
                            <a:latin typeface="Cambria Math" panose="02040503050406030204" pitchFamily="18" charset="0"/>
                          </a:rPr>
                          <m:t> </m:t>
                        </m:r>
                        <m:r>
                          <a:rPr lang="fr-FR" sz="1400" b="0" i="1" dirty="0" smtClean="0">
                            <a:latin typeface="Cambria Math" panose="02040503050406030204" pitchFamily="18" charset="0"/>
                          </a:rPr>
                          <m:t>𝑙𝑒𝑠</m:t>
                        </m:r>
                        <m:r>
                          <a:rPr lang="fr-FR" sz="1400" b="0" i="1" dirty="0" smtClean="0">
                            <a:latin typeface="Cambria Math" panose="02040503050406030204" pitchFamily="18" charset="0"/>
                          </a:rPr>
                          <m:t> </m:t>
                        </m:r>
                        <m:r>
                          <a:rPr lang="fr-FR" sz="1400" b="0" i="1" dirty="0" smtClean="0">
                            <a:latin typeface="Cambria Math" panose="02040503050406030204" pitchFamily="18" charset="0"/>
                          </a:rPr>
                          <m:t>𝑝𝑟</m:t>
                        </m:r>
                        <m:r>
                          <a:rPr lang="fr-FR" sz="1400" b="0" i="1" dirty="0" smtClean="0">
                            <a:latin typeface="Cambria Math" panose="02040503050406030204" pitchFamily="18" charset="0"/>
                          </a:rPr>
                          <m:t>é</m:t>
                        </m:r>
                        <m:r>
                          <a:rPr lang="fr-FR" sz="1400" b="0" i="1" dirty="0" smtClean="0">
                            <a:latin typeface="Cambria Math" panose="02040503050406030204" pitchFamily="18" charset="0"/>
                          </a:rPr>
                          <m:t>𝑙</m:t>
                        </m:r>
                        <m:r>
                          <a:rPr lang="fr-FR" sz="1400" b="0" i="1" dirty="0" smtClean="0">
                            <a:latin typeface="Cambria Math" panose="02040503050406030204" pitchFamily="18" charset="0"/>
                          </a:rPr>
                          <m:t>è</m:t>
                        </m:r>
                        <m:r>
                          <a:rPr lang="fr-FR" sz="1400" b="0" i="1" dirty="0" smtClean="0">
                            <a:latin typeface="Cambria Math" panose="02040503050406030204" pitchFamily="18" charset="0"/>
                          </a:rPr>
                          <m:t>𝑣𝑒𝑚𝑒𝑛𝑡𝑠</m:t>
                        </m:r>
                        <m:r>
                          <a:rPr lang="fr-FR" sz="1400" b="0" i="1" dirty="0" smtClean="0">
                            <a:latin typeface="Cambria Math" panose="02040503050406030204" pitchFamily="18" charset="0"/>
                          </a:rPr>
                          <m:t> </m:t>
                        </m:r>
                        <m:r>
                          <a:rPr lang="fr-FR" sz="1400" b="0" i="1" dirty="0" smtClean="0">
                            <a:latin typeface="Cambria Math" panose="02040503050406030204" pitchFamily="18" charset="0"/>
                          </a:rPr>
                          <m:t>𝑠𝑜𝑐𝑖𝑎𝑢𝑥</m:t>
                        </m:r>
                      </m:oMath>
                    </m:oMathPara>
                  </a14:m>
                  <a:endParaRPr lang="fr-FR" sz="1400" dirty="0"/>
                </a:p>
              </p:txBody>
            </p:sp>
          </mc:Choice>
          <mc:Fallback xmlns="">
            <p:sp>
              <p:nvSpPr>
                <p:cNvPr id="17" name="Rectangle 16">
                  <a:extLst>
                    <a:ext uri="{FF2B5EF4-FFF2-40B4-BE49-F238E27FC236}">
                      <a16:creationId xmlns:a16="http://schemas.microsoft.com/office/drawing/2014/main" id="{37032D20-2329-D05B-E3E8-F6F0FB75A8B0}"/>
                    </a:ext>
                  </a:extLst>
                </p:cNvPr>
                <p:cNvSpPr>
                  <a:spLocks noRot="1" noChangeAspect="1" noMove="1" noResize="1" noEditPoints="1" noAdjustHandles="1" noChangeArrowheads="1" noChangeShapeType="1" noTextEdit="1"/>
                </p:cNvSpPr>
                <p:nvPr/>
              </p:nvSpPr>
              <p:spPr>
                <a:xfrm>
                  <a:off x="2802420" y="4337792"/>
                  <a:ext cx="5804346" cy="307777"/>
                </a:xfrm>
                <a:prstGeom prst="rect">
                  <a:avLst/>
                </a:prstGeom>
                <a:blipFill>
                  <a:blip r:embed="rId4"/>
                  <a:stretch>
                    <a:fillRect b="-12000"/>
                  </a:stretch>
                </a:blipFill>
              </p:spPr>
              <p:txBody>
                <a:bodyPr/>
                <a:lstStyle/>
                <a:p>
                  <a:r>
                    <a:rPr lang="fr-FR">
                      <a:noFill/>
                    </a:rPr>
                    <a:t> </a:t>
                  </a:r>
                </a:p>
              </p:txBody>
            </p:sp>
          </mc:Fallback>
        </mc:AlternateContent>
      </p:grpSp>
      <p:pic>
        <p:nvPicPr>
          <p:cNvPr id="3" name="Image 2">
            <a:extLst>
              <a:ext uri="{FF2B5EF4-FFF2-40B4-BE49-F238E27FC236}">
                <a16:creationId xmlns:a16="http://schemas.microsoft.com/office/drawing/2014/main" id="{D7667F31-AF13-56E7-1B43-D631ACD825AB}"/>
              </a:ext>
            </a:extLst>
          </p:cNvPr>
          <p:cNvPicPr>
            <a:picLocks noChangeAspect="1"/>
          </p:cNvPicPr>
          <p:nvPr/>
        </p:nvPicPr>
        <p:blipFill>
          <a:blip r:embed="rId5"/>
          <a:stretch>
            <a:fillRect/>
          </a:stretch>
        </p:blipFill>
        <p:spPr>
          <a:xfrm>
            <a:off x="10654368" y="0"/>
            <a:ext cx="1537632" cy="1455807"/>
          </a:xfrm>
          <a:prstGeom prst="rect">
            <a:avLst/>
          </a:prstGeom>
        </p:spPr>
      </p:pic>
    </p:spTree>
    <p:extLst>
      <p:ext uri="{BB962C8B-B14F-4D97-AF65-F5344CB8AC3E}">
        <p14:creationId xmlns:p14="http://schemas.microsoft.com/office/powerpoint/2010/main" val="3276815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L’Agirc Arrco et </a:t>
            </a:r>
            <a:r>
              <a:rPr lang="fr-FR" sz="2000" b="1"/>
              <a:t>France Travail</a:t>
            </a:r>
            <a:endParaRPr lang="fr-FR" sz="2000" b="1" dirty="0"/>
          </a:p>
        </p:txBody>
      </p:sp>
      <p:pic>
        <p:nvPicPr>
          <p:cNvPr id="3" name="Image 2">
            <a:extLst>
              <a:ext uri="{FF2B5EF4-FFF2-40B4-BE49-F238E27FC236}">
                <a16:creationId xmlns:a16="http://schemas.microsoft.com/office/drawing/2014/main" id="{D7667F31-AF13-56E7-1B43-D631ACD825AB}"/>
              </a:ext>
            </a:extLst>
          </p:cNvPr>
          <p:cNvPicPr>
            <a:picLocks noChangeAspect="1"/>
          </p:cNvPicPr>
          <p:nvPr/>
        </p:nvPicPr>
        <p:blipFill>
          <a:blip r:embed="rId2"/>
          <a:stretch>
            <a:fillRect/>
          </a:stretch>
        </p:blipFill>
        <p:spPr>
          <a:xfrm>
            <a:off x="10654368" y="0"/>
            <a:ext cx="1537632" cy="1455807"/>
          </a:xfrm>
          <a:prstGeom prst="rect">
            <a:avLst/>
          </a:prstGeom>
        </p:spPr>
      </p:pic>
      <p:sp>
        <p:nvSpPr>
          <p:cNvPr id="4" name="object 10">
            <a:extLst>
              <a:ext uri="{FF2B5EF4-FFF2-40B4-BE49-F238E27FC236}">
                <a16:creationId xmlns:a16="http://schemas.microsoft.com/office/drawing/2014/main" id="{51A56D67-568A-FF61-76E4-255C6654AC60}"/>
              </a:ext>
            </a:extLst>
          </p:cNvPr>
          <p:cNvSpPr txBox="1"/>
          <p:nvPr/>
        </p:nvSpPr>
        <p:spPr>
          <a:xfrm>
            <a:off x="584904" y="1799540"/>
            <a:ext cx="10586580" cy="3085923"/>
          </a:xfrm>
          <a:prstGeom prst="rect">
            <a:avLst/>
          </a:prstGeom>
        </p:spPr>
        <p:txBody>
          <a:bodyPr vert="horz" wrap="square" lIns="0" tIns="7316" rIns="0" bIns="0" rtlCol="0">
            <a:spAutoFit/>
          </a:bodyPr>
          <a:lstStyle/>
          <a:p>
            <a:pPr marL="7701" marR="527538" algn="just">
              <a:lnSpc>
                <a:spcPct val="101000"/>
              </a:lnSpc>
              <a:spcBef>
                <a:spcPts val="58"/>
              </a:spcBef>
            </a:pPr>
            <a:r>
              <a:rPr lang="fr-FR" sz="1600" spc="55" dirty="0">
                <a:cs typeface="Arial"/>
              </a:rPr>
              <a:t>Le régime Agirc-Arrco accorde des points de retraite pour les périodes de chômage indemnisé, si les deux conditions suivantes sont réunies :</a:t>
            </a:r>
          </a:p>
          <a:p>
            <a:pPr marL="7701" marR="527538" algn="just">
              <a:lnSpc>
                <a:spcPct val="101000"/>
              </a:lnSpc>
              <a:spcBef>
                <a:spcPts val="58"/>
              </a:spcBef>
            </a:pPr>
            <a:endParaRPr lang="fr-FR" sz="1600" spc="55" dirty="0">
              <a:cs typeface="Arial"/>
            </a:endParaRPr>
          </a:p>
          <a:p>
            <a:pPr marL="7701" marR="527538" algn="just">
              <a:lnSpc>
                <a:spcPct val="101000"/>
              </a:lnSpc>
              <a:spcBef>
                <a:spcPts val="58"/>
              </a:spcBef>
            </a:pPr>
            <a:r>
              <a:rPr lang="fr-FR" sz="1600" spc="55" dirty="0">
                <a:cs typeface="Arial"/>
              </a:rPr>
              <a:t>La période de chômage doit être indemnisée au titre d’un emploi exercé dans une entreprise du secteur privée. Elle peut suivre ou reprendre une période d’incapacité de travail (maladie, maternité, invalidité) indemnisée par la Sécurité Sociale.</a:t>
            </a:r>
          </a:p>
          <a:p>
            <a:pPr marL="7701" marR="527538" algn="just">
              <a:lnSpc>
                <a:spcPct val="101000"/>
              </a:lnSpc>
              <a:spcBef>
                <a:spcPts val="58"/>
              </a:spcBef>
            </a:pPr>
            <a:endParaRPr lang="fr-FR" sz="1600" spc="55" dirty="0">
              <a:cs typeface="Arial"/>
            </a:endParaRPr>
          </a:p>
          <a:p>
            <a:pPr marL="7701" marR="527538" algn="just">
              <a:lnSpc>
                <a:spcPct val="101000"/>
              </a:lnSpc>
              <a:spcBef>
                <a:spcPts val="58"/>
              </a:spcBef>
            </a:pPr>
            <a:r>
              <a:rPr lang="fr-FR" sz="1600" spc="55" dirty="0">
                <a:cs typeface="Arial"/>
              </a:rPr>
              <a:t>Vous devez être indemnisé par Pôle Emploi et percevoir l’une des allocations suivantes :</a:t>
            </a:r>
          </a:p>
          <a:p>
            <a:pPr marL="7701" marR="527538" algn="just">
              <a:lnSpc>
                <a:spcPct val="101000"/>
              </a:lnSpc>
              <a:spcBef>
                <a:spcPts val="58"/>
              </a:spcBef>
            </a:pPr>
            <a:r>
              <a:rPr lang="fr-FR" sz="1600" spc="55" dirty="0">
                <a:cs typeface="Arial"/>
              </a:rPr>
              <a:t>	- Allocation d’aide au retour à l’emploi (ARE)</a:t>
            </a:r>
          </a:p>
          <a:p>
            <a:pPr marL="7701" marR="527538" algn="just">
              <a:lnSpc>
                <a:spcPct val="101000"/>
              </a:lnSpc>
              <a:spcBef>
                <a:spcPts val="58"/>
              </a:spcBef>
            </a:pPr>
            <a:r>
              <a:rPr lang="fr-FR" sz="1600" spc="55" dirty="0">
                <a:cs typeface="Arial"/>
              </a:rPr>
              <a:t>	- Allocation </a:t>
            </a:r>
            <a:r>
              <a:rPr lang="fr-FR" sz="1600" spc="55">
                <a:cs typeface="Arial"/>
              </a:rPr>
              <a:t>de </a:t>
            </a:r>
            <a:r>
              <a:rPr lang="fr-FR" sz="1600" spc="55" dirty="0">
                <a:cs typeface="Arial"/>
              </a:rPr>
              <a:t>s</a:t>
            </a:r>
            <a:r>
              <a:rPr lang="fr-FR" sz="1600" spc="55">
                <a:cs typeface="Arial"/>
              </a:rPr>
              <a:t>écurisation </a:t>
            </a:r>
            <a:r>
              <a:rPr lang="fr-FR" sz="1600" spc="55" dirty="0">
                <a:cs typeface="Arial"/>
              </a:rPr>
              <a:t>professionnelle (ASP)</a:t>
            </a:r>
          </a:p>
          <a:p>
            <a:pPr marL="7701" marR="527538" algn="just">
              <a:lnSpc>
                <a:spcPct val="101000"/>
              </a:lnSpc>
              <a:spcBef>
                <a:spcPts val="58"/>
              </a:spcBef>
            </a:pPr>
            <a:r>
              <a:rPr lang="fr-FR" sz="1600" spc="55" dirty="0">
                <a:cs typeface="Arial"/>
              </a:rPr>
              <a:t>	- Allocation de Solidarité Spécifique (ASS)</a:t>
            </a:r>
          </a:p>
          <a:p>
            <a:pPr marL="7701" marR="527538" algn="just">
              <a:lnSpc>
                <a:spcPct val="101000"/>
              </a:lnSpc>
              <a:spcBef>
                <a:spcPts val="58"/>
              </a:spcBef>
            </a:pPr>
            <a:r>
              <a:rPr lang="fr-FR" sz="1600" spc="55" dirty="0">
                <a:cs typeface="Arial"/>
              </a:rPr>
              <a:t>	- Indemnisation au titre des congés de conversion visés à l’Article R. 5111-24 du Code du Travail.</a:t>
            </a:r>
            <a:endParaRPr sz="1600" dirty="0">
              <a:cs typeface="Arial"/>
            </a:endParaRPr>
          </a:p>
        </p:txBody>
      </p:sp>
    </p:spTree>
    <p:extLst>
      <p:ext uri="{BB962C8B-B14F-4D97-AF65-F5344CB8AC3E}">
        <p14:creationId xmlns:p14="http://schemas.microsoft.com/office/powerpoint/2010/main" val="2101368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L’Agirc Arrco et La Maladie Maternité</a:t>
            </a:r>
          </a:p>
        </p:txBody>
      </p:sp>
      <p:pic>
        <p:nvPicPr>
          <p:cNvPr id="3" name="Image 2">
            <a:extLst>
              <a:ext uri="{FF2B5EF4-FFF2-40B4-BE49-F238E27FC236}">
                <a16:creationId xmlns:a16="http://schemas.microsoft.com/office/drawing/2014/main" id="{D7667F31-AF13-56E7-1B43-D631ACD825AB}"/>
              </a:ext>
            </a:extLst>
          </p:cNvPr>
          <p:cNvPicPr>
            <a:picLocks noChangeAspect="1"/>
          </p:cNvPicPr>
          <p:nvPr/>
        </p:nvPicPr>
        <p:blipFill>
          <a:blip r:embed="rId2"/>
          <a:stretch>
            <a:fillRect/>
          </a:stretch>
        </p:blipFill>
        <p:spPr>
          <a:xfrm>
            <a:off x="10654368" y="0"/>
            <a:ext cx="1537632" cy="1455807"/>
          </a:xfrm>
          <a:prstGeom prst="rect">
            <a:avLst/>
          </a:prstGeom>
        </p:spPr>
      </p:pic>
      <p:sp>
        <p:nvSpPr>
          <p:cNvPr id="5" name="object 9">
            <a:extLst>
              <a:ext uri="{FF2B5EF4-FFF2-40B4-BE49-F238E27FC236}">
                <a16:creationId xmlns:a16="http://schemas.microsoft.com/office/drawing/2014/main" id="{A78EC81D-5042-5091-8616-15B2F177639C}"/>
              </a:ext>
            </a:extLst>
          </p:cNvPr>
          <p:cNvSpPr txBox="1"/>
          <p:nvPr/>
        </p:nvSpPr>
        <p:spPr>
          <a:xfrm>
            <a:off x="838200" y="1820932"/>
            <a:ext cx="10275069" cy="3507705"/>
          </a:xfrm>
          <a:prstGeom prst="rect">
            <a:avLst/>
          </a:prstGeom>
        </p:spPr>
        <p:txBody>
          <a:bodyPr vert="horz" wrap="square" lIns="0" tIns="7316" rIns="0" bIns="0" rtlCol="0">
            <a:spAutoFit/>
          </a:bodyPr>
          <a:lstStyle/>
          <a:p>
            <a:pPr marL="7701" marR="51984">
              <a:lnSpc>
                <a:spcPct val="101000"/>
              </a:lnSpc>
              <a:spcBef>
                <a:spcPts val="58"/>
              </a:spcBef>
            </a:pPr>
            <a:r>
              <a:rPr sz="1600" dirty="0">
                <a:cs typeface="Arial"/>
              </a:rPr>
              <a:t>En cas d’arrêt de travail supérieur à 60 jours consécutifs pour maladie, maternité, accident du travail ou invalidité, vous obtenez des points de retraite sans contrepartie de cotisations, sous certaines conditions :</a:t>
            </a:r>
          </a:p>
          <a:p>
            <a:pPr marL="7701" marR="2182158" algn="just">
              <a:lnSpc>
                <a:spcPct val="201900"/>
              </a:lnSpc>
            </a:pPr>
            <a:r>
              <a:rPr sz="1600" dirty="0">
                <a:cs typeface="Arial"/>
              </a:rPr>
              <a:t>Être afﬁlié à une caisse de retraite complémentaire au moment de </a:t>
            </a:r>
            <a:r>
              <a:rPr sz="1600" dirty="0" err="1">
                <a:cs typeface="Arial"/>
              </a:rPr>
              <a:t>l’arrêt</a:t>
            </a:r>
            <a:r>
              <a:rPr sz="1600" dirty="0">
                <a:cs typeface="Arial"/>
              </a:rPr>
              <a:t> d</a:t>
            </a:r>
            <a:r>
              <a:rPr lang="fr-FR" sz="1600" dirty="0">
                <a:cs typeface="Arial"/>
              </a:rPr>
              <a:t>u </a:t>
            </a:r>
            <a:r>
              <a:rPr sz="1600" dirty="0">
                <a:cs typeface="Arial"/>
              </a:rPr>
              <a:t>travail </a:t>
            </a:r>
            <a:endParaRPr lang="fr-FR" sz="1600" dirty="0">
              <a:cs typeface="Arial"/>
            </a:endParaRPr>
          </a:p>
          <a:p>
            <a:pPr marL="7701" marR="2182158" algn="just">
              <a:lnSpc>
                <a:spcPct val="201900"/>
              </a:lnSpc>
            </a:pPr>
            <a:r>
              <a:rPr sz="1600" dirty="0" err="1">
                <a:cs typeface="Arial"/>
              </a:rPr>
              <a:t>Percevoir</a:t>
            </a:r>
            <a:r>
              <a:rPr sz="1600" dirty="0">
                <a:cs typeface="Arial"/>
              </a:rPr>
              <a:t> une des prestations temporaires suivantes :</a:t>
            </a:r>
          </a:p>
          <a:p>
            <a:pPr>
              <a:spcBef>
                <a:spcPts val="106"/>
              </a:spcBef>
            </a:pPr>
            <a:endParaRPr sz="1600" dirty="0">
              <a:cs typeface="Arial"/>
            </a:endParaRPr>
          </a:p>
          <a:p>
            <a:pPr marL="120910" indent="-113209">
              <a:buChar char="-"/>
              <a:tabLst>
                <a:tab pos="120910" algn="l"/>
              </a:tabLst>
            </a:pPr>
            <a:r>
              <a:rPr sz="1600" dirty="0">
                <a:cs typeface="Arial"/>
              </a:rPr>
              <a:t>indemnités journalières de l’assurance maladie</a:t>
            </a:r>
          </a:p>
          <a:p>
            <a:pPr marL="120910" indent="-113209">
              <a:spcBef>
                <a:spcPts val="18"/>
              </a:spcBef>
              <a:buChar char="-"/>
              <a:tabLst>
                <a:tab pos="120910" algn="l"/>
              </a:tabLst>
            </a:pPr>
            <a:r>
              <a:rPr sz="1600" dirty="0">
                <a:cs typeface="Arial"/>
              </a:rPr>
              <a:t>indemnités journalières allouées en cas d’accident du travail ou de maladie professionnelle</a:t>
            </a:r>
          </a:p>
          <a:p>
            <a:pPr>
              <a:spcBef>
                <a:spcPts val="109"/>
              </a:spcBef>
              <a:buFont typeface="Arial"/>
              <a:buChar char="-"/>
            </a:pPr>
            <a:endParaRPr sz="1600" dirty="0">
              <a:cs typeface="Arial"/>
            </a:endParaRPr>
          </a:p>
          <a:p>
            <a:pPr marL="7701"/>
            <a:r>
              <a:rPr sz="1600" dirty="0">
                <a:cs typeface="Arial"/>
              </a:rPr>
              <a:t>Ou être titulaire d’une des prestations permanentes suivantes :</a:t>
            </a:r>
          </a:p>
          <a:p>
            <a:pPr>
              <a:spcBef>
                <a:spcPts val="106"/>
              </a:spcBef>
            </a:pPr>
            <a:endParaRPr sz="1600" dirty="0">
              <a:cs typeface="Arial"/>
            </a:endParaRPr>
          </a:p>
          <a:p>
            <a:pPr marL="120910" indent="-113209">
              <a:spcBef>
                <a:spcPts val="3"/>
              </a:spcBef>
              <a:buChar char="-"/>
              <a:tabLst>
                <a:tab pos="120910" algn="l"/>
              </a:tabLst>
            </a:pPr>
            <a:r>
              <a:rPr sz="1600" dirty="0">
                <a:cs typeface="Arial"/>
              </a:rPr>
              <a:t>pension d’invalidité attribuée par la </a:t>
            </a:r>
            <a:r>
              <a:rPr sz="1600" dirty="0" err="1">
                <a:cs typeface="Arial"/>
              </a:rPr>
              <a:t>Sécurité</a:t>
            </a:r>
            <a:r>
              <a:rPr sz="1600" dirty="0">
                <a:cs typeface="Arial"/>
              </a:rPr>
              <a:t> </a:t>
            </a:r>
            <a:r>
              <a:rPr lang="fr-FR" sz="1600" dirty="0">
                <a:cs typeface="Arial"/>
              </a:rPr>
              <a:t>S</a:t>
            </a:r>
            <a:r>
              <a:rPr sz="1600" dirty="0" err="1">
                <a:cs typeface="Arial"/>
              </a:rPr>
              <a:t>ociale</a:t>
            </a:r>
            <a:r>
              <a:rPr sz="1600" dirty="0">
                <a:cs typeface="Arial"/>
              </a:rPr>
              <a:t> correspondant à un taux d’incapacité des deux tiers</a:t>
            </a:r>
            <a:r>
              <a:rPr lang="fr-FR" sz="1600" dirty="0">
                <a:cs typeface="Arial"/>
              </a:rPr>
              <a:t> </a:t>
            </a:r>
            <a:r>
              <a:rPr sz="1600" dirty="0">
                <a:cs typeface="Arial"/>
              </a:rPr>
              <a:t>au moins</a:t>
            </a:r>
          </a:p>
          <a:p>
            <a:pPr marL="120910" indent="-113209">
              <a:spcBef>
                <a:spcPts val="18"/>
              </a:spcBef>
              <a:buChar char="-"/>
              <a:tabLst>
                <a:tab pos="120910" algn="l"/>
              </a:tabLst>
            </a:pPr>
            <a:r>
              <a:rPr sz="1600" dirty="0">
                <a:cs typeface="Arial"/>
              </a:rPr>
              <a:t>rente d’accident du travail ou de maladie professionnelle correspondant à un taux d’incapacité des deux</a:t>
            </a:r>
            <a:r>
              <a:rPr lang="fr-FR" sz="1600" dirty="0">
                <a:cs typeface="Arial"/>
              </a:rPr>
              <a:t> </a:t>
            </a:r>
            <a:r>
              <a:rPr sz="1600" dirty="0">
                <a:cs typeface="Arial"/>
              </a:rPr>
              <a:t>tiers au moins</a:t>
            </a:r>
          </a:p>
        </p:txBody>
      </p:sp>
    </p:spTree>
    <p:extLst>
      <p:ext uri="{BB962C8B-B14F-4D97-AF65-F5344CB8AC3E}">
        <p14:creationId xmlns:p14="http://schemas.microsoft.com/office/powerpoint/2010/main" val="1104279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CUMUL EMPLOI RETRAITE : Sans Plafonnement</a:t>
            </a:r>
          </a:p>
        </p:txBody>
      </p:sp>
      <p:sp>
        <p:nvSpPr>
          <p:cNvPr id="6" name="ZoneTexte 5">
            <a:extLst>
              <a:ext uri="{FF2B5EF4-FFF2-40B4-BE49-F238E27FC236}">
                <a16:creationId xmlns:a16="http://schemas.microsoft.com/office/drawing/2014/main" id="{1484BD8A-6A21-628C-1063-8A6BFDCB93B6}"/>
              </a:ext>
            </a:extLst>
          </p:cNvPr>
          <p:cNvSpPr txBox="1"/>
          <p:nvPr/>
        </p:nvSpPr>
        <p:spPr>
          <a:xfrm>
            <a:off x="966951" y="1700582"/>
            <a:ext cx="9995338" cy="4031873"/>
          </a:xfrm>
          <a:prstGeom prst="rect">
            <a:avLst/>
          </a:prstGeom>
          <a:noFill/>
        </p:spPr>
        <p:txBody>
          <a:bodyPr wrap="square">
            <a:spAutoFit/>
          </a:bodyPr>
          <a:lstStyle/>
          <a:p>
            <a:pPr algn="just"/>
            <a:r>
              <a:rPr lang="fr-FR" sz="1600" b="0" i="0" dirty="0">
                <a:solidFill>
                  <a:srgbClr val="000000"/>
                </a:solidFill>
                <a:effectLst/>
                <a:cs typeface="Calibri" panose="020F0502020204030204" pitchFamily="34" charset="0"/>
              </a:rPr>
              <a:t>Vous devez au préalable avoir obtenu toutes vos retraites de base et complémentaires des régimes français, étrangers et des organisations internationales. Il s’agit des retraites dont vous remplissez les conditions d'attribution (notamment la condition d’âge de départ).</a:t>
            </a:r>
          </a:p>
          <a:p>
            <a:pPr algn="just"/>
            <a:endParaRPr lang="fr-FR" sz="1600" b="0" i="0" dirty="0">
              <a:solidFill>
                <a:srgbClr val="000000"/>
              </a:solidFill>
              <a:effectLst/>
              <a:cs typeface="Calibri" panose="020F0502020204030204" pitchFamily="34" charset="0"/>
            </a:endParaRPr>
          </a:p>
          <a:p>
            <a:pPr algn="just"/>
            <a:r>
              <a:rPr lang="fr-FR" sz="1600" b="0" i="0" dirty="0">
                <a:solidFill>
                  <a:srgbClr val="000000"/>
                </a:solidFill>
                <a:effectLst/>
                <a:cs typeface="Calibri" panose="020F0502020204030204" pitchFamily="34" charset="0"/>
              </a:rPr>
              <a:t>Le cumul intégral est alors possible :</a:t>
            </a:r>
          </a:p>
          <a:p>
            <a:pPr algn="just"/>
            <a:endParaRPr lang="fr-FR" sz="1600" b="0" i="0" dirty="0">
              <a:solidFill>
                <a:srgbClr val="000000"/>
              </a:solidFill>
              <a:effectLst/>
              <a:cs typeface="Calibri" panose="020F0502020204030204" pitchFamily="34" charset="0"/>
            </a:endParaRPr>
          </a:p>
          <a:p>
            <a:pPr marL="285750" indent="-285750" algn="just">
              <a:buFont typeface="Wingdings" pitchFamily="2" charset="2"/>
              <a:buChar char="Ø"/>
            </a:pPr>
            <a:r>
              <a:rPr lang="fr-FR" sz="1600" b="0" i="0" dirty="0">
                <a:solidFill>
                  <a:srgbClr val="000000"/>
                </a:solidFill>
                <a:effectLst/>
                <a:cs typeface="Calibri" panose="020F0502020204030204" pitchFamily="34" charset="0"/>
              </a:rPr>
              <a:t>à partir de l'âge d'obtention de la retraite au taux maximum (aussi appelé retraite à "taux plein", 67 ans pour les personnes nées en 1955 ou après)</a:t>
            </a:r>
          </a:p>
          <a:p>
            <a:pPr algn="just"/>
            <a:endParaRPr lang="fr-FR" sz="1600" b="0" i="0" dirty="0">
              <a:solidFill>
                <a:srgbClr val="000000"/>
              </a:solidFill>
              <a:effectLst/>
              <a:cs typeface="Calibri" panose="020F0502020204030204" pitchFamily="34" charset="0"/>
            </a:endParaRPr>
          </a:p>
          <a:p>
            <a:pPr marL="285750" indent="-285750" algn="just">
              <a:buFont typeface="Wingdings" pitchFamily="2" charset="2"/>
              <a:buChar char="Ø"/>
            </a:pPr>
            <a:r>
              <a:rPr lang="fr-FR" sz="1600" b="0" i="0" dirty="0">
                <a:solidFill>
                  <a:srgbClr val="000000"/>
                </a:solidFill>
                <a:effectLst/>
                <a:cs typeface="Calibri" panose="020F0502020204030204" pitchFamily="34" charset="0"/>
              </a:rPr>
              <a:t>ou dès que vous avez à la fois 63 ans et 6 mois et la durée d’assurance nécessaire pour obtenir une retraite au taux maximum.</a:t>
            </a:r>
          </a:p>
          <a:p>
            <a:pPr algn="just"/>
            <a:endParaRPr lang="fr-FR" sz="1600" b="0" i="0" dirty="0">
              <a:solidFill>
                <a:srgbClr val="000000"/>
              </a:solidFill>
              <a:effectLst/>
              <a:cs typeface="Calibri" panose="020F0502020204030204" pitchFamily="34" charset="0"/>
            </a:endParaRPr>
          </a:p>
          <a:p>
            <a:pPr algn="just"/>
            <a:r>
              <a:rPr lang="fr-FR" sz="1600" b="0" i="0" dirty="0">
                <a:solidFill>
                  <a:srgbClr val="000000"/>
                </a:solidFill>
                <a:effectLst/>
                <a:cs typeface="Calibri" panose="020F0502020204030204" pitchFamily="34" charset="0"/>
              </a:rPr>
              <a:t>Vous pouvez reprendre une activité, quelle qu’elle soit, immédiatement.</a:t>
            </a:r>
          </a:p>
          <a:p>
            <a:pPr algn="just"/>
            <a:endParaRPr lang="fr-FR" sz="1600" dirty="0">
              <a:solidFill>
                <a:srgbClr val="000000"/>
              </a:solidFill>
              <a:cs typeface="Calibri" panose="020F0502020204030204" pitchFamily="34" charset="0"/>
            </a:endParaRPr>
          </a:p>
          <a:p>
            <a:pPr algn="just"/>
            <a:r>
              <a:rPr lang="fr-FR" sz="1600" b="0" i="0" dirty="0">
                <a:solidFill>
                  <a:srgbClr val="000000"/>
                </a:solidFill>
                <a:effectLst/>
                <a:cs typeface="Calibri" panose="020F0502020204030204" pitchFamily="34" charset="0"/>
              </a:rPr>
              <a:t>Depuis le 1</a:t>
            </a:r>
            <a:r>
              <a:rPr lang="fr-FR" sz="1600" b="0" i="0" baseline="30000" dirty="0">
                <a:solidFill>
                  <a:srgbClr val="000000"/>
                </a:solidFill>
                <a:effectLst/>
                <a:cs typeface="Calibri" panose="020F0502020204030204" pitchFamily="34" charset="0"/>
              </a:rPr>
              <a:t>er</a:t>
            </a:r>
            <a:r>
              <a:rPr lang="fr-FR" sz="1600" b="0" i="0" dirty="0">
                <a:solidFill>
                  <a:srgbClr val="000000"/>
                </a:solidFill>
                <a:effectLst/>
                <a:cs typeface="Calibri" panose="020F0502020204030204" pitchFamily="34" charset="0"/>
              </a:rPr>
              <a:t> Septembre 2023, le cumul emploi retraite est générateur de nouveaux droits. Le montant de cette nouvelle pension ne pourra pas dépasser 193,20 € brut par mois.</a:t>
            </a:r>
          </a:p>
        </p:txBody>
      </p:sp>
      <p:pic>
        <p:nvPicPr>
          <p:cNvPr id="3" name="Image 2">
            <a:extLst>
              <a:ext uri="{FF2B5EF4-FFF2-40B4-BE49-F238E27FC236}">
                <a16:creationId xmlns:a16="http://schemas.microsoft.com/office/drawing/2014/main" id="{90AACF9E-CA2E-E273-C1B2-0C1DA39E7BE3}"/>
              </a:ext>
            </a:extLst>
          </p:cNvPr>
          <p:cNvPicPr>
            <a:picLocks noChangeAspect="1"/>
          </p:cNvPicPr>
          <p:nvPr/>
        </p:nvPicPr>
        <p:blipFill>
          <a:blip r:embed="rId2"/>
          <a:stretch>
            <a:fillRect/>
          </a:stretch>
        </p:blipFill>
        <p:spPr>
          <a:xfrm>
            <a:off x="10654368" y="0"/>
            <a:ext cx="1537632" cy="1455807"/>
          </a:xfrm>
          <a:prstGeom prst="rect">
            <a:avLst/>
          </a:prstGeom>
        </p:spPr>
      </p:pic>
    </p:spTree>
    <p:extLst>
      <p:ext uri="{BB962C8B-B14F-4D97-AF65-F5344CB8AC3E}">
        <p14:creationId xmlns:p14="http://schemas.microsoft.com/office/powerpoint/2010/main" val="299324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CUMUL EMPLOI RETRAITE : Avec Plafonnement</a:t>
            </a:r>
          </a:p>
        </p:txBody>
      </p:sp>
      <p:sp>
        <p:nvSpPr>
          <p:cNvPr id="7" name="ZoneTexte 6">
            <a:extLst>
              <a:ext uri="{FF2B5EF4-FFF2-40B4-BE49-F238E27FC236}">
                <a16:creationId xmlns:a16="http://schemas.microsoft.com/office/drawing/2014/main" id="{67360F4D-C37F-58CC-D607-CBC1FFA6C578}"/>
              </a:ext>
            </a:extLst>
          </p:cNvPr>
          <p:cNvSpPr txBox="1"/>
          <p:nvPr/>
        </p:nvSpPr>
        <p:spPr>
          <a:xfrm>
            <a:off x="528144" y="1455807"/>
            <a:ext cx="10731062" cy="4524315"/>
          </a:xfrm>
          <a:prstGeom prst="rect">
            <a:avLst/>
          </a:prstGeom>
          <a:noFill/>
        </p:spPr>
        <p:txBody>
          <a:bodyPr wrap="square">
            <a:spAutoFit/>
          </a:bodyPr>
          <a:lstStyle/>
          <a:p>
            <a:pPr algn="just"/>
            <a:r>
              <a:rPr lang="fr-FR" sz="1600" b="1" i="0" u="sng" dirty="0">
                <a:solidFill>
                  <a:srgbClr val="000000"/>
                </a:solidFill>
                <a:effectLst/>
              </a:rPr>
              <a:t>La limite de cumul</a:t>
            </a:r>
            <a:endParaRPr lang="fr-FR" sz="1600" b="0" i="0" u="sng" dirty="0">
              <a:solidFill>
                <a:srgbClr val="000000"/>
              </a:solidFill>
              <a:effectLst/>
            </a:endParaRPr>
          </a:p>
          <a:p>
            <a:pPr algn="just"/>
            <a:r>
              <a:rPr lang="fr-FR" sz="1600" b="0" i="0" dirty="0">
                <a:solidFill>
                  <a:srgbClr val="000000"/>
                </a:solidFill>
                <a:effectLst/>
              </a:rPr>
              <a:t>Le total mensuel de votre nouveau revenu et de vos retraites (de base et complémentaires) ne doit pas dépasser la moyenne mensuelle de vos revenus d’activité des 3 derniers mois civils (ou 1,6 fois le Smic si ce montant est plus avantageux).</a:t>
            </a:r>
          </a:p>
          <a:p>
            <a:pPr algn="just"/>
            <a:endParaRPr lang="fr-FR" sz="1600" b="0" i="0" dirty="0">
              <a:solidFill>
                <a:srgbClr val="000000"/>
              </a:solidFill>
              <a:effectLst/>
            </a:endParaRPr>
          </a:p>
          <a:p>
            <a:pPr algn="just"/>
            <a:r>
              <a:rPr lang="fr-FR" sz="1600" b="0" i="0" dirty="0">
                <a:solidFill>
                  <a:srgbClr val="000000"/>
                </a:solidFill>
                <a:effectLst/>
              </a:rPr>
              <a:t>En cas de dépassement, le montant de votre retraite est réduit (en fonction du montant du dépassement). Dès que votre revenu d’activité baisse ou si vous cessez de travailler, prévenez </a:t>
            </a:r>
            <a:r>
              <a:rPr lang="fr-FR" sz="1600" b="0" i="0" dirty="0">
                <a:effectLst/>
              </a:rPr>
              <a:t>votre caisse régionale afin </a:t>
            </a:r>
            <a:r>
              <a:rPr lang="fr-FR" sz="1600" b="0" i="0" dirty="0">
                <a:solidFill>
                  <a:srgbClr val="000000"/>
                </a:solidFill>
                <a:effectLst/>
              </a:rPr>
              <a:t>que le montant de votre retraite puisse être réajusté à votre nouvelle situation.</a:t>
            </a:r>
          </a:p>
          <a:p>
            <a:pPr algn="just"/>
            <a:endParaRPr lang="fr-FR" sz="1600" b="0" i="0" dirty="0">
              <a:solidFill>
                <a:srgbClr val="000000"/>
              </a:solidFill>
              <a:effectLst/>
            </a:endParaRPr>
          </a:p>
          <a:p>
            <a:pPr algn="just"/>
            <a:r>
              <a:rPr lang="fr-FR" sz="1600" b="1" i="0" u="sng" dirty="0">
                <a:solidFill>
                  <a:srgbClr val="000000"/>
                </a:solidFill>
                <a:effectLst/>
              </a:rPr>
              <a:t>La date de reprise d’activité</a:t>
            </a:r>
            <a:endParaRPr lang="fr-FR" sz="1600" b="0" i="0" u="sng" dirty="0">
              <a:solidFill>
                <a:srgbClr val="000000"/>
              </a:solidFill>
              <a:effectLst/>
            </a:endParaRPr>
          </a:p>
          <a:p>
            <a:pPr algn="just"/>
            <a:r>
              <a:rPr lang="fr-FR" sz="1600" b="0" i="0" dirty="0">
                <a:solidFill>
                  <a:srgbClr val="000000"/>
                </a:solidFill>
                <a:effectLst/>
              </a:rPr>
              <a:t>Vous pouvez reprendre une activité professionnelle immédiatement chez un nouvel employeur.</a:t>
            </a:r>
          </a:p>
          <a:p>
            <a:pPr algn="just"/>
            <a:endParaRPr lang="fr-FR" sz="1600" b="0" i="0" dirty="0">
              <a:solidFill>
                <a:srgbClr val="000000"/>
              </a:solidFill>
              <a:effectLst/>
            </a:endParaRPr>
          </a:p>
          <a:p>
            <a:pPr algn="just"/>
            <a:r>
              <a:rPr lang="fr-FR" sz="1600" b="0" i="0" dirty="0">
                <a:solidFill>
                  <a:srgbClr val="000000"/>
                </a:solidFill>
                <a:effectLst/>
              </a:rPr>
              <a:t>En revanche vous devez attendre 6 mois après le point de départ de votre retraite pour reprendre une activité chez votre dernier employeur. Avant ce délai, le paiement de votre retraite est suspendu.</a:t>
            </a:r>
          </a:p>
          <a:p>
            <a:pPr algn="just"/>
            <a:endParaRPr lang="fr-FR" sz="1600" b="0" i="0" dirty="0">
              <a:solidFill>
                <a:srgbClr val="000000"/>
              </a:solidFill>
              <a:effectLst/>
            </a:endParaRPr>
          </a:p>
          <a:p>
            <a:pPr algn="just"/>
            <a:r>
              <a:rPr lang="fr-FR" sz="1600" b="0" i="0" dirty="0">
                <a:solidFill>
                  <a:srgbClr val="000000"/>
                </a:solidFill>
                <a:effectLst/>
              </a:rPr>
              <a:t>Le paiement de votre retraite reprend quand vous cessez votre activité ou au plus tard le 7e mois suivant le point de départ de votre retraite. Dans le mois qui suit votre reprise d’activité vous devez impérativement :</a:t>
            </a:r>
          </a:p>
          <a:p>
            <a:pPr marL="285750" indent="-285750" algn="just">
              <a:buFont typeface="Wingdings" pitchFamily="2" charset="2"/>
              <a:buChar char="Ø"/>
            </a:pPr>
            <a:r>
              <a:rPr lang="fr-FR" sz="1600" b="0" i="0" dirty="0">
                <a:solidFill>
                  <a:srgbClr val="000000"/>
                </a:solidFill>
                <a:effectLst/>
              </a:rPr>
              <a:t>Informer votre </a:t>
            </a:r>
            <a:r>
              <a:rPr lang="fr-FR" sz="1600" dirty="0"/>
              <a:t> caisse régionale </a:t>
            </a:r>
            <a:r>
              <a:rPr lang="fr-FR" sz="1600" b="0" i="0" dirty="0">
                <a:solidFill>
                  <a:srgbClr val="000000"/>
                </a:solidFill>
                <a:effectLst/>
              </a:rPr>
              <a:t>de la reprise d’une activité professionnelle ;</a:t>
            </a:r>
          </a:p>
          <a:p>
            <a:pPr marL="285750" indent="-285750" algn="just">
              <a:buFont typeface="Wingdings" pitchFamily="2" charset="2"/>
              <a:buChar char="Ø"/>
            </a:pPr>
            <a:r>
              <a:rPr lang="fr-FR" sz="1600" b="0" i="0" dirty="0">
                <a:solidFill>
                  <a:srgbClr val="000000"/>
                </a:solidFill>
                <a:effectLst/>
              </a:rPr>
              <a:t>Transmettre tous les éléments d’information et les pièces justificatives relatives à cette reprise.</a:t>
            </a:r>
          </a:p>
        </p:txBody>
      </p:sp>
      <p:sp>
        <p:nvSpPr>
          <p:cNvPr id="4" name="ZoneTexte 3">
            <a:extLst>
              <a:ext uri="{FF2B5EF4-FFF2-40B4-BE49-F238E27FC236}">
                <a16:creationId xmlns:a16="http://schemas.microsoft.com/office/drawing/2014/main" id="{85362F68-D0DC-691E-1896-ABFAAFF0FB75}"/>
              </a:ext>
            </a:extLst>
          </p:cNvPr>
          <p:cNvSpPr txBox="1"/>
          <p:nvPr/>
        </p:nvSpPr>
        <p:spPr>
          <a:xfrm>
            <a:off x="528144" y="1089442"/>
            <a:ext cx="9950670" cy="338554"/>
          </a:xfrm>
          <a:prstGeom prst="rect">
            <a:avLst/>
          </a:prstGeom>
          <a:noFill/>
        </p:spPr>
        <p:txBody>
          <a:bodyPr wrap="square" rtlCol="0">
            <a:spAutoFit/>
          </a:bodyPr>
          <a:lstStyle/>
          <a:p>
            <a:r>
              <a:rPr lang="fr-FR" sz="1600" b="1" u="sng" dirty="0"/>
              <a:t>Si vous ne remplissez pas les conditions du cumul emploi retraite non plafonné, les règles ci-dessous s’appliqueront</a:t>
            </a:r>
          </a:p>
        </p:txBody>
      </p:sp>
      <p:pic>
        <p:nvPicPr>
          <p:cNvPr id="3" name="Image 2">
            <a:extLst>
              <a:ext uri="{FF2B5EF4-FFF2-40B4-BE49-F238E27FC236}">
                <a16:creationId xmlns:a16="http://schemas.microsoft.com/office/drawing/2014/main" id="{E6A12929-EC1A-6E82-2E2F-08E604724DD7}"/>
              </a:ext>
            </a:extLst>
          </p:cNvPr>
          <p:cNvPicPr>
            <a:picLocks noChangeAspect="1"/>
          </p:cNvPicPr>
          <p:nvPr/>
        </p:nvPicPr>
        <p:blipFill>
          <a:blip r:embed="rId2"/>
          <a:stretch>
            <a:fillRect/>
          </a:stretch>
        </p:blipFill>
        <p:spPr>
          <a:xfrm>
            <a:off x="10654368" y="0"/>
            <a:ext cx="1537632" cy="1455807"/>
          </a:xfrm>
          <a:prstGeom prst="rect">
            <a:avLst/>
          </a:prstGeom>
        </p:spPr>
      </p:pic>
    </p:spTree>
    <p:extLst>
      <p:ext uri="{BB962C8B-B14F-4D97-AF65-F5344CB8AC3E}">
        <p14:creationId xmlns:p14="http://schemas.microsoft.com/office/powerpoint/2010/main" val="3214267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VOTRE SITUATION PERSONNELLE à fin 2024 </a:t>
            </a:r>
          </a:p>
        </p:txBody>
      </p:sp>
      <p:graphicFrame>
        <p:nvGraphicFramePr>
          <p:cNvPr id="3" name="Tableau 3">
            <a:extLst>
              <a:ext uri="{FF2B5EF4-FFF2-40B4-BE49-F238E27FC236}">
                <a16:creationId xmlns:a16="http://schemas.microsoft.com/office/drawing/2014/main" id="{A68D4B4C-689E-AE92-EB9F-5E6BDE9AF7A1}"/>
              </a:ext>
            </a:extLst>
          </p:cNvPr>
          <p:cNvGraphicFramePr>
            <a:graphicFrameLocks noGrp="1"/>
          </p:cNvGraphicFramePr>
          <p:nvPr>
            <p:extLst>
              <p:ext uri="{D42A27DB-BD31-4B8C-83A1-F6EECF244321}">
                <p14:modId xmlns:p14="http://schemas.microsoft.com/office/powerpoint/2010/main" val="2127998313"/>
              </p:ext>
            </p:extLst>
          </p:nvPr>
        </p:nvGraphicFramePr>
        <p:xfrm>
          <a:off x="551542" y="894776"/>
          <a:ext cx="5297712" cy="1414810"/>
        </p:xfrm>
        <a:graphic>
          <a:graphicData uri="http://schemas.openxmlformats.org/drawingml/2006/table">
            <a:tbl>
              <a:tblPr firstRow="1" bandRow="1">
                <a:tableStyleId>{21E4AEA4-8DFA-4A89-87EB-49C32662AFE0}</a:tableStyleId>
              </a:tblPr>
              <a:tblGrid>
                <a:gridCol w="1034371">
                  <a:extLst>
                    <a:ext uri="{9D8B030D-6E8A-4147-A177-3AD203B41FA5}">
                      <a16:colId xmlns:a16="http://schemas.microsoft.com/office/drawing/2014/main" val="3917860599"/>
                    </a:ext>
                  </a:extLst>
                </a:gridCol>
                <a:gridCol w="742950">
                  <a:extLst>
                    <a:ext uri="{9D8B030D-6E8A-4147-A177-3AD203B41FA5}">
                      <a16:colId xmlns:a16="http://schemas.microsoft.com/office/drawing/2014/main" val="1163827819"/>
                    </a:ext>
                  </a:extLst>
                </a:gridCol>
                <a:gridCol w="3520391">
                  <a:extLst>
                    <a:ext uri="{9D8B030D-6E8A-4147-A177-3AD203B41FA5}">
                      <a16:colId xmlns:a16="http://schemas.microsoft.com/office/drawing/2014/main" val="2975443853"/>
                    </a:ext>
                  </a:extLst>
                </a:gridCol>
              </a:tblGrid>
              <a:tr h="311165">
                <a:tc>
                  <a:txBody>
                    <a:bodyPr/>
                    <a:lstStyle/>
                    <a:p>
                      <a:pPr algn="ctr"/>
                      <a:r>
                        <a:rPr lang="fr-FR" sz="1200" dirty="0"/>
                        <a:t>Période</a:t>
                      </a:r>
                    </a:p>
                  </a:txBody>
                  <a:tcPr/>
                </a:tc>
                <a:tc>
                  <a:txBody>
                    <a:bodyPr/>
                    <a:lstStyle/>
                    <a:p>
                      <a:pPr algn="ctr"/>
                      <a:r>
                        <a:rPr lang="fr-FR" sz="1200" dirty="0"/>
                        <a:t>Nb Trim</a:t>
                      </a:r>
                    </a:p>
                  </a:txBody>
                  <a:tcPr/>
                </a:tc>
                <a:tc>
                  <a:txBody>
                    <a:bodyPr/>
                    <a:lstStyle/>
                    <a:p>
                      <a:pPr algn="ctr"/>
                      <a:r>
                        <a:rPr lang="fr-FR" sz="1200" dirty="0"/>
                        <a:t>Employeur</a:t>
                      </a:r>
                    </a:p>
                  </a:txBody>
                  <a:tcPr/>
                </a:tc>
                <a:extLst>
                  <a:ext uri="{0D108BD9-81ED-4DB2-BD59-A6C34878D82A}">
                    <a16:rowId xmlns:a16="http://schemas.microsoft.com/office/drawing/2014/main" val="1617668219"/>
                  </a:ext>
                </a:extLst>
              </a:tr>
              <a:tr h="311165">
                <a:tc>
                  <a:txBody>
                    <a:bodyPr/>
                    <a:lstStyle/>
                    <a:p>
                      <a:r>
                        <a:rPr lang="fr-FR" sz="1000" dirty="0"/>
                        <a:t>1985 à 1992</a:t>
                      </a:r>
                    </a:p>
                  </a:txBody>
                  <a:tcPr anchor="ctr"/>
                </a:tc>
                <a:tc>
                  <a:txBody>
                    <a:bodyPr/>
                    <a:lstStyle/>
                    <a:p>
                      <a:pPr algn="ctr"/>
                      <a:r>
                        <a:rPr lang="fr-FR" sz="1000" dirty="0"/>
                        <a:t>25</a:t>
                      </a:r>
                    </a:p>
                  </a:txBody>
                  <a:tcPr anchor="ctr"/>
                </a:tc>
                <a:tc>
                  <a:txBody>
                    <a:bodyPr/>
                    <a:lstStyle/>
                    <a:p>
                      <a:r>
                        <a:rPr lang="fr-FR" sz="1000" dirty="0"/>
                        <a:t>Allocation pour Jeune Enfant, Salarié, Yves Marie Michau</a:t>
                      </a:r>
                    </a:p>
                  </a:txBody>
                  <a:tcPr anchor="ctr"/>
                </a:tc>
                <a:extLst>
                  <a:ext uri="{0D108BD9-81ED-4DB2-BD59-A6C34878D82A}">
                    <a16:rowId xmlns:a16="http://schemas.microsoft.com/office/drawing/2014/main" val="4229493561"/>
                  </a:ext>
                </a:extLst>
              </a:tr>
              <a:tr h="311165">
                <a:tc>
                  <a:txBody>
                    <a:bodyPr/>
                    <a:lstStyle/>
                    <a:p>
                      <a:r>
                        <a:rPr lang="fr-FR" sz="1000" dirty="0"/>
                        <a:t>1992 à 2006</a:t>
                      </a:r>
                    </a:p>
                  </a:txBody>
                  <a:tcPr anchor="ctr"/>
                </a:tc>
                <a:tc>
                  <a:txBody>
                    <a:bodyPr/>
                    <a:lstStyle/>
                    <a:p>
                      <a:pPr algn="ctr"/>
                      <a:r>
                        <a:rPr lang="fr-FR" sz="1000" dirty="0"/>
                        <a:t>56</a:t>
                      </a:r>
                    </a:p>
                  </a:txBody>
                  <a:tcPr anchor="ctr"/>
                </a:tc>
                <a:tc>
                  <a:txBody>
                    <a:bodyPr/>
                    <a:lstStyle/>
                    <a:p>
                      <a:r>
                        <a:rPr lang="fr-FR" sz="1000" dirty="0"/>
                        <a:t>Barbosa, France Travail, </a:t>
                      </a:r>
                      <a:r>
                        <a:rPr lang="fr-FR" sz="1000" dirty="0" err="1"/>
                        <a:t>Frering</a:t>
                      </a:r>
                      <a:r>
                        <a:rPr lang="fr-FR" sz="1000" dirty="0"/>
                        <a:t> Didier, Barbosa </a:t>
                      </a:r>
                      <a:r>
                        <a:rPr lang="fr-FR" sz="1000" dirty="0" err="1"/>
                        <a:t>Batiment</a:t>
                      </a:r>
                      <a:r>
                        <a:rPr lang="fr-FR" sz="1000" dirty="0"/>
                        <a:t> et Accident du Travail Maladie Professionnelle</a:t>
                      </a:r>
                    </a:p>
                  </a:txBody>
                  <a:tcPr anchor="ctr"/>
                </a:tc>
                <a:extLst>
                  <a:ext uri="{0D108BD9-81ED-4DB2-BD59-A6C34878D82A}">
                    <a16:rowId xmlns:a16="http://schemas.microsoft.com/office/drawing/2014/main" val="4270558513"/>
                  </a:ext>
                </a:extLst>
              </a:tr>
              <a:tr h="311165">
                <a:tc>
                  <a:txBody>
                    <a:bodyPr/>
                    <a:lstStyle/>
                    <a:p>
                      <a:r>
                        <a:rPr lang="fr-FR" sz="1000" dirty="0"/>
                        <a:t>Depuis 2006</a:t>
                      </a:r>
                    </a:p>
                  </a:txBody>
                  <a:tcPr anchor="ctr"/>
                </a:tc>
                <a:tc>
                  <a:txBody>
                    <a:bodyPr/>
                    <a:lstStyle/>
                    <a:p>
                      <a:pPr algn="ctr"/>
                      <a:r>
                        <a:rPr lang="fr-FR" sz="1000" dirty="0"/>
                        <a:t>76</a:t>
                      </a:r>
                    </a:p>
                  </a:txBody>
                  <a:tcPr anchor="ctr"/>
                </a:tc>
                <a:tc>
                  <a:txBody>
                    <a:bodyPr/>
                    <a:lstStyle/>
                    <a:p>
                      <a:r>
                        <a:rPr lang="fr-FR" sz="1000" dirty="0"/>
                        <a:t>Bresson Michel, Jean Bourdin, SCCM, SCM, Maladie et Laurent Elbaz</a:t>
                      </a:r>
                    </a:p>
                  </a:txBody>
                  <a:tcPr anchor="ctr"/>
                </a:tc>
                <a:extLst>
                  <a:ext uri="{0D108BD9-81ED-4DB2-BD59-A6C34878D82A}">
                    <a16:rowId xmlns:a16="http://schemas.microsoft.com/office/drawing/2014/main" val="2692305527"/>
                  </a:ext>
                </a:extLst>
              </a:tr>
            </a:tbl>
          </a:graphicData>
        </a:graphic>
      </p:graphicFrame>
      <p:graphicFrame>
        <p:nvGraphicFramePr>
          <p:cNvPr id="6" name="Graphique 5">
            <a:extLst>
              <a:ext uri="{FF2B5EF4-FFF2-40B4-BE49-F238E27FC236}">
                <a16:creationId xmlns:a16="http://schemas.microsoft.com/office/drawing/2014/main" id="{66E5C0B3-B4E5-D4F2-D129-73275DE38398}"/>
              </a:ext>
            </a:extLst>
          </p:cNvPr>
          <p:cNvGraphicFramePr/>
          <p:nvPr>
            <p:extLst>
              <p:ext uri="{D42A27DB-BD31-4B8C-83A1-F6EECF244321}">
                <p14:modId xmlns:p14="http://schemas.microsoft.com/office/powerpoint/2010/main" val="3418061402"/>
              </p:ext>
            </p:extLst>
          </p:nvPr>
        </p:nvGraphicFramePr>
        <p:xfrm>
          <a:off x="7214775" y="1092222"/>
          <a:ext cx="4281713" cy="2261961"/>
        </p:xfrm>
        <a:graphic>
          <a:graphicData uri="http://schemas.openxmlformats.org/drawingml/2006/chart">
            <c:chart xmlns:c="http://schemas.openxmlformats.org/drawingml/2006/chart" xmlns:r="http://schemas.openxmlformats.org/officeDocument/2006/relationships" r:id="rId2"/>
          </a:graphicData>
        </a:graphic>
      </p:graphicFrame>
      <p:sp>
        <p:nvSpPr>
          <p:cNvPr id="8" name="Flèche vers la droite 7">
            <a:extLst>
              <a:ext uri="{FF2B5EF4-FFF2-40B4-BE49-F238E27FC236}">
                <a16:creationId xmlns:a16="http://schemas.microsoft.com/office/drawing/2014/main" id="{6AC0A3BE-7238-51E9-DAA9-2447C814E089}"/>
              </a:ext>
            </a:extLst>
          </p:cNvPr>
          <p:cNvSpPr/>
          <p:nvPr/>
        </p:nvSpPr>
        <p:spPr>
          <a:xfrm>
            <a:off x="6187094" y="1919091"/>
            <a:ext cx="369354" cy="1383030"/>
          </a:xfrm>
          <a:prstGeom prst="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Rectangle à coins arrondis 9">
            <a:extLst>
              <a:ext uri="{FF2B5EF4-FFF2-40B4-BE49-F238E27FC236}">
                <a16:creationId xmlns:a16="http://schemas.microsoft.com/office/drawing/2014/main" id="{3D54652A-8D17-0BD4-3022-B9ABB00D6A1A}"/>
              </a:ext>
            </a:extLst>
          </p:cNvPr>
          <p:cNvSpPr/>
          <p:nvPr/>
        </p:nvSpPr>
        <p:spPr>
          <a:xfrm>
            <a:off x="6894287" y="4535828"/>
            <a:ext cx="3991429" cy="369887"/>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Retraite Complémentaire</a:t>
            </a:r>
          </a:p>
        </p:txBody>
      </p:sp>
      <p:sp>
        <p:nvSpPr>
          <p:cNvPr id="10" name="Flèche vers la droite 9">
            <a:extLst>
              <a:ext uri="{FF2B5EF4-FFF2-40B4-BE49-F238E27FC236}">
                <a16:creationId xmlns:a16="http://schemas.microsoft.com/office/drawing/2014/main" id="{6ADC0A74-F2D0-2F27-FC3F-65FD4C3A2ECD}"/>
              </a:ext>
            </a:extLst>
          </p:cNvPr>
          <p:cNvSpPr/>
          <p:nvPr/>
        </p:nvSpPr>
        <p:spPr>
          <a:xfrm>
            <a:off x="6187094" y="4783590"/>
            <a:ext cx="369354" cy="1383030"/>
          </a:xfrm>
          <a:prstGeom prst="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459CD33A-83FB-B263-6CB3-2383E958BACC}"/>
              </a:ext>
            </a:extLst>
          </p:cNvPr>
          <p:cNvSpPr/>
          <p:nvPr/>
        </p:nvSpPr>
        <p:spPr>
          <a:xfrm>
            <a:off x="7097486" y="5109029"/>
            <a:ext cx="1074057" cy="1057591"/>
          </a:xfrm>
          <a:prstGeom prst="ellipse">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5 385,62</a:t>
            </a:r>
          </a:p>
        </p:txBody>
      </p:sp>
      <p:sp>
        <p:nvSpPr>
          <p:cNvPr id="20" name="ZoneTexte 19">
            <a:extLst>
              <a:ext uri="{FF2B5EF4-FFF2-40B4-BE49-F238E27FC236}">
                <a16:creationId xmlns:a16="http://schemas.microsoft.com/office/drawing/2014/main" id="{8BA0D05D-EDFB-17F1-90BB-B3A5A9E25F87}"/>
              </a:ext>
            </a:extLst>
          </p:cNvPr>
          <p:cNvSpPr txBox="1"/>
          <p:nvPr/>
        </p:nvSpPr>
        <p:spPr>
          <a:xfrm>
            <a:off x="6556448" y="3247518"/>
            <a:ext cx="5598368" cy="1077218"/>
          </a:xfrm>
          <a:prstGeom prst="rect">
            <a:avLst/>
          </a:prstGeom>
          <a:noFill/>
        </p:spPr>
        <p:txBody>
          <a:bodyPr wrap="square" rtlCol="0">
            <a:spAutoFit/>
          </a:bodyPr>
          <a:lstStyle/>
          <a:p>
            <a:endParaRPr lang="fr-FR" sz="1600" b="1" dirty="0"/>
          </a:p>
          <a:p>
            <a:r>
              <a:rPr lang="fr-FR" sz="1600" b="1" dirty="0"/>
              <a:t>Date de Départ Age Légal : 1</a:t>
            </a:r>
            <a:r>
              <a:rPr lang="fr-FR" sz="1600" b="1" baseline="30000" dirty="0"/>
              <a:t>er</a:t>
            </a:r>
            <a:r>
              <a:rPr lang="fr-FR" sz="1600" b="1" dirty="0"/>
              <a:t> Août 2025 à 66 Ans et 2 Mois</a:t>
            </a:r>
          </a:p>
          <a:p>
            <a:endParaRPr lang="fr-FR" sz="1600" b="1" dirty="0"/>
          </a:p>
          <a:p>
            <a:r>
              <a:rPr lang="fr-FR" sz="1600" b="1" dirty="0"/>
              <a:t>Date de Départ Taux Plein : 1</a:t>
            </a:r>
            <a:r>
              <a:rPr lang="fr-FR" sz="1600" b="1" baseline="30000" dirty="0"/>
              <a:t>er</a:t>
            </a:r>
            <a:r>
              <a:rPr lang="fr-FR" sz="1600" b="1" dirty="0"/>
              <a:t> Juin 2026 à 67 Ans</a:t>
            </a:r>
          </a:p>
        </p:txBody>
      </p:sp>
      <p:sp>
        <p:nvSpPr>
          <p:cNvPr id="21" name="ZoneTexte 20">
            <a:extLst>
              <a:ext uri="{FF2B5EF4-FFF2-40B4-BE49-F238E27FC236}">
                <a16:creationId xmlns:a16="http://schemas.microsoft.com/office/drawing/2014/main" id="{FE01727D-88BF-B452-A6BA-7584E6A2FED4}"/>
              </a:ext>
            </a:extLst>
          </p:cNvPr>
          <p:cNvSpPr txBox="1"/>
          <p:nvPr/>
        </p:nvSpPr>
        <p:spPr>
          <a:xfrm>
            <a:off x="7175499" y="6295978"/>
            <a:ext cx="918029" cy="278598"/>
          </a:xfrm>
          <a:prstGeom prst="rect">
            <a:avLst/>
          </a:prstGeom>
          <a:noFill/>
        </p:spPr>
        <p:txBody>
          <a:bodyPr wrap="square" rtlCol="0">
            <a:spAutoFit/>
          </a:bodyPr>
          <a:lstStyle/>
          <a:p>
            <a:r>
              <a:rPr lang="fr-FR" sz="1200" dirty="0"/>
              <a:t>Agirc Arrco</a:t>
            </a:r>
          </a:p>
        </p:txBody>
      </p:sp>
      <p:sp>
        <p:nvSpPr>
          <p:cNvPr id="25" name="ZoneTexte 24">
            <a:extLst>
              <a:ext uri="{FF2B5EF4-FFF2-40B4-BE49-F238E27FC236}">
                <a16:creationId xmlns:a16="http://schemas.microsoft.com/office/drawing/2014/main" id="{78365505-482F-2FAF-C126-6754990B9751}"/>
              </a:ext>
            </a:extLst>
          </p:cNvPr>
          <p:cNvSpPr txBox="1"/>
          <p:nvPr/>
        </p:nvSpPr>
        <p:spPr>
          <a:xfrm>
            <a:off x="551542" y="2767036"/>
            <a:ext cx="5297712" cy="1631216"/>
          </a:xfrm>
          <a:prstGeom prst="rect">
            <a:avLst/>
          </a:prstGeom>
          <a:noFill/>
          <a:ln w="15875">
            <a:solidFill>
              <a:schemeClr val="tx1"/>
            </a:solidFill>
          </a:ln>
        </p:spPr>
        <p:txBody>
          <a:bodyPr wrap="square" rtlCol="0">
            <a:spAutoFit/>
          </a:bodyPr>
          <a:lstStyle/>
          <a:p>
            <a:r>
              <a:rPr lang="fr-FR" sz="1000" b="1" dirty="0"/>
              <a:t>Anomalies</a:t>
            </a:r>
            <a:r>
              <a:rPr lang="fr-FR" sz="1000" dirty="0"/>
              <a:t>:</a:t>
            </a:r>
          </a:p>
          <a:p>
            <a:pPr marL="171450" indent="-171450">
              <a:buFont typeface="Arial" panose="020B0604020202020204" pitchFamily="34" charset="0"/>
              <a:buChar char="•"/>
            </a:pPr>
            <a:r>
              <a:rPr lang="fr-FR" sz="1000" dirty="0"/>
              <a:t>Service Militaire ?</a:t>
            </a:r>
          </a:p>
          <a:p>
            <a:pPr marL="171450" indent="-171450">
              <a:buFont typeface="Arial" panose="020B0604020202020204" pitchFamily="34" charset="0"/>
              <a:buChar char="•"/>
            </a:pPr>
            <a:r>
              <a:rPr lang="fr-FR" sz="1000" dirty="0"/>
              <a:t>Carrière à l’Etranger ?</a:t>
            </a:r>
          </a:p>
          <a:p>
            <a:pPr marL="171450" indent="-171450">
              <a:buFont typeface="Arial" panose="020B0604020202020204" pitchFamily="34" charset="0"/>
              <a:buChar char="•"/>
            </a:pPr>
            <a:r>
              <a:rPr lang="fr-FR" sz="1000" dirty="0"/>
              <a:t>1985 : Fournir Bulletin de Salaire pour CNAV. 1 Trimestre à Récupérer</a:t>
            </a:r>
          </a:p>
          <a:p>
            <a:pPr marL="171450" indent="-171450">
              <a:buFont typeface="Arial" panose="020B0604020202020204" pitchFamily="34" charset="0"/>
              <a:buChar char="•"/>
            </a:pPr>
            <a:r>
              <a:rPr lang="fr-FR" sz="1000" dirty="0"/>
              <a:t>1992 : Fournir Bulletin de Salaire pour contrôle du Salaire pris en compte par la CNAV</a:t>
            </a:r>
          </a:p>
          <a:p>
            <a:pPr marL="171450" indent="-171450">
              <a:buFont typeface="Arial" panose="020B0604020202020204" pitchFamily="34" charset="0"/>
              <a:buChar char="•"/>
            </a:pPr>
            <a:r>
              <a:rPr lang="fr-FR" sz="1000" dirty="0"/>
              <a:t>1994 : Fournir Bulletin de Salaire pour </a:t>
            </a:r>
            <a:r>
              <a:rPr lang="fr-FR" sz="1000" dirty="0" err="1"/>
              <a:t>Frering</a:t>
            </a:r>
            <a:r>
              <a:rPr lang="fr-FR" sz="1000" dirty="0"/>
              <a:t> pour la </a:t>
            </a:r>
            <a:r>
              <a:rPr lang="fr-FR" sz="1000" dirty="0" err="1"/>
              <a:t>Cnav</a:t>
            </a:r>
            <a:endParaRPr lang="fr-FR" sz="1000" dirty="0"/>
          </a:p>
          <a:p>
            <a:pPr marL="171450" indent="-171450">
              <a:buFont typeface="Arial" panose="020B0604020202020204" pitchFamily="34" charset="0"/>
              <a:buChar char="•"/>
            </a:pPr>
            <a:r>
              <a:rPr lang="fr-FR" sz="1000" dirty="0"/>
              <a:t>1995 : Fournir relevé d’indemnisation Assedic</a:t>
            </a:r>
          </a:p>
          <a:p>
            <a:pPr marL="171450" indent="-171450">
              <a:buFont typeface="Arial" panose="020B0604020202020204" pitchFamily="34" charset="0"/>
              <a:buChar char="•"/>
            </a:pPr>
            <a:r>
              <a:rPr lang="fr-FR" sz="1000" dirty="0"/>
              <a:t>2006 : Fournir Bulletin de Salaire de Barbosa pour la </a:t>
            </a:r>
            <a:r>
              <a:rPr lang="fr-FR" sz="1000" dirty="0" err="1"/>
              <a:t>Cnav</a:t>
            </a:r>
            <a:endParaRPr lang="fr-FR" sz="1000" dirty="0"/>
          </a:p>
          <a:p>
            <a:pPr marL="171450" indent="-171450">
              <a:buFont typeface="Arial" panose="020B0604020202020204" pitchFamily="34" charset="0"/>
              <a:buChar char="•"/>
            </a:pPr>
            <a:r>
              <a:rPr lang="fr-FR" sz="1000" dirty="0"/>
              <a:t>2007 : Fournir Bulletin de Salaire de SCCM pour contrôle du Salaire pris en compte par la CNAV</a:t>
            </a:r>
          </a:p>
          <a:p>
            <a:pPr marL="171450" indent="-171450">
              <a:buFont typeface="Arial" panose="020B0604020202020204" pitchFamily="34" charset="0"/>
              <a:buChar char="•"/>
            </a:pPr>
            <a:r>
              <a:rPr lang="fr-FR" sz="1000" dirty="0"/>
              <a:t>2015 et 2016 : Fournir Bulletin de Salaire d’Elbaz pour la </a:t>
            </a:r>
            <a:r>
              <a:rPr lang="fr-FR" sz="1000" dirty="0" err="1"/>
              <a:t>Cnav</a:t>
            </a:r>
            <a:endParaRPr lang="fr-FR" sz="1000" dirty="0"/>
          </a:p>
        </p:txBody>
      </p:sp>
      <p:sp>
        <p:nvSpPr>
          <p:cNvPr id="26" name="ZoneTexte 25">
            <a:extLst>
              <a:ext uri="{FF2B5EF4-FFF2-40B4-BE49-F238E27FC236}">
                <a16:creationId xmlns:a16="http://schemas.microsoft.com/office/drawing/2014/main" id="{B681F31E-4181-B3BB-58A1-FCC34C5BC194}"/>
              </a:ext>
            </a:extLst>
          </p:cNvPr>
          <p:cNvSpPr txBox="1"/>
          <p:nvPr/>
        </p:nvSpPr>
        <p:spPr>
          <a:xfrm>
            <a:off x="551542" y="5666292"/>
            <a:ext cx="5297712" cy="400110"/>
          </a:xfrm>
          <a:prstGeom prst="rect">
            <a:avLst/>
          </a:prstGeom>
          <a:noFill/>
          <a:ln w="15875">
            <a:solidFill>
              <a:schemeClr val="tx1"/>
            </a:solidFill>
          </a:ln>
        </p:spPr>
        <p:txBody>
          <a:bodyPr wrap="square" rtlCol="0">
            <a:spAutoFit/>
          </a:bodyPr>
          <a:lstStyle/>
          <a:p>
            <a:r>
              <a:rPr lang="fr-FR" sz="1000" b="1" dirty="0"/>
              <a:t>Régimes Complémentaires :</a:t>
            </a:r>
          </a:p>
          <a:p>
            <a:pPr marL="171450" indent="-171450">
              <a:buFont typeface="Arial" panose="020B0604020202020204" pitchFamily="34" charset="0"/>
              <a:buChar char="•"/>
            </a:pPr>
            <a:r>
              <a:rPr lang="fr-FR" sz="1000" dirty="0"/>
              <a:t>Agirc Arrco</a:t>
            </a:r>
          </a:p>
        </p:txBody>
      </p:sp>
      <p:pic>
        <p:nvPicPr>
          <p:cNvPr id="4" name="Image 3">
            <a:extLst>
              <a:ext uri="{FF2B5EF4-FFF2-40B4-BE49-F238E27FC236}">
                <a16:creationId xmlns:a16="http://schemas.microsoft.com/office/drawing/2014/main" id="{6E05CBBD-B6DD-EE9B-1B81-2390F1900756}"/>
              </a:ext>
            </a:extLst>
          </p:cNvPr>
          <p:cNvPicPr>
            <a:picLocks noChangeAspect="1"/>
          </p:cNvPicPr>
          <p:nvPr/>
        </p:nvPicPr>
        <p:blipFill>
          <a:blip r:embed="rId3"/>
          <a:stretch>
            <a:fillRect/>
          </a:stretch>
        </p:blipFill>
        <p:spPr>
          <a:xfrm>
            <a:off x="10617184" y="0"/>
            <a:ext cx="1537632" cy="1455807"/>
          </a:xfrm>
          <a:prstGeom prst="rect">
            <a:avLst/>
          </a:prstGeom>
        </p:spPr>
      </p:pic>
      <p:sp>
        <p:nvSpPr>
          <p:cNvPr id="7" name="Rectangle à coins arrondis 9">
            <a:extLst>
              <a:ext uri="{FF2B5EF4-FFF2-40B4-BE49-F238E27FC236}">
                <a16:creationId xmlns:a16="http://schemas.microsoft.com/office/drawing/2014/main" id="{193C0027-A8D7-1C8D-4348-3F32AC157197}"/>
              </a:ext>
            </a:extLst>
          </p:cNvPr>
          <p:cNvSpPr/>
          <p:nvPr/>
        </p:nvSpPr>
        <p:spPr>
          <a:xfrm>
            <a:off x="6894287" y="524889"/>
            <a:ext cx="3991429" cy="369887"/>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Date de départ à la retraite</a:t>
            </a:r>
          </a:p>
        </p:txBody>
      </p:sp>
      <p:sp>
        <p:nvSpPr>
          <p:cNvPr id="13" name="ZoneTexte 12">
            <a:extLst>
              <a:ext uri="{FF2B5EF4-FFF2-40B4-BE49-F238E27FC236}">
                <a16:creationId xmlns:a16="http://schemas.microsoft.com/office/drawing/2014/main" id="{DBF3B76A-93A2-F7E5-5990-E19C42AA54A3}"/>
              </a:ext>
            </a:extLst>
          </p:cNvPr>
          <p:cNvSpPr txBox="1"/>
          <p:nvPr/>
        </p:nvSpPr>
        <p:spPr>
          <a:xfrm>
            <a:off x="551542" y="4783590"/>
            <a:ext cx="5297712" cy="400110"/>
          </a:xfrm>
          <a:prstGeom prst="rect">
            <a:avLst/>
          </a:prstGeom>
          <a:noFill/>
          <a:ln w="15875">
            <a:solidFill>
              <a:schemeClr val="tx1"/>
            </a:solidFill>
          </a:ln>
        </p:spPr>
        <p:txBody>
          <a:bodyPr wrap="square" rtlCol="0">
            <a:spAutoFit/>
          </a:bodyPr>
          <a:lstStyle/>
          <a:p>
            <a:r>
              <a:rPr lang="fr-FR" sz="1000" b="1" dirty="0"/>
              <a:t>Trous de Carrière </a:t>
            </a:r>
            <a:r>
              <a:rPr lang="fr-FR" sz="1000" dirty="0"/>
              <a:t>:</a:t>
            </a:r>
          </a:p>
          <a:p>
            <a:pPr marL="171450" indent="-171450">
              <a:buFont typeface="Arial" panose="020B0604020202020204" pitchFamily="34" charset="0"/>
              <a:buChar char="•"/>
            </a:pPr>
            <a:r>
              <a:rPr lang="fr-FR" sz="1000" dirty="0"/>
              <a:t>Avant le 08 Déc 1985, 1</a:t>
            </a:r>
            <a:r>
              <a:rPr lang="fr-FR" sz="1000" baseline="30000" dirty="0"/>
              <a:t>er</a:t>
            </a:r>
            <a:r>
              <a:rPr lang="fr-FR" sz="1000" dirty="0"/>
              <a:t> Janvier au 16 Février 1995 et du 21 Juillet au 04 Septembre 2006</a:t>
            </a:r>
          </a:p>
        </p:txBody>
      </p:sp>
    </p:spTree>
    <p:extLst>
      <p:ext uri="{BB962C8B-B14F-4D97-AF65-F5344CB8AC3E}">
        <p14:creationId xmlns:p14="http://schemas.microsoft.com/office/powerpoint/2010/main" val="1777059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18396-FA00-7179-2042-486423051CB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29462C4-EE47-9FF8-1820-0F84A5F1A43B}"/>
              </a:ext>
            </a:extLst>
          </p:cNvPr>
          <p:cNvSpPr>
            <a:spLocks noGrp="1"/>
          </p:cNvSpPr>
          <p:nvPr>
            <p:ph type="title"/>
          </p:nvPr>
        </p:nvSpPr>
        <p:spPr>
          <a:xfrm>
            <a:off x="838200" y="365125"/>
            <a:ext cx="10515600" cy="447675"/>
          </a:xfrm>
        </p:spPr>
        <p:txBody>
          <a:bodyPr>
            <a:normAutofit/>
          </a:bodyPr>
          <a:lstStyle/>
          <a:p>
            <a:r>
              <a:rPr lang="fr-FR" sz="2000" b="1" dirty="0"/>
              <a:t>SIMULATIONS DEPART RETRAITE : Base et Complémentaire</a:t>
            </a:r>
          </a:p>
        </p:txBody>
      </p:sp>
      <p:sp>
        <p:nvSpPr>
          <p:cNvPr id="3" name="ZoneTexte 2">
            <a:extLst>
              <a:ext uri="{FF2B5EF4-FFF2-40B4-BE49-F238E27FC236}">
                <a16:creationId xmlns:a16="http://schemas.microsoft.com/office/drawing/2014/main" id="{1B90E649-7462-8B19-FC58-C5638CA3EA09}"/>
              </a:ext>
            </a:extLst>
          </p:cNvPr>
          <p:cNvSpPr txBox="1"/>
          <p:nvPr/>
        </p:nvSpPr>
        <p:spPr>
          <a:xfrm>
            <a:off x="838200" y="835025"/>
            <a:ext cx="10048875" cy="523220"/>
          </a:xfrm>
          <a:prstGeom prst="rect">
            <a:avLst/>
          </a:prstGeom>
          <a:noFill/>
        </p:spPr>
        <p:txBody>
          <a:bodyPr wrap="square" rtlCol="0">
            <a:spAutoFit/>
          </a:bodyPr>
          <a:lstStyle/>
          <a:p>
            <a:r>
              <a:rPr lang="fr-FR" sz="1400" dirty="0"/>
              <a:t>Au vu des éléments transmis, vous trouverez ci dessous le résultat de nos projections de vos pensions de retraite (Base + Complémentaire) selon le scénario communiqué</a:t>
            </a:r>
          </a:p>
        </p:txBody>
      </p:sp>
      <p:sp>
        <p:nvSpPr>
          <p:cNvPr id="6" name="Rectangle à coins arrondis 9">
            <a:extLst>
              <a:ext uri="{FF2B5EF4-FFF2-40B4-BE49-F238E27FC236}">
                <a16:creationId xmlns:a16="http://schemas.microsoft.com/office/drawing/2014/main" id="{D343C1DA-57AD-8488-FED8-53A65BA01F9F}"/>
              </a:ext>
            </a:extLst>
          </p:cNvPr>
          <p:cNvSpPr/>
          <p:nvPr/>
        </p:nvSpPr>
        <p:spPr>
          <a:xfrm>
            <a:off x="1134768" y="1480459"/>
            <a:ext cx="10692471" cy="60197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Scenario : Revenu chez Elbaz de 5 250 € par an et 41 000 € chez SCM</a:t>
            </a:r>
          </a:p>
        </p:txBody>
      </p:sp>
      <p:sp>
        <p:nvSpPr>
          <p:cNvPr id="23" name="Rectangle 22">
            <a:extLst>
              <a:ext uri="{FF2B5EF4-FFF2-40B4-BE49-F238E27FC236}">
                <a16:creationId xmlns:a16="http://schemas.microsoft.com/office/drawing/2014/main" id="{8628A7A7-C1F1-87A3-C566-E312147D9D1C}"/>
              </a:ext>
            </a:extLst>
          </p:cNvPr>
          <p:cNvSpPr/>
          <p:nvPr/>
        </p:nvSpPr>
        <p:spPr>
          <a:xfrm>
            <a:off x="5015277" y="6265948"/>
            <a:ext cx="166688" cy="171451"/>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A8890821-743F-8F97-6075-58390E7131FA}"/>
              </a:ext>
            </a:extLst>
          </p:cNvPr>
          <p:cNvSpPr txBox="1"/>
          <p:nvPr/>
        </p:nvSpPr>
        <p:spPr>
          <a:xfrm>
            <a:off x="5202205" y="6206820"/>
            <a:ext cx="1607343" cy="276999"/>
          </a:xfrm>
          <a:prstGeom prst="rect">
            <a:avLst/>
          </a:prstGeom>
          <a:noFill/>
        </p:spPr>
        <p:txBody>
          <a:bodyPr wrap="square" rtlCol="0">
            <a:spAutoFit/>
          </a:bodyPr>
          <a:lstStyle/>
          <a:p>
            <a:r>
              <a:rPr lang="fr-FR" sz="1200" dirty="0"/>
              <a:t>CNAV</a:t>
            </a:r>
          </a:p>
        </p:txBody>
      </p:sp>
      <p:sp>
        <p:nvSpPr>
          <p:cNvPr id="25" name="Rectangle 24">
            <a:extLst>
              <a:ext uri="{FF2B5EF4-FFF2-40B4-BE49-F238E27FC236}">
                <a16:creationId xmlns:a16="http://schemas.microsoft.com/office/drawing/2014/main" id="{3C5EECFA-6F12-FD71-96AB-960A7CC3A21B}"/>
              </a:ext>
            </a:extLst>
          </p:cNvPr>
          <p:cNvSpPr/>
          <p:nvPr/>
        </p:nvSpPr>
        <p:spPr>
          <a:xfrm>
            <a:off x="6897175" y="6275004"/>
            <a:ext cx="166688" cy="171451"/>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44665692-BA10-53D3-87D0-9029C5149B6E}"/>
              </a:ext>
            </a:extLst>
          </p:cNvPr>
          <p:cNvSpPr txBox="1"/>
          <p:nvPr/>
        </p:nvSpPr>
        <p:spPr>
          <a:xfrm>
            <a:off x="7084103" y="6215876"/>
            <a:ext cx="1607343" cy="276999"/>
          </a:xfrm>
          <a:prstGeom prst="rect">
            <a:avLst/>
          </a:prstGeom>
          <a:noFill/>
        </p:spPr>
        <p:txBody>
          <a:bodyPr wrap="square" rtlCol="0">
            <a:spAutoFit/>
          </a:bodyPr>
          <a:lstStyle/>
          <a:p>
            <a:r>
              <a:rPr lang="fr-FR" sz="1200" dirty="0"/>
              <a:t>Régime Arrco Agirc</a:t>
            </a:r>
          </a:p>
        </p:txBody>
      </p:sp>
      <p:graphicFrame>
        <p:nvGraphicFramePr>
          <p:cNvPr id="32" name="Graphique 31">
            <a:extLst>
              <a:ext uri="{FF2B5EF4-FFF2-40B4-BE49-F238E27FC236}">
                <a16:creationId xmlns:a16="http://schemas.microsoft.com/office/drawing/2014/main" id="{E0D2FB19-A358-A8BF-0111-61615F9887B7}"/>
              </a:ext>
            </a:extLst>
          </p:cNvPr>
          <p:cNvGraphicFramePr/>
          <p:nvPr>
            <p:extLst>
              <p:ext uri="{D42A27DB-BD31-4B8C-83A1-F6EECF244321}">
                <p14:modId xmlns:p14="http://schemas.microsoft.com/office/powerpoint/2010/main" val="466076043"/>
              </p:ext>
            </p:extLst>
          </p:nvPr>
        </p:nvGraphicFramePr>
        <p:xfrm>
          <a:off x="629587" y="2465363"/>
          <a:ext cx="11197652" cy="3500437"/>
        </p:xfrm>
        <a:graphic>
          <a:graphicData uri="http://schemas.openxmlformats.org/drawingml/2006/chart">
            <c:chart xmlns:c="http://schemas.openxmlformats.org/drawingml/2006/chart" xmlns:r="http://schemas.openxmlformats.org/officeDocument/2006/relationships" r:id="rId2"/>
          </a:graphicData>
        </a:graphic>
      </p:graphicFrame>
      <p:pic>
        <p:nvPicPr>
          <p:cNvPr id="4" name="Image 3">
            <a:extLst>
              <a:ext uri="{FF2B5EF4-FFF2-40B4-BE49-F238E27FC236}">
                <a16:creationId xmlns:a16="http://schemas.microsoft.com/office/drawing/2014/main" id="{76ED3B67-1B8B-78B6-D263-49DC571A432E}"/>
              </a:ext>
            </a:extLst>
          </p:cNvPr>
          <p:cNvPicPr>
            <a:picLocks noChangeAspect="1"/>
          </p:cNvPicPr>
          <p:nvPr/>
        </p:nvPicPr>
        <p:blipFill>
          <a:blip r:embed="rId3"/>
          <a:stretch>
            <a:fillRect/>
          </a:stretch>
        </p:blipFill>
        <p:spPr>
          <a:xfrm>
            <a:off x="10614425" y="311"/>
            <a:ext cx="1537632" cy="1455807"/>
          </a:xfrm>
          <a:prstGeom prst="rect">
            <a:avLst/>
          </a:prstGeom>
        </p:spPr>
      </p:pic>
      <p:sp>
        <p:nvSpPr>
          <p:cNvPr id="9" name="Rectangle à coins arrondis 9">
            <a:extLst>
              <a:ext uri="{FF2B5EF4-FFF2-40B4-BE49-F238E27FC236}">
                <a16:creationId xmlns:a16="http://schemas.microsoft.com/office/drawing/2014/main" id="{68DC014C-AB6B-847D-070F-5A804BD74049}"/>
              </a:ext>
            </a:extLst>
          </p:cNvPr>
          <p:cNvSpPr/>
          <p:nvPr/>
        </p:nvSpPr>
        <p:spPr>
          <a:xfrm>
            <a:off x="1355895"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2 015 €</a:t>
            </a:r>
          </a:p>
        </p:txBody>
      </p:sp>
      <p:sp>
        <p:nvSpPr>
          <p:cNvPr id="5" name="Rectangle à coins arrondis 9">
            <a:extLst>
              <a:ext uri="{FF2B5EF4-FFF2-40B4-BE49-F238E27FC236}">
                <a16:creationId xmlns:a16="http://schemas.microsoft.com/office/drawing/2014/main" id="{62DFC43B-02F4-C4AE-7AAB-87121401C395}"/>
              </a:ext>
            </a:extLst>
          </p:cNvPr>
          <p:cNvSpPr/>
          <p:nvPr/>
        </p:nvSpPr>
        <p:spPr>
          <a:xfrm>
            <a:off x="2468558"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2 041 €</a:t>
            </a:r>
          </a:p>
        </p:txBody>
      </p:sp>
      <p:sp>
        <p:nvSpPr>
          <p:cNvPr id="7" name="Rectangle à coins arrondis 9">
            <a:extLst>
              <a:ext uri="{FF2B5EF4-FFF2-40B4-BE49-F238E27FC236}">
                <a16:creationId xmlns:a16="http://schemas.microsoft.com/office/drawing/2014/main" id="{5242E22F-B742-93D5-DAB4-1E4A9BF93FFB}"/>
              </a:ext>
            </a:extLst>
          </p:cNvPr>
          <p:cNvSpPr/>
          <p:nvPr/>
        </p:nvSpPr>
        <p:spPr>
          <a:xfrm>
            <a:off x="3641181"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2 052 €</a:t>
            </a:r>
          </a:p>
        </p:txBody>
      </p:sp>
      <p:sp>
        <p:nvSpPr>
          <p:cNvPr id="8" name="Rectangle à coins arrondis 9">
            <a:extLst>
              <a:ext uri="{FF2B5EF4-FFF2-40B4-BE49-F238E27FC236}">
                <a16:creationId xmlns:a16="http://schemas.microsoft.com/office/drawing/2014/main" id="{9C623B1B-105B-DBEE-6CFA-E0D368E4D051}"/>
              </a:ext>
            </a:extLst>
          </p:cNvPr>
          <p:cNvSpPr/>
          <p:nvPr/>
        </p:nvSpPr>
        <p:spPr>
          <a:xfrm>
            <a:off x="4813804"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2 053 €</a:t>
            </a:r>
          </a:p>
        </p:txBody>
      </p:sp>
      <p:sp>
        <p:nvSpPr>
          <p:cNvPr id="10" name="Rectangle à coins arrondis 9">
            <a:extLst>
              <a:ext uri="{FF2B5EF4-FFF2-40B4-BE49-F238E27FC236}">
                <a16:creationId xmlns:a16="http://schemas.microsoft.com/office/drawing/2014/main" id="{3C340D82-FDB8-4978-8C97-2D1F6DC3BED8}"/>
              </a:ext>
            </a:extLst>
          </p:cNvPr>
          <p:cNvSpPr/>
          <p:nvPr/>
        </p:nvSpPr>
        <p:spPr>
          <a:xfrm>
            <a:off x="5986427"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2 080 €</a:t>
            </a:r>
          </a:p>
        </p:txBody>
      </p:sp>
      <p:sp>
        <p:nvSpPr>
          <p:cNvPr id="11" name="Rectangle à coins arrondis 9">
            <a:extLst>
              <a:ext uri="{FF2B5EF4-FFF2-40B4-BE49-F238E27FC236}">
                <a16:creationId xmlns:a16="http://schemas.microsoft.com/office/drawing/2014/main" id="{199F825F-7692-01B9-3292-A2F4E1894CCB}"/>
              </a:ext>
            </a:extLst>
          </p:cNvPr>
          <p:cNvSpPr/>
          <p:nvPr/>
        </p:nvSpPr>
        <p:spPr>
          <a:xfrm>
            <a:off x="7159050"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2 108 €</a:t>
            </a:r>
          </a:p>
        </p:txBody>
      </p:sp>
      <p:sp>
        <p:nvSpPr>
          <p:cNvPr id="12" name="Rectangle à coins arrondis 9">
            <a:extLst>
              <a:ext uri="{FF2B5EF4-FFF2-40B4-BE49-F238E27FC236}">
                <a16:creationId xmlns:a16="http://schemas.microsoft.com/office/drawing/2014/main" id="{46D51872-5520-F1ED-283F-D74279422B5C}"/>
              </a:ext>
            </a:extLst>
          </p:cNvPr>
          <p:cNvSpPr/>
          <p:nvPr/>
        </p:nvSpPr>
        <p:spPr>
          <a:xfrm>
            <a:off x="8320521"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2 109 €</a:t>
            </a:r>
          </a:p>
        </p:txBody>
      </p:sp>
      <p:sp>
        <p:nvSpPr>
          <p:cNvPr id="13" name="Rectangle à coins arrondis 9">
            <a:extLst>
              <a:ext uri="{FF2B5EF4-FFF2-40B4-BE49-F238E27FC236}">
                <a16:creationId xmlns:a16="http://schemas.microsoft.com/office/drawing/2014/main" id="{4034ACA1-ECC8-82AF-8B9F-ED8DED7E2E1C}"/>
              </a:ext>
            </a:extLst>
          </p:cNvPr>
          <p:cNvSpPr/>
          <p:nvPr/>
        </p:nvSpPr>
        <p:spPr>
          <a:xfrm>
            <a:off x="9481992"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2 135 €</a:t>
            </a:r>
          </a:p>
        </p:txBody>
      </p:sp>
      <p:sp>
        <p:nvSpPr>
          <p:cNvPr id="14" name="Rectangle à coins arrondis 9">
            <a:extLst>
              <a:ext uri="{FF2B5EF4-FFF2-40B4-BE49-F238E27FC236}">
                <a16:creationId xmlns:a16="http://schemas.microsoft.com/office/drawing/2014/main" id="{DF7A8A24-4C1E-6E89-61D5-8367D20789E9}"/>
              </a:ext>
            </a:extLst>
          </p:cNvPr>
          <p:cNvSpPr/>
          <p:nvPr/>
        </p:nvSpPr>
        <p:spPr>
          <a:xfrm>
            <a:off x="10644405"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2 146 €</a:t>
            </a:r>
          </a:p>
        </p:txBody>
      </p:sp>
    </p:spTree>
    <p:extLst>
      <p:ext uri="{BB962C8B-B14F-4D97-AF65-F5344CB8AC3E}">
        <p14:creationId xmlns:p14="http://schemas.microsoft.com/office/powerpoint/2010/main" val="3463905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B0EE6-6560-CBA4-4FEE-B500434180E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9C25062-781A-72C3-7BA5-65B071A1D2DC}"/>
              </a:ext>
            </a:extLst>
          </p:cNvPr>
          <p:cNvSpPr>
            <a:spLocks noGrp="1"/>
          </p:cNvSpPr>
          <p:nvPr>
            <p:ph type="title"/>
          </p:nvPr>
        </p:nvSpPr>
        <p:spPr>
          <a:xfrm>
            <a:off x="838200" y="365125"/>
            <a:ext cx="10515600" cy="447675"/>
          </a:xfrm>
        </p:spPr>
        <p:txBody>
          <a:bodyPr>
            <a:normAutofit/>
          </a:bodyPr>
          <a:lstStyle/>
          <a:p>
            <a:r>
              <a:rPr lang="fr-FR" sz="2000" b="1" dirty="0"/>
              <a:t>SIMULATIONS DEPART RETRAITE : Base et Complémentaire</a:t>
            </a:r>
          </a:p>
        </p:txBody>
      </p:sp>
      <p:sp>
        <p:nvSpPr>
          <p:cNvPr id="3" name="ZoneTexte 2">
            <a:extLst>
              <a:ext uri="{FF2B5EF4-FFF2-40B4-BE49-F238E27FC236}">
                <a16:creationId xmlns:a16="http://schemas.microsoft.com/office/drawing/2014/main" id="{6511B98A-2A46-26F8-C0E4-61A192A7D605}"/>
              </a:ext>
            </a:extLst>
          </p:cNvPr>
          <p:cNvSpPr txBox="1"/>
          <p:nvPr/>
        </p:nvSpPr>
        <p:spPr>
          <a:xfrm>
            <a:off x="838200" y="835025"/>
            <a:ext cx="10048875" cy="523220"/>
          </a:xfrm>
          <a:prstGeom prst="rect">
            <a:avLst/>
          </a:prstGeom>
          <a:noFill/>
        </p:spPr>
        <p:txBody>
          <a:bodyPr wrap="square" rtlCol="0">
            <a:spAutoFit/>
          </a:bodyPr>
          <a:lstStyle/>
          <a:p>
            <a:r>
              <a:rPr lang="fr-FR" sz="1400" dirty="0"/>
              <a:t>Au vu des éléments transmis, vous trouverez ci dessous le résultat de nos projections de vos pensions de retraite (Base + Complémentaire) selon le scénario communiqué</a:t>
            </a:r>
          </a:p>
        </p:txBody>
      </p:sp>
      <p:sp>
        <p:nvSpPr>
          <p:cNvPr id="6" name="Rectangle à coins arrondis 9">
            <a:extLst>
              <a:ext uri="{FF2B5EF4-FFF2-40B4-BE49-F238E27FC236}">
                <a16:creationId xmlns:a16="http://schemas.microsoft.com/office/drawing/2014/main" id="{C4740559-1960-F4EE-5C6C-E2B50E94E848}"/>
              </a:ext>
            </a:extLst>
          </p:cNvPr>
          <p:cNvSpPr/>
          <p:nvPr/>
        </p:nvSpPr>
        <p:spPr>
          <a:xfrm>
            <a:off x="1134768" y="1480459"/>
            <a:ext cx="10692471" cy="60197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Scenario : Revenu chez Elbaz de 5 250 € par an et 41 000 € chez SCM</a:t>
            </a:r>
          </a:p>
        </p:txBody>
      </p:sp>
      <p:sp>
        <p:nvSpPr>
          <p:cNvPr id="23" name="Rectangle 22">
            <a:extLst>
              <a:ext uri="{FF2B5EF4-FFF2-40B4-BE49-F238E27FC236}">
                <a16:creationId xmlns:a16="http://schemas.microsoft.com/office/drawing/2014/main" id="{C8F5E9EF-BFB4-1402-2CDA-8C936B8EAA6B}"/>
              </a:ext>
            </a:extLst>
          </p:cNvPr>
          <p:cNvSpPr/>
          <p:nvPr/>
        </p:nvSpPr>
        <p:spPr>
          <a:xfrm>
            <a:off x="5015277" y="6265948"/>
            <a:ext cx="166688" cy="171451"/>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1E187327-665E-00F1-EECB-0BC691A56092}"/>
              </a:ext>
            </a:extLst>
          </p:cNvPr>
          <p:cNvSpPr txBox="1"/>
          <p:nvPr/>
        </p:nvSpPr>
        <p:spPr>
          <a:xfrm>
            <a:off x="5202205" y="6206820"/>
            <a:ext cx="1607343" cy="276999"/>
          </a:xfrm>
          <a:prstGeom prst="rect">
            <a:avLst/>
          </a:prstGeom>
          <a:noFill/>
        </p:spPr>
        <p:txBody>
          <a:bodyPr wrap="square" rtlCol="0">
            <a:spAutoFit/>
          </a:bodyPr>
          <a:lstStyle/>
          <a:p>
            <a:r>
              <a:rPr lang="fr-FR" sz="1200" dirty="0"/>
              <a:t>CNAV</a:t>
            </a:r>
          </a:p>
        </p:txBody>
      </p:sp>
      <p:sp>
        <p:nvSpPr>
          <p:cNvPr id="25" name="Rectangle 24">
            <a:extLst>
              <a:ext uri="{FF2B5EF4-FFF2-40B4-BE49-F238E27FC236}">
                <a16:creationId xmlns:a16="http://schemas.microsoft.com/office/drawing/2014/main" id="{D8BFB910-3F22-6D1F-6192-CE7FFD8134BE}"/>
              </a:ext>
            </a:extLst>
          </p:cNvPr>
          <p:cNvSpPr/>
          <p:nvPr/>
        </p:nvSpPr>
        <p:spPr>
          <a:xfrm>
            <a:off x="6897175" y="6275004"/>
            <a:ext cx="166688" cy="171451"/>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B6AC62F7-211F-DBB5-3489-424B3339BFD8}"/>
              </a:ext>
            </a:extLst>
          </p:cNvPr>
          <p:cNvSpPr txBox="1"/>
          <p:nvPr/>
        </p:nvSpPr>
        <p:spPr>
          <a:xfrm>
            <a:off x="7084103" y="6215876"/>
            <a:ext cx="1607343" cy="276999"/>
          </a:xfrm>
          <a:prstGeom prst="rect">
            <a:avLst/>
          </a:prstGeom>
          <a:noFill/>
        </p:spPr>
        <p:txBody>
          <a:bodyPr wrap="square" rtlCol="0">
            <a:spAutoFit/>
          </a:bodyPr>
          <a:lstStyle/>
          <a:p>
            <a:r>
              <a:rPr lang="fr-FR" sz="1200" dirty="0"/>
              <a:t>Régime Arrco Agirc</a:t>
            </a:r>
          </a:p>
        </p:txBody>
      </p:sp>
      <p:graphicFrame>
        <p:nvGraphicFramePr>
          <p:cNvPr id="32" name="Graphique 31">
            <a:extLst>
              <a:ext uri="{FF2B5EF4-FFF2-40B4-BE49-F238E27FC236}">
                <a16:creationId xmlns:a16="http://schemas.microsoft.com/office/drawing/2014/main" id="{BE4DCCD3-B017-20E6-DA07-F0117949C258}"/>
              </a:ext>
            </a:extLst>
          </p:cNvPr>
          <p:cNvGraphicFramePr/>
          <p:nvPr>
            <p:extLst>
              <p:ext uri="{D42A27DB-BD31-4B8C-83A1-F6EECF244321}">
                <p14:modId xmlns:p14="http://schemas.microsoft.com/office/powerpoint/2010/main" val="1384729972"/>
              </p:ext>
            </p:extLst>
          </p:nvPr>
        </p:nvGraphicFramePr>
        <p:xfrm>
          <a:off x="629587" y="2465363"/>
          <a:ext cx="11197652" cy="3500437"/>
        </p:xfrm>
        <a:graphic>
          <a:graphicData uri="http://schemas.openxmlformats.org/drawingml/2006/chart">
            <c:chart xmlns:c="http://schemas.openxmlformats.org/drawingml/2006/chart" xmlns:r="http://schemas.openxmlformats.org/officeDocument/2006/relationships" r:id="rId2"/>
          </a:graphicData>
        </a:graphic>
      </p:graphicFrame>
      <p:pic>
        <p:nvPicPr>
          <p:cNvPr id="4" name="Image 3">
            <a:extLst>
              <a:ext uri="{FF2B5EF4-FFF2-40B4-BE49-F238E27FC236}">
                <a16:creationId xmlns:a16="http://schemas.microsoft.com/office/drawing/2014/main" id="{9F0B2672-83AC-29CA-3713-07D2A3AE6A04}"/>
              </a:ext>
            </a:extLst>
          </p:cNvPr>
          <p:cNvPicPr>
            <a:picLocks noChangeAspect="1"/>
          </p:cNvPicPr>
          <p:nvPr/>
        </p:nvPicPr>
        <p:blipFill>
          <a:blip r:embed="rId3"/>
          <a:stretch>
            <a:fillRect/>
          </a:stretch>
        </p:blipFill>
        <p:spPr>
          <a:xfrm>
            <a:off x="10614425" y="311"/>
            <a:ext cx="1537632" cy="1455807"/>
          </a:xfrm>
          <a:prstGeom prst="rect">
            <a:avLst/>
          </a:prstGeom>
        </p:spPr>
      </p:pic>
      <p:sp>
        <p:nvSpPr>
          <p:cNvPr id="9" name="Rectangle à coins arrondis 9">
            <a:extLst>
              <a:ext uri="{FF2B5EF4-FFF2-40B4-BE49-F238E27FC236}">
                <a16:creationId xmlns:a16="http://schemas.microsoft.com/office/drawing/2014/main" id="{4E3124D0-2D8A-3DB6-1C40-78F570E3311C}"/>
              </a:ext>
            </a:extLst>
          </p:cNvPr>
          <p:cNvSpPr/>
          <p:nvPr/>
        </p:nvSpPr>
        <p:spPr>
          <a:xfrm>
            <a:off x="1355895"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2 148 €</a:t>
            </a:r>
          </a:p>
        </p:txBody>
      </p:sp>
      <p:sp>
        <p:nvSpPr>
          <p:cNvPr id="5" name="Rectangle à coins arrondis 9">
            <a:extLst>
              <a:ext uri="{FF2B5EF4-FFF2-40B4-BE49-F238E27FC236}">
                <a16:creationId xmlns:a16="http://schemas.microsoft.com/office/drawing/2014/main" id="{A4799FEC-FC21-40CE-3246-16A53F56A4AF}"/>
              </a:ext>
            </a:extLst>
          </p:cNvPr>
          <p:cNvSpPr/>
          <p:nvPr/>
        </p:nvSpPr>
        <p:spPr>
          <a:xfrm>
            <a:off x="2468558"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2 174 €</a:t>
            </a:r>
          </a:p>
        </p:txBody>
      </p:sp>
      <p:sp>
        <p:nvSpPr>
          <p:cNvPr id="7" name="Rectangle à coins arrondis 9">
            <a:extLst>
              <a:ext uri="{FF2B5EF4-FFF2-40B4-BE49-F238E27FC236}">
                <a16:creationId xmlns:a16="http://schemas.microsoft.com/office/drawing/2014/main" id="{D5C9994B-13E0-24AC-325F-488FE8E1514A}"/>
              </a:ext>
            </a:extLst>
          </p:cNvPr>
          <p:cNvSpPr/>
          <p:nvPr/>
        </p:nvSpPr>
        <p:spPr>
          <a:xfrm>
            <a:off x="3641181"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2 185 €</a:t>
            </a:r>
          </a:p>
        </p:txBody>
      </p:sp>
      <p:sp>
        <p:nvSpPr>
          <p:cNvPr id="8" name="Rectangle à coins arrondis 9">
            <a:extLst>
              <a:ext uri="{FF2B5EF4-FFF2-40B4-BE49-F238E27FC236}">
                <a16:creationId xmlns:a16="http://schemas.microsoft.com/office/drawing/2014/main" id="{075756C4-CD28-FE71-DCB8-59394B0BB79A}"/>
              </a:ext>
            </a:extLst>
          </p:cNvPr>
          <p:cNvSpPr/>
          <p:nvPr/>
        </p:nvSpPr>
        <p:spPr>
          <a:xfrm>
            <a:off x="4813804"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2 187 €</a:t>
            </a:r>
          </a:p>
        </p:txBody>
      </p:sp>
      <p:sp>
        <p:nvSpPr>
          <p:cNvPr id="10" name="Rectangle à coins arrondis 9">
            <a:extLst>
              <a:ext uri="{FF2B5EF4-FFF2-40B4-BE49-F238E27FC236}">
                <a16:creationId xmlns:a16="http://schemas.microsoft.com/office/drawing/2014/main" id="{DA9FCCF6-A549-2E9D-D888-BF2165F3F54A}"/>
              </a:ext>
            </a:extLst>
          </p:cNvPr>
          <p:cNvSpPr/>
          <p:nvPr/>
        </p:nvSpPr>
        <p:spPr>
          <a:xfrm>
            <a:off x="5986427"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2 227 €</a:t>
            </a:r>
          </a:p>
        </p:txBody>
      </p:sp>
      <p:sp>
        <p:nvSpPr>
          <p:cNvPr id="11" name="Rectangle à coins arrondis 9">
            <a:extLst>
              <a:ext uri="{FF2B5EF4-FFF2-40B4-BE49-F238E27FC236}">
                <a16:creationId xmlns:a16="http://schemas.microsoft.com/office/drawing/2014/main" id="{86AD9E6A-D586-A2C0-AA37-E626712F556D}"/>
              </a:ext>
            </a:extLst>
          </p:cNvPr>
          <p:cNvSpPr/>
          <p:nvPr/>
        </p:nvSpPr>
        <p:spPr>
          <a:xfrm>
            <a:off x="7159050"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2 228 €</a:t>
            </a:r>
          </a:p>
        </p:txBody>
      </p:sp>
      <p:sp>
        <p:nvSpPr>
          <p:cNvPr id="12" name="Rectangle à coins arrondis 9">
            <a:extLst>
              <a:ext uri="{FF2B5EF4-FFF2-40B4-BE49-F238E27FC236}">
                <a16:creationId xmlns:a16="http://schemas.microsoft.com/office/drawing/2014/main" id="{C1B05980-20A6-34EC-8E1A-97ECF6E098FD}"/>
              </a:ext>
            </a:extLst>
          </p:cNvPr>
          <p:cNvSpPr/>
          <p:nvPr/>
        </p:nvSpPr>
        <p:spPr>
          <a:xfrm>
            <a:off x="8320521"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2 229 €</a:t>
            </a:r>
          </a:p>
        </p:txBody>
      </p:sp>
      <p:sp>
        <p:nvSpPr>
          <p:cNvPr id="13" name="Rectangle à coins arrondis 9">
            <a:extLst>
              <a:ext uri="{FF2B5EF4-FFF2-40B4-BE49-F238E27FC236}">
                <a16:creationId xmlns:a16="http://schemas.microsoft.com/office/drawing/2014/main" id="{6B3152C3-E8D2-F61B-A74B-5FDD4513907A}"/>
              </a:ext>
            </a:extLst>
          </p:cNvPr>
          <p:cNvSpPr/>
          <p:nvPr/>
        </p:nvSpPr>
        <p:spPr>
          <a:xfrm>
            <a:off x="9481992"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2 231 €</a:t>
            </a:r>
          </a:p>
        </p:txBody>
      </p:sp>
      <p:sp>
        <p:nvSpPr>
          <p:cNvPr id="14" name="Rectangle à coins arrondis 9">
            <a:extLst>
              <a:ext uri="{FF2B5EF4-FFF2-40B4-BE49-F238E27FC236}">
                <a16:creationId xmlns:a16="http://schemas.microsoft.com/office/drawing/2014/main" id="{BC5DD473-B272-5F5B-D003-CF297EECBEFA}"/>
              </a:ext>
            </a:extLst>
          </p:cNvPr>
          <p:cNvSpPr/>
          <p:nvPr/>
        </p:nvSpPr>
        <p:spPr>
          <a:xfrm>
            <a:off x="10644405"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2 250 €</a:t>
            </a:r>
          </a:p>
        </p:txBody>
      </p:sp>
    </p:spTree>
    <p:extLst>
      <p:ext uri="{BB962C8B-B14F-4D97-AF65-F5344CB8AC3E}">
        <p14:creationId xmlns:p14="http://schemas.microsoft.com/office/powerpoint/2010/main" val="1857476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A147F-B7BD-13A8-E1C3-8BC5421108F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C0411C8-16BB-0CE6-2A03-B70C742A1B49}"/>
              </a:ext>
            </a:extLst>
          </p:cNvPr>
          <p:cNvSpPr>
            <a:spLocks noGrp="1"/>
          </p:cNvSpPr>
          <p:nvPr>
            <p:ph type="title"/>
          </p:nvPr>
        </p:nvSpPr>
        <p:spPr>
          <a:xfrm>
            <a:off x="838200" y="365125"/>
            <a:ext cx="10515600" cy="447675"/>
          </a:xfrm>
        </p:spPr>
        <p:txBody>
          <a:bodyPr>
            <a:normAutofit/>
          </a:bodyPr>
          <a:lstStyle/>
          <a:p>
            <a:r>
              <a:rPr lang="fr-FR" sz="2000" b="1" dirty="0"/>
              <a:t>SIMULATIONS DEPART RETRAITE : Réversion</a:t>
            </a:r>
          </a:p>
        </p:txBody>
      </p:sp>
      <p:sp>
        <p:nvSpPr>
          <p:cNvPr id="3" name="ZoneTexte 2">
            <a:extLst>
              <a:ext uri="{FF2B5EF4-FFF2-40B4-BE49-F238E27FC236}">
                <a16:creationId xmlns:a16="http://schemas.microsoft.com/office/drawing/2014/main" id="{08B66979-4942-5FF2-B6DF-F23C7C9218F4}"/>
              </a:ext>
            </a:extLst>
          </p:cNvPr>
          <p:cNvSpPr txBox="1"/>
          <p:nvPr/>
        </p:nvSpPr>
        <p:spPr>
          <a:xfrm>
            <a:off x="838200" y="835025"/>
            <a:ext cx="10048875" cy="523220"/>
          </a:xfrm>
          <a:prstGeom prst="rect">
            <a:avLst/>
          </a:prstGeom>
          <a:noFill/>
        </p:spPr>
        <p:txBody>
          <a:bodyPr wrap="square" rtlCol="0">
            <a:spAutoFit/>
          </a:bodyPr>
          <a:lstStyle/>
          <a:p>
            <a:r>
              <a:rPr lang="fr-FR" sz="1400" dirty="0"/>
              <a:t>Au vu des éléments transmis, vous trouverez ci dessous le résultat de nos projections de vos pensions de retraite (Base + Complémentaire) selon le scénario communiqué</a:t>
            </a:r>
          </a:p>
        </p:txBody>
      </p:sp>
      <p:sp>
        <p:nvSpPr>
          <p:cNvPr id="6" name="Rectangle à coins arrondis 9">
            <a:extLst>
              <a:ext uri="{FF2B5EF4-FFF2-40B4-BE49-F238E27FC236}">
                <a16:creationId xmlns:a16="http://schemas.microsoft.com/office/drawing/2014/main" id="{E8975E18-935F-D5B9-3906-8473AAF44E85}"/>
              </a:ext>
            </a:extLst>
          </p:cNvPr>
          <p:cNvSpPr/>
          <p:nvPr/>
        </p:nvSpPr>
        <p:spPr>
          <a:xfrm>
            <a:off x="1134768" y="1480459"/>
            <a:ext cx="10692471" cy="60197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Scenario : Revenu chez Elbaz de 5 250 € par an et 41 000 € chez SCM</a:t>
            </a:r>
          </a:p>
        </p:txBody>
      </p:sp>
      <p:sp>
        <p:nvSpPr>
          <p:cNvPr id="23" name="Rectangle 22">
            <a:extLst>
              <a:ext uri="{FF2B5EF4-FFF2-40B4-BE49-F238E27FC236}">
                <a16:creationId xmlns:a16="http://schemas.microsoft.com/office/drawing/2014/main" id="{09A47FFC-416B-726E-199A-797A1911C174}"/>
              </a:ext>
            </a:extLst>
          </p:cNvPr>
          <p:cNvSpPr/>
          <p:nvPr/>
        </p:nvSpPr>
        <p:spPr>
          <a:xfrm>
            <a:off x="4430663" y="6295928"/>
            <a:ext cx="166688" cy="17145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9D203441-A592-141A-830D-D0648FA6F764}"/>
              </a:ext>
            </a:extLst>
          </p:cNvPr>
          <p:cNvSpPr txBox="1"/>
          <p:nvPr/>
        </p:nvSpPr>
        <p:spPr>
          <a:xfrm>
            <a:off x="4617591" y="6236800"/>
            <a:ext cx="1607343" cy="276999"/>
          </a:xfrm>
          <a:prstGeom prst="rect">
            <a:avLst/>
          </a:prstGeom>
          <a:noFill/>
        </p:spPr>
        <p:txBody>
          <a:bodyPr wrap="square" rtlCol="0">
            <a:spAutoFit/>
          </a:bodyPr>
          <a:lstStyle/>
          <a:p>
            <a:r>
              <a:rPr lang="fr-FR" sz="1200" dirty="0"/>
              <a:t>Sous Ressources</a:t>
            </a:r>
          </a:p>
        </p:txBody>
      </p:sp>
      <p:sp>
        <p:nvSpPr>
          <p:cNvPr id="25" name="Rectangle 24">
            <a:extLst>
              <a:ext uri="{FF2B5EF4-FFF2-40B4-BE49-F238E27FC236}">
                <a16:creationId xmlns:a16="http://schemas.microsoft.com/office/drawing/2014/main" id="{AEE99F21-D0C6-5F71-BDBB-4308A25CD431}"/>
              </a:ext>
            </a:extLst>
          </p:cNvPr>
          <p:cNvSpPr/>
          <p:nvPr/>
        </p:nvSpPr>
        <p:spPr>
          <a:xfrm>
            <a:off x="6312561" y="6304984"/>
            <a:ext cx="166688" cy="171451"/>
          </a:xfrm>
          <a:prstGeom prst="rect">
            <a:avLst/>
          </a:prstGeom>
          <a:solidFill>
            <a:srgbClr val="112BFF"/>
          </a:solidFill>
          <a:ln>
            <a:solidFill>
              <a:srgbClr val="112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129A1D18-7115-05FA-8E27-13040C9E425B}"/>
              </a:ext>
            </a:extLst>
          </p:cNvPr>
          <p:cNvSpPr txBox="1"/>
          <p:nvPr/>
        </p:nvSpPr>
        <p:spPr>
          <a:xfrm>
            <a:off x="6499489" y="6245856"/>
            <a:ext cx="1607343" cy="276999"/>
          </a:xfrm>
          <a:prstGeom prst="rect">
            <a:avLst/>
          </a:prstGeom>
          <a:noFill/>
        </p:spPr>
        <p:txBody>
          <a:bodyPr wrap="square" rtlCol="0">
            <a:spAutoFit/>
          </a:bodyPr>
          <a:lstStyle/>
          <a:p>
            <a:r>
              <a:rPr lang="fr-FR" sz="1200" dirty="0"/>
              <a:t>Hors Ressources</a:t>
            </a:r>
          </a:p>
        </p:txBody>
      </p:sp>
      <p:graphicFrame>
        <p:nvGraphicFramePr>
          <p:cNvPr id="32" name="Graphique 31">
            <a:extLst>
              <a:ext uri="{FF2B5EF4-FFF2-40B4-BE49-F238E27FC236}">
                <a16:creationId xmlns:a16="http://schemas.microsoft.com/office/drawing/2014/main" id="{911C4DB6-6DED-64B7-E7EF-2B687F6D88BF}"/>
              </a:ext>
            </a:extLst>
          </p:cNvPr>
          <p:cNvGraphicFramePr/>
          <p:nvPr>
            <p:extLst>
              <p:ext uri="{D42A27DB-BD31-4B8C-83A1-F6EECF244321}">
                <p14:modId xmlns:p14="http://schemas.microsoft.com/office/powerpoint/2010/main" val="2838171339"/>
              </p:ext>
            </p:extLst>
          </p:nvPr>
        </p:nvGraphicFramePr>
        <p:xfrm>
          <a:off x="629587" y="2465363"/>
          <a:ext cx="11197652" cy="3500437"/>
        </p:xfrm>
        <a:graphic>
          <a:graphicData uri="http://schemas.openxmlformats.org/drawingml/2006/chart">
            <c:chart xmlns:c="http://schemas.openxmlformats.org/drawingml/2006/chart" xmlns:r="http://schemas.openxmlformats.org/officeDocument/2006/relationships" r:id="rId2"/>
          </a:graphicData>
        </a:graphic>
      </p:graphicFrame>
      <p:pic>
        <p:nvPicPr>
          <p:cNvPr id="4" name="Image 3">
            <a:extLst>
              <a:ext uri="{FF2B5EF4-FFF2-40B4-BE49-F238E27FC236}">
                <a16:creationId xmlns:a16="http://schemas.microsoft.com/office/drawing/2014/main" id="{72ED3137-CDAC-99E5-CCCF-E08A550E547E}"/>
              </a:ext>
            </a:extLst>
          </p:cNvPr>
          <p:cNvPicPr>
            <a:picLocks noChangeAspect="1"/>
          </p:cNvPicPr>
          <p:nvPr/>
        </p:nvPicPr>
        <p:blipFill>
          <a:blip r:embed="rId3"/>
          <a:stretch>
            <a:fillRect/>
          </a:stretch>
        </p:blipFill>
        <p:spPr>
          <a:xfrm>
            <a:off x="10614425" y="311"/>
            <a:ext cx="1537632" cy="1455807"/>
          </a:xfrm>
          <a:prstGeom prst="rect">
            <a:avLst/>
          </a:prstGeom>
        </p:spPr>
      </p:pic>
      <p:sp>
        <p:nvSpPr>
          <p:cNvPr id="9" name="Rectangle à coins arrondis 9">
            <a:extLst>
              <a:ext uri="{FF2B5EF4-FFF2-40B4-BE49-F238E27FC236}">
                <a16:creationId xmlns:a16="http://schemas.microsoft.com/office/drawing/2014/main" id="{54F18C58-2EB6-9DE7-95D4-19173C829E18}"/>
              </a:ext>
            </a:extLst>
          </p:cNvPr>
          <p:cNvSpPr/>
          <p:nvPr/>
        </p:nvSpPr>
        <p:spPr>
          <a:xfrm>
            <a:off x="1355895"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1 199 €</a:t>
            </a:r>
          </a:p>
        </p:txBody>
      </p:sp>
      <p:sp>
        <p:nvSpPr>
          <p:cNvPr id="5" name="Rectangle à coins arrondis 9">
            <a:extLst>
              <a:ext uri="{FF2B5EF4-FFF2-40B4-BE49-F238E27FC236}">
                <a16:creationId xmlns:a16="http://schemas.microsoft.com/office/drawing/2014/main" id="{9E5F86D5-4FDB-8FE5-8023-F6FC64224F22}"/>
              </a:ext>
            </a:extLst>
          </p:cNvPr>
          <p:cNvSpPr/>
          <p:nvPr/>
        </p:nvSpPr>
        <p:spPr>
          <a:xfrm>
            <a:off x="2468558"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1 210 €</a:t>
            </a:r>
          </a:p>
        </p:txBody>
      </p:sp>
      <p:sp>
        <p:nvSpPr>
          <p:cNvPr id="7" name="Rectangle à coins arrondis 9">
            <a:extLst>
              <a:ext uri="{FF2B5EF4-FFF2-40B4-BE49-F238E27FC236}">
                <a16:creationId xmlns:a16="http://schemas.microsoft.com/office/drawing/2014/main" id="{96A2CAA3-4B7A-F519-B8D7-6CCC4E04914A}"/>
              </a:ext>
            </a:extLst>
          </p:cNvPr>
          <p:cNvSpPr/>
          <p:nvPr/>
        </p:nvSpPr>
        <p:spPr>
          <a:xfrm>
            <a:off x="3641181"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1 216 €</a:t>
            </a:r>
          </a:p>
        </p:txBody>
      </p:sp>
      <p:sp>
        <p:nvSpPr>
          <p:cNvPr id="8" name="Rectangle à coins arrondis 9">
            <a:extLst>
              <a:ext uri="{FF2B5EF4-FFF2-40B4-BE49-F238E27FC236}">
                <a16:creationId xmlns:a16="http://schemas.microsoft.com/office/drawing/2014/main" id="{D9D2CEB4-67CE-8281-3B04-E3ED120999AF}"/>
              </a:ext>
            </a:extLst>
          </p:cNvPr>
          <p:cNvSpPr/>
          <p:nvPr/>
        </p:nvSpPr>
        <p:spPr>
          <a:xfrm>
            <a:off x="4813804"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1 217 €</a:t>
            </a:r>
          </a:p>
        </p:txBody>
      </p:sp>
      <p:sp>
        <p:nvSpPr>
          <p:cNvPr id="10" name="Rectangle à coins arrondis 9">
            <a:extLst>
              <a:ext uri="{FF2B5EF4-FFF2-40B4-BE49-F238E27FC236}">
                <a16:creationId xmlns:a16="http://schemas.microsoft.com/office/drawing/2014/main" id="{81B05D4A-C9D2-2BC5-BF08-F886E0574E9D}"/>
              </a:ext>
            </a:extLst>
          </p:cNvPr>
          <p:cNvSpPr/>
          <p:nvPr/>
        </p:nvSpPr>
        <p:spPr>
          <a:xfrm>
            <a:off x="5986427"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1 238 €</a:t>
            </a:r>
          </a:p>
        </p:txBody>
      </p:sp>
      <p:sp>
        <p:nvSpPr>
          <p:cNvPr id="11" name="Rectangle à coins arrondis 9">
            <a:extLst>
              <a:ext uri="{FF2B5EF4-FFF2-40B4-BE49-F238E27FC236}">
                <a16:creationId xmlns:a16="http://schemas.microsoft.com/office/drawing/2014/main" id="{522F3DE0-AA16-9FC5-FEC9-4D3C48501BA4}"/>
              </a:ext>
            </a:extLst>
          </p:cNvPr>
          <p:cNvSpPr/>
          <p:nvPr/>
        </p:nvSpPr>
        <p:spPr>
          <a:xfrm>
            <a:off x="7159050"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1 239 €</a:t>
            </a:r>
          </a:p>
        </p:txBody>
      </p:sp>
      <p:sp>
        <p:nvSpPr>
          <p:cNvPr id="12" name="Rectangle à coins arrondis 9">
            <a:extLst>
              <a:ext uri="{FF2B5EF4-FFF2-40B4-BE49-F238E27FC236}">
                <a16:creationId xmlns:a16="http://schemas.microsoft.com/office/drawing/2014/main" id="{E916E7C9-B32F-FF48-2B76-FE0D424FDA2B}"/>
              </a:ext>
            </a:extLst>
          </p:cNvPr>
          <p:cNvSpPr/>
          <p:nvPr/>
        </p:nvSpPr>
        <p:spPr>
          <a:xfrm>
            <a:off x="8320521"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1 240 €</a:t>
            </a:r>
          </a:p>
        </p:txBody>
      </p:sp>
      <p:sp>
        <p:nvSpPr>
          <p:cNvPr id="13" name="Rectangle à coins arrondis 9">
            <a:extLst>
              <a:ext uri="{FF2B5EF4-FFF2-40B4-BE49-F238E27FC236}">
                <a16:creationId xmlns:a16="http://schemas.microsoft.com/office/drawing/2014/main" id="{F37A27F0-2A26-740F-BAF8-75D1886F20E3}"/>
              </a:ext>
            </a:extLst>
          </p:cNvPr>
          <p:cNvSpPr/>
          <p:nvPr/>
        </p:nvSpPr>
        <p:spPr>
          <a:xfrm>
            <a:off x="9481992"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1 241 €</a:t>
            </a:r>
          </a:p>
        </p:txBody>
      </p:sp>
      <p:sp>
        <p:nvSpPr>
          <p:cNvPr id="14" name="Rectangle à coins arrondis 9">
            <a:extLst>
              <a:ext uri="{FF2B5EF4-FFF2-40B4-BE49-F238E27FC236}">
                <a16:creationId xmlns:a16="http://schemas.microsoft.com/office/drawing/2014/main" id="{6A1365B3-6FFC-4029-1B42-D792FB308441}"/>
              </a:ext>
            </a:extLst>
          </p:cNvPr>
          <p:cNvSpPr/>
          <p:nvPr/>
        </p:nvSpPr>
        <p:spPr>
          <a:xfrm>
            <a:off x="10644405" y="2280419"/>
            <a:ext cx="862650" cy="36988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1200" b="1" dirty="0">
                <a:solidFill>
                  <a:prstClr val="black"/>
                </a:solidFill>
              </a:rPr>
              <a:t>1 252 €</a:t>
            </a:r>
          </a:p>
        </p:txBody>
      </p:sp>
    </p:spTree>
    <p:extLst>
      <p:ext uri="{BB962C8B-B14F-4D97-AF65-F5344CB8AC3E}">
        <p14:creationId xmlns:p14="http://schemas.microsoft.com/office/powerpoint/2010/main" val="3915313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PLAN D’EPARGNE RETRAITE : Principes</a:t>
            </a:r>
          </a:p>
        </p:txBody>
      </p:sp>
      <p:sp>
        <p:nvSpPr>
          <p:cNvPr id="4" name="Espace réservé du texte 8">
            <a:extLst>
              <a:ext uri="{FF2B5EF4-FFF2-40B4-BE49-F238E27FC236}">
                <a16:creationId xmlns:a16="http://schemas.microsoft.com/office/drawing/2014/main" id="{F1907624-6A71-E6CB-3596-9A55CEFC5970}"/>
              </a:ext>
            </a:extLst>
          </p:cNvPr>
          <p:cNvSpPr txBox="1">
            <a:spLocks/>
          </p:cNvSpPr>
          <p:nvPr/>
        </p:nvSpPr>
        <p:spPr>
          <a:xfrm>
            <a:off x="561385" y="1069848"/>
            <a:ext cx="10792415" cy="47183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fr-FR" sz="1600" dirty="0"/>
              <a:t>Le PER est un contrat de Retraite. Il centralise et remplace les dispositifs existants (Madelin, PERP, </a:t>
            </a:r>
            <a:r>
              <a:rPr lang="fr-FR" sz="1600" dirty="0" err="1"/>
              <a:t>Prefon</a:t>
            </a:r>
            <a:r>
              <a:rPr lang="fr-FR" sz="1600" dirty="0"/>
              <a:t>…).</a:t>
            </a:r>
          </a:p>
          <a:p>
            <a:pPr marL="457200" lvl="1" indent="0">
              <a:buNone/>
            </a:pPr>
            <a:endParaRPr lang="fr-FR" sz="1600" dirty="0"/>
          </a:p>
          <a:p>
            <a:pPr marL="457200" lvl="1" indent="0">
              <a:buNone/>
            </a:pPr>
            <a:r>
              <a:rPr lang="fr-FR" sz="1600" b="1" dirty="0"/>
              <a:t>Le PER est composé de 4 compartiments en fonction de l’origine du versement </a:t>
            </a:r>
            <a:endParaRPr lang="fr-FR" sz="1600" dirty="0"/>
          </a:p>
        </p:txBody>
      </p:sp>
      <p:sp>
        <p:nvSpPr>
          <p:cNvPr id="3" name="Rectangle : coins arrondis 2">
            <a:extLst>
              <a:ext uri="{FF2B5EF4-FFF2-40B4-BE49-F238E27FC236}">
                <a16:creationId xmlns:a16="http://schemas.microsoft.com/office/drawing/2014/main" id="{0AC47D4C-218A-C152-288D-EBC22C65EF57}"/>
              </a:ext>
            </a:extLst>
          </p:cNvPr>
          <p:cNvSpPr/>
          <p:nvPr/>
        </p:nvSpPr>
        <p:spPr>
          <a:xfrm>
            <a:off x="3543300" y="2085975"/>
            <a:ext cx="5272088" cy="3743325"/>
          </a:xfrm>
          <a:prstGeom prst="roundRect">
            <a:avLst/>
          </a:prstGeom>
          <a:solidFill>
            <a:schemeClr val="bg1"/>
          </a:solidFill>
          <a:ln w="476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1F0CC073-7728-8E78-EF50-2F1705D7E4FC}"/>
              </a:ext>
            </a:extLst>
          </p:cNvPr>
          <p:cNvSpPr/>
          <p:nvPr/>
        </p:nvSpPr>
        <p:spPr>
          <a:xfrm>
            <a:off x="3600452" y="2085975"/>
            <a:ext cx="5157788" cy="1042988"/>
          </a:xfrm>
          <a:prstGeom prst="roundRect">
            <a:avLst>
              <a:gd name="adj" fmla="val 5000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t>PER INDIVIDUEL</a:t>
            </a:r>
          </a:p>
        </p:txBody>
      </p:sp>
      <p:sp>
        <p:nvSpPr>
          <p:cNvPr id="7" name="Rectangle : coins arrondis 6">
            <a:extLst>
              <a:ext uri="{FF2B5EF4-FFF2-40B4-BE49-F238E27FC236}">
                <a16:creationId xmlns:a16="http://schemas.microsoft.com/office/drawing/2014/main" id="{5F646840-4680-622D-8AD0-32A4897F658D}"/>
              </a:ext>
            </a:extLst>
          </p:cNvPr>
          <p:cNvSpPr/>
          <p:nvPr/>
        </p:nvSpPr>
        <p:spPr>
          <a:xfrm>
            <a:off x="3829050" y="3543304"/>
            <a:ext cx="2266950" cy="714375"/>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Versement Volontaire Déductible</a:t>
            </a:r>
          </a:p>
        </p:txBody>
      </p:sp>
      <p:sp>
        <p:nvSpPr>
          <p:cNvPr id="8" name="Rectangle : coins arrondis 7">
            <a:extLst>
              <a:ext uri="{FF2B5EF4-FFF2-40B4-BE49-F238E27FC236}">
                <a16:creationId xmlns:a16="http://schemas.microsoft.com/office/drawing/2014/main" id="{663E5526-90BF-D03B-8274-BE32763CF99F}"/>
              </a:ext>
            </a:extLst>
          </p:cNvPr>
          <p:cNvSpPr/>
          <p:nvPr/>
        </p:nvSpPr>
        <p:spPr>
          <a:xfrm>
            <a:off x="3829050" y="4559431"/>
            <a:ext cx="2266950" cy="714375"/>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Epargne Salariale</a:t>
            </a:r>
          </a:p>
        </p:txBody>
      </p:sp>
      <p:sp>
        <p:nvSpPr>
          <p:cNvPr id="9" name="Rectangle : coins arrondis 8">
            <a:extLst>
              <a:ext uri="{FF2B5EF4-FFF2-40B4-BE49-F238E27FC236}">
                <a16:creationId xmlns:a16="http://schemas.microsoft.com/office/drawing/2014/main" id="{F4F7D668-807A-6E98-8A27-B136A48FA2E4}"/>
              </a:ext>
            </a:extLst>
          </p:cNvPr>
          <p:cNvSpPr/>
          <p:nvPr/>
        </p:nvSpPr>
        <p:spPr>
          <a:xfrm>
            <a:off x="6231731" y="3543304"/>
            <a:ext cx="2266950" cy="714375"/>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Versement Volontaire </a:t>
            </a:r>
          </a:p>
          <a:p>
            <a:pPr algn="ctr"/>
            <a:r>
              <a:rPr lang="fr-FR" sz="1400" dirty="0">
                <a:solidFill>
                  <a:schemeClr val="tx1"/>
                </a:solidFill>
              </a:rPr>
              <a:t>Non Déductible</a:t>
            </a:r>
          </a:p>
        </p:txBody>
      </p:sp>
      <p:sp>
        <p:nvSpPr>
          <p:cNvPr id="10" name="Rectangle : coins arrondis 9">
            <a:extLst>
              <a:ext uri="{FF2B5EF4-FFF2-40B4-BE49-F238E27FC236}">
                <a16:creationId xmlns:a16="http://schemas.microsoft.com/office/drawing/2014/main" id="{AB79BCCC-DA75-9A89-B054-B2199311FF47}"/>
              </a:ext>
            </a:extLst>
          </p:cNvPr>
          <p:cNvSpPr/>
          <p:nvPr/>
        </p:nvSpPr>
        <p:spPr>
          <a:xfrm>
            <a:off x="6231731" y="4559431"/>
            <a:ext cx="2266950" cy="714375"/>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Cotisation Obligatoire</a:t>
            </a:r>
          </a:p>
        </p:txBody>
      </p:sp>
      <p:cxnSp>
        <p:nvCxnSpPr>
          <p:cNvPr id="14" name="Connecteur droit 13">
            <a:extLst>
              <a:ext uri="{FF2B5EF4-FFF2-40B4-BE49-F238E27FC236}">
                <a16:creationId xmlns:a16="http://schemas.microsoft.com/office/drawing/2014/main" id="{A9991649-C86B-779F-C2DF-49C0096F3A92}"/>
              </a:ext>
            </a:extLst>
          </p:cNvPr>
          <p:cNvCxnSpPr>
            <a:stCxn id="7" idx="1"/>
          </p:cNvCxnSpPr>
          <p:nvPr/>
        </p:nvCxnSpPr>
        <p:spPr>
          <a:xfrm flipH="1" flipV="1">
            <a:off x="3014663" y="3543304"/>
            <a:ext cx="814387" cy="3571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2835D05-C4D5-168E-42B3-2135E05DCB24}"/>
              </a:ext>
            </a:extLst>
          </p:cNvPr>
          <p:cNvCxnSpPr>
            <a:cxnSpLocks/>
          </p:cNvCxnSpPr>
          <p:nvPr/>
        </p:nvCxnSpPr>
        <p:spPr>
          <a:xfrm flipH="1">
            <a:off x="3014663" y="4872903"/>
            <a:ext cx="814387" cy="2428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611A2A9A-E5BD-8B4B-17CD-7573A8274F66}"/>
              </a:ext>
            </a:extLst>
          </p:cNvPr>
          <p:cNvCxnSpPr>
            <a:cxnSpLocks/>
          </p:cNvCxnSpPr>
          <p:nvPr/>
        </p:nvCxnSpPr>
        <p:spPr>
          <a:xfrm flipH="1">
            <a:off x="8510587" y="3543304"/>
            <a:ext cx="833438" cy="3571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D102AA6E-9792-0C85-AC1E-A04CA807F27D}"/>
              </a:ext>
            </a:extLst>
          </p:cNvPr>
          <p:cNvCxnSpPr>
            <a:cxnSpLocks/>
          </p:cNvCxnSpPr>
          <p:nvPr/>
        </p:nvCxnSpPr>
        <p:spPr>
          <a:xfrm flipH="1" flipV="1">
            <a:off x="8510587" y="4914051"/>
            <a:ext cx="933451" cy="3597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Ellipse 20">
            <a:extLst>
              <a:ext uri="{FF2B5EF4-FFF2-40B4-BE49-F238E27FC236}">
                <a16:creationId xmlns:a16="http://schemas.microsoft.com/office/drawing/2014/main" id="{E8328C1A-F211-C2EB-D319-94EB208D0919}"/>
              </a:ext>
            </a:extLst>
          </p:cNvPr>
          <p:cNvSpPr/>
          <p:nvPr/>
        </p:nvSpPr>
        <p:spPr>
          <a:xfrm>
            <a:off x="3791546" y="3843340"/>
            <a:ext cx="63103" cy="1000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9912FE4D-6DD6-9282-2DCC-24A9D7FE233F}"/>
              </a:ext>
            </a:extLst>
          </p:cNvPr>
          <p:cNvSpPr/>
          <p:nvPr/>
        </p:nvSpPr>
        <p:spPr>
          <a:xfrm>
            <a:off x="3777853" y="4814038"/>
            <a:ext cx="63103" cy="1000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90BDF1C2-1767-817D-6F28-B272172C5951}"/>
              </a:ext>
            </a:extLst>
          </p:cNvPr>
          <p:cNvSpPr/>
          <p:nvPr/>
        </p:nvSpPr>
        <p:spPr>
          <a:xfrm>
            <a:off x="8467129" y="3864778"/>
            <a:ext cx="63103" cy="1000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a:extLst>
              <a:ext uri="{FF2B5EF4-FFF2-40B4-BE49-F238E27FC236}">
                <a16:creationId xmlns:a16="http://schemas.microsoft.com/office/drawing/2014/main" id="{50CDA872-15AC-ED8E-E59B-ABCCB0DD68F1}"/>
              </a:ext>
            </a:extLst>
          </p:cNvPr>
          <p:cNvSpPr/>
          <p:nvPr/>
        </p:nvSpPr>
        <p:spPr>
          <a:xfrm>
            <a:off x="8449865" y="4859471"/>
            <a:ext cx="63103" cy="1000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6" name="Connecteur droit 25">
            <a:extLst>
              <a:ext uri="{FF2B5EF4-FFF2-40B4-BE49-F238E27FC236}">
                <a16:creationId xmlns:a16="http://schemas.microsoft.com/office/drawing/2014/main" id="{1473543E-E4D9-B904-CE0E-0B1935364D86}"/>
              </a:ext>
            </a:extLst>
          </p:cNvPr>
          <p:cNvCxnSpPr>
            <a:cxnSpLocks/>
          </p:cNvCxnSpPr>
          <p:nvPr/>
        </p:nvCxnSpPr>
        <p:spPr>
          <a:xfrm>
            <a:off x="561385" y="3543304"/>
            <a:ext cx="24532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2B98B5BA-495A-B2CE-66EC-E1FF37AF41F2}"/>
              </a:ext>
            </a:extLst>
          </p:cNvPr>
          <p:cNvCxnSpPr>
            <a:cxnSpLocks/>
          </p:cNvCxnSpPr>
          <p:nvPr/>
        </p:nvCxnSpPr>
        <p:spPr>
          <a:xfrm>
            <a:off x="561385" y="5115786"/>
            <a:ext cx="24532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2BB47C31-D877-A397-8E91-CEC4EF261039}"/>
              </a:ext>
            </a:extLst>
          </p:cNvPr>
          <p:cNvCxnSpPr>
            <a:cxnSpLocks/>
          </p:cNvCxnSpPr>
          <p:nvPr/>
        </p:nvCxnSpPr>
        <p:spPr>
          <a:xfrm>
            <a:off x="9344025" y="3543304"/>
            <a:ext cx="24532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3D550E2D-E26D-9D2F-F9C3-3B5C954B344D}"/>
              </a:ext>
            </a:extLst>
          </p:cNvPr>
          <p:cNvCxnSpPr>
            <a:cxnSpLocks/>
          </p:cNvCxnSpPr>
          <p:nvPr/>
        </p:nvCxnSpPr>
        <p:spPr>
          <a:xfrm>
            <a:off x="9427729" y="5273806"/>
            <a:ext cx="24532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BA29B20B-3FB3-F574-6AAD-83D80F8C5FA8}"/>
              </a:ext>
            </a:extLst>
          </p:cNvPr>
          <p:cNvSpPr txBox="1"/>
          <p:nvPr/>
        </p:nvSpPr>
        <p:spPr>
          <a:xfrm>
            <a:off x="532219" y="2854112"/>
            <a:ext cx="2567578" cy="646331"/>
          </a:xfrm>
          <a:prstGeom prst="rect">
            <a:avLst/>
          </a:prstGeom>
          <a:noFill/>
        </p:spPr>
        <p:txBody>
          <a:bodyPr wrap="square" rtlCol="0">
            <a:spAutoFit/>
          </a:bodyPr>
          <a:lstStyle/>
          <a:p>
            <a:r>
              <a:rPr lang="fr-FR" sz="1200" b="1" dirty="0"/>
              <a:t>Remplace les Contrat Madelin, Perp, </a:t>
            </a:r>
            <a:r>
              <a:rPr lang="fr-FR" sz="1200" b="1" dirty="0" err="1"/>
              <a:t>Prefon</a:t>
            </a:r>
            <a:r>
              <a:rPr lang="fr-FR" sz="1200" dirty="0"/>
              <a:t>. Chaque versement vient en déduction de votre revenu imposable</a:t>
            </a:r>
          </a:p>
        </p:txBody>
      </p:sp>
      <p:sp>
        <p:nvSpPr>
          <p:cNvPr id="32" name="ZoneTexte 31">
            <a:extLst>
              <a:ext uri="{FF2B5EF4-FFF2-40B4-BE49-F238E27FC236}">
                <a16:creationId xmlns:a16="http://schemas.microsoft.com/office/drawing/2014/main" id="{97F48129-ECDB-0E78-9216-32045C6152E6}"/>
              </a:ext>
            </a:extLst>
          </p:cNvPr>
          <p:cNvSpPr txBox="1"/>
          <p:nvPr/>
        </p:nvSpPr>
        <p:spPr>
          <a:xfrm>
            <a:off x="584302" y="4560359"/>
            <a:ext cx="2567578" cy="461665"/>
          </a:xfrm>
          <a:prstGeom prst="rect">
            <a:avLst/>
          </a:prstGeom>
          <a:noFill/>
        </p:spPr>
        <p:txBody>
          <a:bodyPr wrap="square" rtlCol="0">
            <a:spAutoFit/>
          </a:bodyPr>
          <a:lstStyle/>
          <a:p>
            <a:r>
              <a:rPr lang="fr-FR" sz="1200" b="1" dirty="0"/>
              <a:t>Versement issu du PEE, PERECO. </a:t>
            </a:r>
            <a:r>
              <a:rPr lang="fr-FR" sz="1200" dirty="0"/>
              <a:t>Environnement Epargne Salariale</a:t>
            </a:r>
          </a:p>
        </p:txBody>
      </p:sp>
      <p:sp>
        <p:nvSpPr>
          <p:cNvPr id="33" name="ZoneTexte 32">
            <a:extLst>
              <a:ext uri="{FF2B5EF4-FFF2-40B4-BE49-F238E27FC236}">
                <a16:creationId xmlns:a16="http://schemas.microsoft.com/office/drawing/2014/main" id="{68219CB1-DE46-E77F-5F18-12BCABD6456F}"/>
              </a:ext>
            </a:extLst>
          </p:cNvPr>
          <p:cNvSpPr txBox="1"/>
          <p:nvPr/>
        </p:nvSpPr>
        <p:spPr>
          <a:xfrm>
            <a:off x="9286875" y="4554695"/>
            <a:ext cx="2567578" cy="646331"/>
          </a:xfrm>
          <a:prstGeom prst="rect">
            <a:avLst/>
          </a:prstGeom>
          <a:noFill/>
        </p:spPr>
        <p:txBody>
          <a:bodyPr wrap="square" rtlCol="0">
            <a:spAutoFit/>
          </a:bodyPr>
          <a:lstStyle/>
          <a:p>
            <a:r>
              <a:rPr lang="fr-FR" sz="1200" b="1" dirty="0"/>
              <a:t>Remplace l’Article 83. </a:t>
            </a:r>
          </a:p>
          <a:p>
            <a:r>
              <a:rPr lang="fr-FR" sz="1200" dirty="0"/>
              <a:t>Versement issu de contrat entreprise à Adhésion Obligatoire</a:t>
            </a:r>
          </a:p>
        </p:txBody>
      </p:sp>
      <p:sp>
        <p:nvSpPr>
          <p:cNvPr id="35" name="ZoneTexte 34">
            <a:extLst>
              <a:ext uri="{FF2B5EF4-FFF2-40B4-BE49-F238E27FC236}">
                <a16:creationId xmlns:a16="http://schemas.microsoft.com/office/drawing/2014/main" id="{1888709C-43C5-79FD-3DEE-3A1FC3FAD7F2}"/>
              </a:ext>
            </a:extLst>
          </p:cNvPr>
          <p:cNvSpPr txBox="1"/>
          <p:nvPr/>
        </p:nvSpPr>
        <p:spPr>
          <a:xfrm>
            <a:off x="9258891" y="2889100"/>
            <a:ext cx="2567578" cy="646331"/>
          </a:xfrm>
          <a:prstGeom prst="rect">
            <a:avLst/>
          </a:prstGeom>
          <a:noFill/>
        </p:spPr>
        <p:txBody>
          <a:bodyPr wrap="square" rtlCol="0">
            <a:spAutoFit/>
          </a:bodyPr>
          <a:lstStyle/>
          <a:p>
            <a:r>
              <a:rPr lang="fr-FR" sz="1200" b="1" dirty="0"/>
              <a:t>Versement non déductible</a:t>
            </a:r>
            <a:r>
              <a:rPr lang="fr-FR" sz="1200" dirty="0"/>
              <a:t>. Pas de déduction fiscale mais sortie plus avantageuse</a:t>
            </a:r>
          </a:p>
        </p:txBody>
      </p:sp>
      <p:sp>
        <p:nvSpPr>
          <p:cNvPr id="36" name="Rectangle : coins arrondis 35">
            <a:extLst>
              <a:ext uri="{FF2B5EF4-FFF2-40B4-BE49-F238E27FC236}">
                <a16:creationId xmlns:a16="http://schemas.microsoft.com/office/drawing/2014/main" id="{3774C87E-B725-9FA0-8D0C-78F7D3E8A5F5}"/>
              </a:ext>
            </a:extLst>
          </p:cNvPr>
          <p:cNvSpPr/>
          <p:nvPr/>
        </p:nvSpPr>
        <p:spPr>
          <a:xfrm>
            <a:off x="4208679" y="5457824"/>
            <a:ext cx="3774701" cy="330327"/>
          </a:xfrm>
          <a:prstGeom prst="roundRect">
            <a:avLst/>
          </a:prstGeom>
          <a:solidFill>
            <a:schemeClr val="accent3"/>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Chaque Versement ou transfert est affecté à son compartiment qui définira la possibilité de sortie</a:t>
            </a:r>
          </a:p>
        </p:txBody>
      </p:sp>
      <p:pic>
        <p:nvPicPr>
          <p:cNvPr id="5" name="Image 4">
            <a:extLst>
              <a:ext uri="{FF2B5EF4-FFF2-40B4-BE49-F238E27FC236}">
                <a16:creationId xmlns:a16="http://schemas.microsoft.com/office/drawing/2014/main" id="{4C73FD3A-6F57-4F60-7847-710929E53E84}"/>
              </a:ext>
            </a:extLst>
          </p:cNvPr>
          <p:cNvPicPr>
            <a:picLocks noChangeAspect="1"/>
          </p:cNvPicPr>
          <p:nvPr/>
        </p:nvPicPr>
        <p:blipFill>
          <a:blip r:embed="rId2"/>
          <a:stretch>
            <a:fillRect/>
          </a:stretch>
        </p:blipFill>
        <p:spPr>
          <a:xfrm>
            <a:off x="10614150" y="0"/>
            <a:ext cx="1537632" cy="1455807"/>
          </a:xfrm>
          <a:prstGeom prst="rect">
            <a:avLst/>
          </a:prstGeom>
        </p:spPr>
      </p:pic>
    </p:spTree>
    <p:extLst>
      <p:ext uri="{BB962C8B-B14F-4D97-AF65-F5344CB8AC3E}">
        <p14:creationId xmlns:p14="http://schemas.microsoft.com/office/powerpoint/2010/main" val="4187174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PLAN D’EPARGNE RETRAITE : Limite de Versement</a:t>
            </a:r>
          </a:p>
        </p:txBody>
      </p:sp>
      <p:sp>
        <p:nvSpPr>
          <p:cNvPr id="4" name="Espace réservé du texte 8">
            <a:extLst>
              <a:ext uri="{FF2B5EF4-FFF2-40B4-BE49-F238E27FC236}">
                <a16:creationId xmlns:a16="http://schemas.microsoft.com/office/drawing/2014/main" id="{F1907624-6A71-E6CB-3596-9A55CEFC5970}"/>
              </a:ext>
            </a:extLst>
          </p:cNvPr>
          <p:cNvSpPr txBox="1">
            <a:spLocks/>
          </p:cNvSpPr>
          <p:nvPr/>
        </p:nvSpPr>
        <p:spPr>
          <a:xfrm>
            <a:off x="375647" y="1052202"/>
            <a:ext cx="6939553" cy="6017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fr-FR" sz="1600" b="1" u="sng" dirty="0"/>
              <a:t>Montant du versement déductible en fonction de votre rémunération</a:t>
            </a:r>
            <a:endParaRPr lang="fr-FR" sz="1600" u="sng" dirty="0"/>
          </a:p>
        </p:txBody>
      </p:sp>
      <p:sp>
        <p:nvSpPr>
          <p:cNvPr id="3" name="Rectangle : coins arrondis 2">
            <a:extLst>
              <a:ext uri="{FF2B5EF4-FFF2-40B4-BE49-F238E27FC236}">
                <a16:creationId xmlns:a16="http://schemas.microsoft.com/office/drawing/2014/main" id="{0AC47D4C-218A-C152-288D-EBC22C65EF57}"/>
              </a:ext>
            </a:extLst>
          </p:cNvPr>
          <p:cNvSpPr/>
          <p:nvPr/>
        </p:nvSpPr>
        <p:spPr>
          <a:xfrm>
            <a:off x="6457962" y="2085975"/>
            <a:ext cx="5272088" cy="3743325"/>
          </a:xfrm>
          <a:prstGeom prst="roundRect">
            <a:avLst/>
          </a:prstGeom>
          <a:solidFill>
            <a:schemeClr val="bg1"/>
          </a:solidFill>
          <a:ln w="476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1F0CC073-7728-8E78-EF50-2F1705D7E4FC}"/>
              </a:ext>
            </a:extLst>
          </p:cNvPr>
          <p:cNvSpPr/>
          <p:nvPr/>
        </p:nvSpPr>
        <p:spPr>
          <a:xfrm>
            <a:off x="6515114" y="2085975"/>
            <a:ext cx="5157788" cy="1042988"/>
          </a:xfrm>
          <a:prstGeom prst="roundRect">
            <a:avLst>
              <a:gd name="adj" fmla="val 5000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t>PER INDIVIDUEL</a:t>
            </a:r>
          </a:p>
        </p:txBody>
      </p:sp>
      <p:sp>
        <p:nvSpPr>
          <p:cNvPr id="7" name="Rectangle : coins arrondis 6">
            <a:extLst>
              <a:ext uri="{FF2B5EF4-FFF2-40B4-BE49-F238E27FC236}">
                <a16:creationId xmlns:a16="http://schemas.microsoft.com/office/drawing/2014/main" id="{5F646840-4680-622D-8AD0-32A4897F658D}"/>
              </a:ext>
            </a:extLst>
          </p:cNvPr>
          <p:cNvSpPr/>
          <p:nvPr/>
        </p:nvSpPr>
        <p:spPr>
          <a:xfrm>
            <a:off x="6743712" y="3543304"/>
            <a:ext cx="2266950" cy="714375"/>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Versement Volontaire Déductible</a:t>
            </a:r>
          </a:p>
        </p:txBody>
      </p:sp>
      <p:sp>
        <p:nvSpPr>
          <p:cNvPr id="8" name="Rectangle : coins arrondis 7">
            <a:extLst>
              <a:ext uri="{FF2B5EF4-FFF2-40B4-BE49-F238E27FC236}">
                <a16:creationId xmlns:a16="http://schemas.microsoft.com/office/drawing/2014/main" id="{663E5526-90BF-D03B-8274-BE32763CF99F}"/>
              </a:ext>
            </a:extLst>
          </p:cNvPr>
          <p:cNvSpPr/>
          <p:nvPr/>
        </p:nvSpPr>
        <p:spPr>
          <a:xfrm>
            <a:off x="6743712" y="4559431"/>
            <a:ext cx="2266950" cy="714375"/>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Epargne Salariale</a:t>
            </a:r>
          </a:p>
        </p:txBody>
      </p:sp>
      <p:sp>
        <p:nvSpPr>
          <p:cNvPr id="9" name="Rectangle : coins arrondis 8">
            <a:extLst>
              <a:ext uri="{FF2B5EF4-FFF2-40B4-BE49-F238E27FC236}">
                <a16:creationId xmlns:a16="http://schemas.microsoft.com/office/drawing/2014/main" id="{F4F7D668-807A-6E98-8A27-B136A48FA2E4}"/>
              </a:ext>
            </a:extLst>
          </p:cNvPr>
          <p:cNvSpPr/>
          <p:nvPr/>
        </p:nvSpPr>
        <p:spPr>
          <a:xfrm>
            <a:off x="9146393" y="3543304"/>
            <a:ext cx="2266950" cy="714375"/>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Versement Volontaire </a:t>
            </a:r>
          </a:p>
          <a:p>
            <a:pPr algn="ctr"/>
            <a:r>
              <a:rPr lang="fr-FR" sz="1400" dirty="0">
                <a:solidFill>
                  <a:schemeClr val="tx1"/>
                </a:solidFill>
              </a:rPr>
              <a:t>Non Déductible</a:t>
            </a:r>
          </a:p>
        </p:txBody>
      </p:sp>
      <p:sp>
        <p:nvSpPr>
          <p:cNvPr id="10" name="Rectangle : coins arrondis 9">
            <a:extLst>
              <a:ext uri="{FF2B5EF4-FFF2-40B4-BE49-F238E27FC236}">
                <a16:creationId xmlns:a16="http://schemas.microsoft.com/office/drawing/2014/main" id="{AB79BCCC-DA75-9A89-B054-B2199311FF47}"/>
              </a:ext>
            </a:extLst>
          </p:cNvPr>
          <p:cNvSpPr/>
          <p:nvPr/>
        </p:nvSpPr>
        <p:spPr>
          <a:xfrm>
            <a:off x="9146393" y="4559431"/>
            <a:ext cx="2266950" cy="714375"/>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Cotisation Obligatoire</a:t>
            </a:r>
          </a:p>
        </p:txBody>
      </p:sp>
      <p:cxnSp>
        <p:nvCxnSpPr>
          <p:cNvPr id="12" name="Connecteur droit 11">
            <a:extLst>
              <a:ext uri="{FF2B5EF4-FFF2-40B4-BE49-F238E27FC236}">
                <a16:creationId xmlns:a16="http://schemas.microsoft.com/office/drawing/2014/main" id="{AECC1EC9-4D8E-C504-C7A9-5EE0E516C3BB}"/>
              </a:ext>
            </a:extLst>
          </p:cNvPr>
          <p:cNvCxnSpPr>
            <a:cxnSpLocks/>
          </p:cNvCxnSpPr>
          <p:nvPr/>
        </p:nvCxnSpPr>
        <p:spPr>
          <a:xfrm>
            <a:off x="1057275" y="5273806"/>
            <a:ext cx="461963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BF1EE30-02B3-6CF4-C118-DA3F148A819C}"/>
              </a:ext>
            </a:extLst>
          </p:cNvPr>
          <p:cNvSpPr/>
          <p:nvPr/>
        </p:nvSpPr>
        <p:spPr>
          <a:xfrm>
            <a:off x="1057275" y="4743450"/>
            <a:ext cx="928688" cy="53035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t>4 500 €</a:t>
            </a:r>
          </a:p>
        </p:txBody>
      </p:sp>
      <p:sp>
        <p:nvSpPr>
          <p:cNvPr id="34" name="Rectangle 33">
            <a:extLst>
              <a:ext uri="{FF2B5EF4-FFF2-40B4-BE49-F238E27FC236}">
                <a16:creationId xmlns:a16="http://schemas.microsoft.com/office/drawing/2014/main" id="{2C2D7F50-54E9-4612-0D22-B95AD01A5E36}"/>
              </a:ext>
            </a:extLst>
          </p:cNvPr>
          <p:cNvSpPr/>
          <p:nvPr/>
        </p:nvSpPr>
        <p:spPr>
          <a:xfrm>
            <a:off x="2290763" y="4257679"/>
            <a:ext cx="928688" cy="100812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t>9 000 €</a:t>
            </a:r>
          </a:p>
        </p:txBody>
      </p:sp>
      <p:sp>
        <p:nvSpPr>
          <p:cNvPr id="37" name="Rectangle 36">
            <a:extLst>
              <a:ext uri="{FF2B5EF4-FFF2-40B4-BE49-F238E27FC236}">
                <a16:creationId xmlns:a16="http://schemas.microsoft.com/office/drawing/2014/main" id="{E3E82FB1-E5B5-B398-40BC-AA4D67AFC673}"/>
              </a:ext>
            </a:extLst>
          </p:cNvPr>
          <p:cNvSpPr/>
          <p:nvPr/>
        </p:nvSpPr>
        <p:spPr>
          <a:xfrm>
            <a:off x="3524251" y="3743333"/>
            <a:ext cx="928688" cy="152019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t>13 500 €</a:t>
            </a:r>
          </a:p>
        </p:txBody>
      </p:sp>
      <p:sp>
        <p:nvSpPr>
          <p:cNvPr id="38" name="Rectangle 37">
            <a:extLst>
              <a:ext uri="{FF2B5EF4-FFF2-40B4-BE49-F238E27FC236}">
                <a16:creationId xmlns:a16="http://schemas.microsoft.com/office/drawing/2014/main" id="{D7439DDB-7D66-7801-69F8-889577A0B6FC}"/>
              </a:ext>
            </a:extLst>
          </p:cNvPr>
          <p:cNvSpPr/>
          <p:nvPr/>
        </p:nvSpPr>
        <p:spPr>
          <a:xfrm>
            <a:off x="4748226" y="3128963"/>
            <a:ext cx="928688" cy="214484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t>18 000 €</a:t>
            </a:r>
          </a:p>
        </p:txBody>
      </p:sp>
      <p:sp>
        <p:nvSpPr>
          <p:cNvPr id="25" name="ZoneTexte 24">
            <a:extLst>
              <a:ext uri="{FF2B5EF4-FFF2-40B4-BE49-F238E27FC236}">
                <a16:creationId xmlns:a16="http://schemas.microsoft.com/office/drawing/2014/main" id="{EBBCCD0F-B92E-EF94-17E5-087D2FC2FF16}"/>
              </a:ext>
            </a:extLst>
          </p:cNvPr>
          <p:cNvSpPr txBox="1"/>
          <p:nvPr/>
        </p:nvSpPr>
        <p:spPr>
          <a:xfrm>
            <a:off x="1185863" y="5346313"/>
            <a:ext cx="928688" cy="369332"/>
          </a:xfrm>
          <a:prstGeom prst="rect">
            <a:avLst/>
          </a:prstGeom>
          <a:noFill/>
        </p:spPr>
        <p:txBody>
          <a:bodyPr wrap="square" rtlCol="0">
            <a:spAutoFit/>
          </a:bodyPr>
          <a:lstStyle/>
          <a:p>
            <a:r>
              <a:rPr lang="fr-FR" dirty="0"/>
              <a:t>50 K€</a:t>
            </a:r>
          </a:p>
        </p:txBody>
      </p:sp>
      <p:sp>
        <p:nvSpPr>
          <p:cNvPr id="39" name="ZoneTexte 38">
            <a:extLst>
              <a:ext uri="{FF2B5EF4-FFF2-40B4-BE49-F238E27FC236}">
                <a16:creationId xmlns:a16="http://schemas.microsoft.com/office/drawing/2014/main" id="{DACD6486-32E9-4E01-9996-5931D4A14397}"/>
              </a:ext>
            </a:extLst>
          </p:cNvPr>
          <p:cNvSpPr txBox="1"/>
          <p:nvPr/>
        </p:nvSpPr>
        <p:spPr>
          <a:xfrm>
            <a:off x="2343742" y="5346313"/>
            <a:ext cx="928688" cy="369332"/>
          </a:xfrm>
          <a:prstGeom prst="rect">
            <a:avLst/>
          </a:prstGeom>
          <a:noFill/>
        </p:spPr>
        <p:txBody>
          <a:bodyPr wrap="square" rtlCol="0">
            <a:spAutoFit/>
          </a:bodyPr>
          <a:lstStyle/>
          <a:p>
            <a:r>
              <a:rPr lang="fr-FR" dirty="0"/>
              <a:t>100 K€</a:t>
            </a:r>
          </a:p>
        </p:txBody>
      </p:sp>
      <p:sp>
        <p:nvSpPr>
          <p:cNvPr id="40" name="ZoneTexte 39">
            <a:extLst>
              <a:ext uri="{FF2B5EF4-FFF2-40B4-BE49-F238E27FC236}">
                <a16:creationId xmlns:a16="http://schemas.microsoft.com/office/drawing/2014/main" id="{987ADA5B-587F-943E-07D1-19B29D5F11E6}"/>
              </a:ext>
            </a:extLst>
          </p:cNvPr>
          <p:cNvSpPr txBox="1"/>
          <p:nvPr/>
        </p:nvSpPr>
        <p:spPr>
          <a:xfrm>
            <a:off x="3589134" y="5346313"/>
            <a:ext cx="928688" cy="369332"/>
          </a:xfrm>
          <a:prstGeom prst="rect">
            <a:avLst/>
          </a:prstGeom>
          <a:noFill/>
        </p:spPr>
        <p:txBody>
          <a:bodyPr wrap="square" rtlCol="0">
            <a:spAutoFit/>
          </a:bodyPr>
          <a:lstStyle/>
          <a:p>
            <a:r>
              <a:rPr lang="fr-FR" dirty="0"/>
              <a:t>150 K€</a:t>
            </a:r>
          </a:p>
        </p:txBody>
      </p:sp>
      <p:sp>
        <p:nvSpPr>
          <p:cNvPr id="41" name="ZoneTexte 40">
            <a:extLst>
              <a:ext uri="{FF2B5EF4-FFF2-40B4-BE49-F238E27FC236}">
                <a16:creationId xmlns:a16="http://schemas.microsoft.com/office/drawing/2014/main" id="{DE5D17A1-65A3-1525-C550-1CB6C2B0886E}"/>
              </a:ext>
            </a:extLst>
          </p:cNvPr>
          <p:cNvSpPr txBox="1"/>
          <p:nvPr/>
        </p:nvSpPr>
        <p:spPr>
          <a:xfrm>
            <a:off x="4805351" y="5346313"/>
            <a:ext cx="928688" cy="369332"/>
          </a:xfrm>
          <a:prstGeom prst="rect">
            <a:avLst/>
          </a:prstGeom>
          <a:noFill/>
        </p:spPr>
        <p:txBody>
          <a:bodyPr wrap="square" rtlCol="0">
            <a:spAutoFit/>
          </a:bodyPr>
          <a:lstStyle/>
          <a:p>
            <a:r>
              <a:rPr lang="fr-FR" dirty="0"/>
              <a:t>200 K€</a:t>
            </a:r>
          </a:p>
        </p:txBody>
      </p:sp>
      <p:pic>
        <p:nvPicPr>
          <p:cNvPr id="5" name="Image 4">
            <a:extLst>
              <a:ext uri="{FF2B5EF4-FFF2-40B4-BE49-F238E27FC236}">
                <a16:creationId xmlns:a16="http://schemas.microsoft.com/office/drawing/2014/main" id="{C878C6C8-9CF9-F335-977F-588D778580B1}"/>
              </a:ext>
            </a:extLst>
          </p:cNvPr>
          <p:cNvPicPr>
            <a:picLocks noChangeAspect="1"/>
          </p:cNvPicPr>
          <p:nvPr/>
        </p:nvPicPr>
        <p:blipFill>
          <a:blip r:embed="rId2"/>
          <a:stretch>
            <a:fillRect/>
          </a:stretch>
        </p:blipFill>
        <p:spPr>
          <a:xfrm>
            <a:off x="10651659" y="38547"/>
            <a:ext cx="1537632" cy="1455807"/>
          </a:xfrm>
          <a:prstGeom prst="rect">
            <a:avLst/>
          </a:prstGeom>
        </p:spPr>
      </p:pic>
    </p:spTree>
    <p:extLst>
      <p:ext uri="{BB962C8B-B14F-4D97-AF65-F5344CB8AC3E}">
        <p14:creationId xmlns:p14="http://schemas.microsoft.com/office/powerpoint/2010/main" val="2005639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PLAN D’EPARGNE RETRAITE : Fiscalité en Sortie</a:t>
            </a:r>
          </a:p>
        </p:txBody>
      </p:sp>
      <p:sp>
        <p:nvSpPr>
          <p:cNvPr id="4" name="Espace réservé du texte 8">
            <a:extLst>
              <a:ext uri="{FF2B5EF4-FFF2-40B4-BE49-F238E27FC236}">
                <a16:creationId xmlns:a16="http://schemas.microsoft.com/office/drawing/2014/main" id="{F1907624-6A71-E6CB-3596-9A55CEFC5970}"/>
              </a:ext>
            </a:extLst>
          </p:cNvPr>
          <p:cNvSpPr txBox="1">
            <a:spLocks/>
          </p:cNvSpPr>
          <p:nvPr/>
        </p:nvSpPr>
        <p:spPr>
          <a:xfrm>
            <a:off x="375647" y="922539"/>
            <a:ext cx="8777878" cy="3572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fr-FR" sz="1600" b="1" u="sng" dirty="0"/>
              <a:t>Un PER peut être débloqué à 62 Ans ou ou à la </a:t>
            </a:r>
            <a:r>
              <a:rPr lang="fr-FR" sz="1600" b="1" u="sng" dirty="0" err="1"/>
              <a:t>liquiditation</a:t>
            </a:r>
            <a:r>
              <a:rPr lang="fr-FR" sz="1600" b="1" u="sng" dirty="0"/>
              <a:t> de retraite (ou cas de déblocage)</a:t>
            </a:r>
            <a:endParaRPr lang="fr-FR" sz="1600" u="sng" dirty="0"/>
          </a:p>
        </p:txBody>
      </p:sp>
      <p:sp>
        <p:nvSpPr>
          <p:cNvPr id="3" name="Rectangle : coins arrondis 2">
            <a:extLst>
              <a:ext uri="{FF2B5EF4-FFF2-40B4-BE49-F238E27FC236}">
                <a16:creationId xmlns:a16="http://schemas.microsoft.com/office/drawing/2014/main" id="{0AC47D4C-218A-C152-288D-EBC22C65EF57}"/>
              </a:ext>
            </a:extLst>
          </p:cNvPr>
          <p:cNvSpPr/>
          <p:nvPr/>
        </p:nvSpPr>
        <p:spPr>
          <a:xfrm>
            <a:off x="728661" y="1400168"/>
            <a:ext cx="3743327" cy="5092707"/>
          </a:xfrm>
          <a:prstGeom prst="roundRect">
            <a:avLst/>
          </a:prstGeom>
          <a:solidFill>
            <a:schemeClr val="bg1"/>
          </a:solidFill>
          <a:ln w="476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1F0CC073-7728-8E78-EF50-2F1705D7E4FC}"/>
              </a:ext>
            </a:extLst>
          </p:cNvPr>
          <p:cNvSpPr/>
          <p:nvPr/>
        </p:nvSpPr>
        <p:spPr>
          <a:xfrm>
            <a:off x="728661" y="1400168"/>
            <a:ext cx="3757615" cy="1418960"/>
          </a:xfrm>
          <a:prstGeom prst="roundRect">
            <a:avLst>
              <a:gd name="adj" fmla="val 5000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t>PER INDIVIDUEL</a:t>
            </a:r>
          </a:p>
        </p:txBody>
      </p:sp>
      <p:sp>
        <p:nvSpPr>
          <p:cNvPr id="7" name="Rectangle : coins arrondis 6">
            <a:extLst>
              <a:ext uri="{FF2B5EF4-FFF2-40B4-BE49-F238E27FC236}">
                <a16:creationId xmlns:a16="http://schemas.microsoft.com/office/drawing/2014/main" id="{5F646840-4680-622D-8AD0-32A4897F658D}"/>
              </a:ext>
            </a:extLst>
          </p:cNvPr>
          <p:cNvSpPr/>
          <p:nvPr/>
        </p:nvSpPr>
        <p:spPr>
          <a:xfrm>
            <a:off x="1466849" y="3043807"/>
            <a:ext cx="2266950" cy="571503"/>
          </a:xfrm>
          <a:prstGeom prst="roundRect">
            <a:avLst/>
          </a:prstGeom>
          <a:solidFill>
            <a:schemeClr val="bg2">
              <a:lumMod val="9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Versement Volontaire Déductible</a:t>
            </a:r>
          </a:p>
        </p:txBody>
      </p:sp>
      <p:sp>
        <p:nvSpPr>
          <p:cNvPr id="8" name="Rectangle : coins arrondis 7">
            <a:extLst>
              <a:ext uri="{FF2B5EF4-FFF2-40B4-BE49-F238E27FC236}">
                <a16:creationId xmlns:a16="http://schemas.microsoft.com/office/drawing/2014/main" id="{663E5526-90BF-D03B-8274-BE32763CF99F}"/>
              </a:ext>
            </a:extLst>
          </p:cNvPr>
          <p:cNvSpPr/>
          <p:nvPr/>
        </p:nvSpPr>
        <p:spPr>
          <a:xfrm>
            <a:off x="1466849" y="4723864"/>
            <a:ext cx="2266950" cy="571503"/>
          </a:xfrm>
          <a:prstGeom prst="roundRect">
            <a:avLst/>
          </a:prstGeom>
          <a:solidFill>
            <a:schemeClr val="bg2">
              <a:lumMod val="9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Epargne Salariale</a:t>
            </a:r>
          </a:p>
        </p:txBody>
      </p:sp>
      <p:sp>
        <p:nvSpPr>
          <p:cNvPr id="9" name="Rectangle : coins arrondis 8">
            <a:extLst>
              <a:ext uri="{FF2B5EF4-FFF2-40B4-BE49-F238E27FC236}">
                <a16:creationId xmlns:a16="http://schemas.microsoft.com/office/drawing/2014/main" id="{F4F7D668-807A-6E98-8A27-B136A48FA2E4}"/>
              </a:ext>
            </a:extLst>
          </p:cNvPr>
          <p:cNvSpPr/>
          <p:nvPr/>
        </p:nvSpPr>
        <p:spPr>
          <a:xfrm>
            <a:off x="1466849" y="3866678"/>
            <a:ext cx="2266950" cy="571503"/>
          </a:xfrm>
          <a:prstGeom prst="roundRect">
            <a:avLst/>
          </a:prstGeom>
          <a:solidFill>
            <a:schemeClr val="bg2">
              <a:lumMod val="9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Versement Volontaire </a:t>
            </a:r>
          </a:p>
          <a:p>
            <a:pPr algn="ctr"/>
            <a:r>
              <a:rPr lang="fr-FR" sz="1400" dirty="0">
                <a:solidFill>
                  <a:schemeClr val="tx1"/>
                </a:solidFill>
              </a:rPr>
              <a:t>Non Déductible</a:t>
            </a:r>
          </a:p>
        </p:txBody>
      </p:sp>
      <p:sp>
        <p:nvSpPr>
          <p:cNvPr id="10" name="Rectangle : coins arrondis 9">
            <a:extLst>
              <a:ext uri="{FF2B5EF4-FFF2-40B4-BE49-F238E27FC236}">
                <a16:creationId xmlns:a16="http://schemas.microsoft.com/office/drawing/2014/main" id="{AB79BCCC-DA75-9A89-B054-B2199311FF47}"/>
              </a:ext>
            </a:extLst>
          </p:cNvPr>
          <p:cNvSpPr/>
          <p:nvPr/>
        </p:nvSpPr>
        <p:spPr>
          <a:xfrm>
            <a:off x="1466849" y="5520046"/>
            <a:ext cx="2266950" cy="571503"/>
          </a:xfrm>
          <a:prstGeom prst="roundRect">
            <a:avLst/>
          </a:prstGeom>
          <a:solidFill>
            <a:schemeClr val="bg2">
              <a:lumMod val="90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Cotisation Obligatoire</a:t>
            </a:r>
          </a:p>
        </p:txBody>
      </p:sp>
      <p:sp>
        <p:nvSpPr>
          <p:cNvPr id="20" name="Rectangle : coins arrondis 19">
            <a:extLst>
              <a:ext uri="{FF2B5EF4-FFF2-40B4-BE49-F238E27FC236}">
                <a16:creationId xmlns:a16="http://schemas.microsoft.com/office/drawing/2014/main" id="{EC3387FF-E962-7C86-91C6-6DDA0AFB69AE}"/>
              </a:ext>
            </a:extLst>
          </p:cNvPr>
          <p:cNvSpPr/>
          <p:nvPr/>
        </p:nvSpPr>
        <p:spPr>
          <a:xfrm>
            <a:off x="5562599" y="1823896"/>
            <a:ext cx="2266950" cy="689556"/>
          </a:xfrm>
          <a:prstGeom prst="round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Sortie en Capital : </a:t>
            </a:r>
          </a:p>
          <a:p>
            <a:pPr marL="285750" indent="-285750">
              <a:buFont typeface="Arial" panose="020B0604020202020204" pitchFamily="34" charset="0"/>
              <a:buChar char="•"/>
            </a:pPr>
            <a:r>
              <a:rPr lang="fr-FR" sz="1400" dirty="0">
                <a:solidFill>
                  <a:schemeClr val="tx1"/>
                </a:solidFill>
              </a:rPr>
              <a:t>Capital : IR</a:t>
            </a:r>
          </a:p>
          <a:p>
            <a:pPr marL="285750" indent="-285750">
              <a:buFont typeface="Arial" panose="020B0604020202020204" pitchFamily="34" charset="0"/>
              <a:buChar char="•"/>
            </a:pPr>
            <a:r>
              <a:rPr lang="fr-FR" sz="1400" dirty="0">
                <a:solidFill>
                  <a:schemeClr val="tx1"/>
                </a:solidFill>
              </a:rPr>
              <a:t>Plus-Value : PFU (30%)</a:t>
            </a:r>
          </a:p>
        </p:txBody>
      </p:sp>
      <p:sp>
        <p:nvSpPr>
          <p:cNvPr id="21" name="Rectangle : coins arrondis 20">
            <a:extLst>
              <a:ext uri="{FF2B5EF4-FFF2-40B4-BE49-F238E27FC236}">
                <a16:creationId xmlns:a16="http://schemas.microsoft.com/office/drawing/2014/main" id="{1CE40511-CB42-2BD1-0CD2-942BF53C00EB}"/>
              </a:ext>
            </a:extLst>
          </p:cNvPr>
          <p:cNvSpPr/>
          <p:nvPr/>
        </p:nvSpPr>
        <p:spPr>
          <a:xfrm>
            <a:off x="9196389" y="1823896"/>
            <a:ext cx="2266950" cy="689556"/>
          </a:xfrm>
          <a:prstGeom prst="round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Sortie en Rente : </a:t>
            </a:r>
          </a:p>
          <a:p>
            <a:pPr marL="285750" indent="-285750">
              <a:buFont typeface="Arial" panose="020B0604020202020204" pitchFamily="34" charset="0"/>
              <a:buChar char="•"/>
            </a:pPr>
            <a:r>
              <a:rPr lang="fr-FR" sz="1400" dirty="0">
                <a:solidFill>
                  <a:schemeClr val="tx1"/>
                </a:solidFill>
              </a:rPr>
              <a:t>IR : Abattement 10 %</a:t>
            </a:r>
          </a:p>
          <a:p>
            <a:pPr marL="285750" indent="-285750">
              <a:buFont typeface="Arial" panose="020B0604020202020204" pitchFamily="34" charset="0"/>
              <a:buChar char="•"/>
            </a:pPr>
            <a:r>
              <a:rPr lang="fr-FR" sz="1400" dirty="0" err="1">
                <a:solidFill>
                  <a:schemeClr val="tx1"/>
                </a:solidFill>
              </a:rPr>
              <a:t>P.Sociaux</a:t>
            </a:r>
            <a:r>
              <a:rPr lang="fr-FR" sz="1400" dirty="0">
                <a:solidFill>
                  <a:schemeClr val="tx1"/>
                </a:solidFill>
              </a:rPr>
              <a:t> : 17,20 %</a:t>
            </a:r>
          </a:p>
        </p:txBody>
      </p:sp>
      <p:sp>
        <p:nvSpPr>
          <p:cNvPr id="22" name="Rectangle : coins arrondis 21">
            <a:extLst>
              <a:ext uri="{FF2B5EF4-FFF2-40B4-BE49-F238E27FC236}">
                <a16:creationId xmlns:a16="http://schemas.microsoft.com/office/drawing/2014/main" id="{AEC3A1CB-A78E-8B17-2313-5AD96CD9F4D7}"/>
              </a:ext>
            </a:extLst>
          </p:cNvPr>
          <p:cNvSpPr/>
          <p:nvPr/>
        </p:nvSpPr>
        <p:spPr>
          <a:xfrm>
            <a:off x="5562599" y="3043806"/>
            <a:ext cx="2266950" cy="689556"/>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Sortie en Capital : </a:t>
            </a:r>
          </a:p>
          <a:p>
            <a:pPr marL="285750" indent="-285750">
              <a:buFont typeface="Arial" panose="020B0604020202020204" pitchFamily="34" charset="0"/>
              <a:buChar char="•"/>
            </a:pPr>
            <a:r>
              <a:rPr lang="fr-FR" sz="1400" dirty="0">
                <a:solidFill>
                  <a:schemeClr val="tx1"/>
                </a:solidFill>
              </a:rPr>
              <a:t>Capital : 0</a:t>
            </a:r>
          </a:p>
          <a:p>
            <a:pPr marL="285750" indent="-285750">
              <a:buFont typeface="Arial" panose="020B0604020202020204" pitchFamily="34" charset="0"/>
              <a:buChar char="•"/>
            </a:pPr>
            <a:r>
              <a:rPr lang="fr-FR" sz="1400" dirty="0">
                <a:solidFill>
                  <a:schemeClr val="tx1"/>
                </a:solidFill>
              </a:rPr>
              <a:t>Plus-Value : PFU (30%)</a:t>
            </a:r>
          </a:p>
        </p:txBody>
      </p:sp>
      <p:sp>
        <p:nvSpPr>
          <p:cNvPr id="23" name="Rectangle : coins arrondis 22">
            <a:extLst>
              <a:ext uri="{FF2B5EF4-FFF2-40B4-BE49-F238E27FC236}">
                <a16:creationId xmlns:a16="http://schemas.microsoft.com/office/drawing/2014/main" id="{3427F3F4-4A80-28BA-2FC0-A7C731088532}"/>
              </a:ext>
            </a:extLst>
          </p:cNvPr>
          <p:cNvSpPr/>
          <p:nvPr/>
        </p:nvSpPr>
        <p:spPr>
          <a:xfrm>
            <a:off x="9196389" y="3039316"/>
            <a:ext cx="2266950" cy="827362"/>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Sortie en Rente : </a:t>
            </a:r>
          </a:p>
          <a:p>
            <a:pPr marL="285750" indent="-285750">
              <a:buFont typeface="Arial" panose="020B0604020202020204" pitchFamily="34" charset="0"/>
              <a:buChar char="•"/>
            </a:pPr>
            <a:r>
              <a:rPr lang="fr-FR" sz="1400" dirty="0">
                <a:solidFill>
                  <a:schemeClr val="tx1"/>
                </a:solidFill>
              </a:rPr>
              <a:t>IR : Abattement 60 % (60 à 69 Ans)</a:t>
            </a:r>
          </a:p>
          <a:p>
            <a:pPr marL="285750" indent="-285750">
              <a:buFont typeface="Arial" panose="020B0604020202020204" pitchFamily="34" charset="0"/>
              <a:buChar char="•"/>
            </a:pPr>
            <a:r>
              <a:rPr lang="fr-FR" sz="1400" dirty="0" err="1">
                <a:solidFill>
                  <a:schemeClr val="tx1"/>
                </a:solidFill>
              </a:rPr>
              <a:t>P.Sociaux</a:t>
            </a:r>
            <a:r>
              <a:rPr lang="fr-FR" sz="1400" dirty="0">
                <a:solidFill>
                  <a:schemeClr val="tx1"/>
                </a:solidFill>
              </a:rPr>
              <a:t> : 17,20 %</a:t>
            </a:r>
          </a:p>
        </p:txBody>
      </p:sp>
      <p:sp>
        <p:nvSpPr>
          <p:cNvPr id="24" name="Rectangle : coins arrondis 23">
            <a:extLst>
              <a:ext uri="{FF2B5EF4-FFF2-40B4-BE49-F238E27FC236}">
                <a16:creationId xmlns:a16="http://schemas.microsoft.com/office/drawing/2014/main" id="{D3B8CFBB-09EA-8065-71C1-BB857507975C}"/>
              </a:ext>
            </a:extLst>
          </p:cNvPr>
          <p:cNvSpPr/>
          <p:nvPr/>
        </p:nvSpPr>
        <p:spPr>
          <a:xfrm>
            <a:off x="5562599" y="4263716"/>
            <a:ext cx="2266950" cy="68955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Sortie en Capital : </a:t>
            </a:r>
          </a:p>
          <a:p>
            <a:pPr marL="285750" indent="-285750">
              <a:buFont typeface="Arial" panose="020B0604020202020204" pitchFamily="34" charset="0"/>
              <a:buChar char="•"/>
            </a:pPr>
            <a:r>
              <a:rPr lang="fr-FR" sz="1400" dirty="0">
                <a:solidFill>
                  <a:schemeClr val="tx1"/>
                </a:solidFill>
              </a:rPr>
              <a:t>Capital : 0</a:t>
            </a:r>
          </a:p>
          <a:p>
            <a:pPr marL="285750" indent="-285750">
              <a:buFont typeface="Arial" panose="020B0604020202020204" pitchFamily="34" charset="0"/>
              <a:buChar char="•"/>
            </a:pPr>
            <a:r>
              <a:rPr lang="fr-FR" sz="1400" dirty="0">
                <a:solidFill>
                  <a:schemeClr val="tx1"/>
                </a:solidFill>
              </a:rPr>
              <a:t>Plus-Value : PFU (30%)</a:t>
            </a:r>
          </a:p>
        </p:txBody>
      </p:sp>
      <p:sp>
        <p:nvSpPr>
          <p:cNvPr id="26" name="Rectangle : coins arrondis 25">
            <a:extLst>
              <a:ext uri="{FF2B5EF4-FFF2-40B4-BE49-F238E27FC236}">
                <a16:creationId xmlns:a16="http://schemas.microsoft.com/office/drawing/2014/main" id="{E037AC3B-2B00-6ACC-8CA3-B1B88E6B9D0D}"/>
              </a:ext>
            </a:extLst>
          </p:cNvPr>
          <p:cNvSpPr/>
          <p:nvPr/>
        </p:nvSpPr>
        <p:spPr>
          <a:xfrm>
            <a:off x="9153525" y="4263715"/>
            <a:ext cx="2266950" cy="82736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Sortie en Rente : </a:t>
            </a:r>
          </a:p>
          <a:p>
            <a:pPr marL="285750" indent="-285750">
              <a:buFont typeface="Arial" panose="020B0604020202020204" pitchFamily="34" charset="0"/>
              <a:buChar char="•"/>
            </a:pPr>
            <a:r>
              <a:rPr lang="fr-FR" sz="1400" dirty="0">
                <a:solidFill>
                  <a:schemeClr val="tx1"/>
                </a:solidFill>
              </a:rPr>
              <a:t>IR : Abattement 60 % (60 à 69 Ans)</a:t>
            </a:r>
          </a:p>
          <a:p>
            <a:pPr marL="285750" indent="-285750">
              <a:buFont typeface="Arial" panose="020B0604020202020204" pitchFamily="34" charset="0"/>
              <a:buChar char="•"/>
            </a:pPr>
            <a:r>
              <a:rPr lang="fr-FR" sz="1400" dirty="0" err="1">
                <a:solidFill>
                  <a:schemeClr val="tx1"/>
                </a:solidFill>
              </a:rPr>
              <a:t>P.Sociaux</a:t>
            </a:r>
            <a:r>
              <a:rPr lang="fr-FR" sz="1400" dirty="0">
                <a:solidFill>
                  <a:schemeClr val="tx1"/>
                </a:solidFill>
              </a:rPr>
              <a:t> : 17,20 %</a:t>
            </a:r>
          </a:p>
        </p:txBody>
      </p:sp>
      <p:sp>
        <p:nvSpPr>
          <p:cNvPr id="27" name="Rectangle : coins arrondis 26">
            <a:extLst>
              <a:ext uri="{FF2B5EF4-FFF2-40B4-BE49-F238E27FC236}">
                <a16:creationId xmlns:a16="http://schemas.microsoft.com/office/drawing/2014/main" id="{B27CCF62-A440-FAF3-DADB-6413746EAE40}"/>
              </a:ext>
            </a:extLst>
          </p:cNvPr>
          <p:cNvSpPr/>
          <p:nvPr/>
        </p:nvSpPr>
        <p:spPr>
          <a:xfrm>
            <a:off x="9196389" y="5470156"/>
            <a:ext cx="2266950" cy="621393"/>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Sortie en Rente : </a:t>
            </a:r>
          </a:p>
          <a:p>
            <a:pPr marL="285750" indent="-285750">
              <a:buFont typeface="Arial" panose="020B0604020202020204" pitchFamily="34" charset="0"/>
              <a:buChar char="•"/>
            </a:pPr>
            <a:r>
              <a:rPr lang="fr-FR" sz="1400" dirty="0">
                <a:solidFill>
                  <a:schemeClr val="tx1"/>
                </a:solidFill>
              </a:rPr>
              <a:t>IR : Abattement 10 %</a:t>
            </a:r>
          </a:p>
          <a:p>
            <a:pPr marL="285750" indent="-285750">
              <a:buFont typeface="Arial" panose="020B0604020202020204" pitchFamily="34" charset="0"/>
              <a:buChar char="•"/>
            </a:pPr>
            <a:r>
              <a:rPr lang="fr-FR" sz="1400" dirty="0" err="1">
                <a:solidFill>
                  <a:schemeClr val="tx1"/>
                </a:solidFill>
              </a:rPr>
              <a:t>P.Sociaux</a:t>
            </a:r>
            <a:r>
              <a:rPr lang="fr-FR" sz="1400" dirty="0">
                <a:solidFill>
                  <a:schemeClr val="tx1"/>
                </a:solidFill>
              </a:rPr>
              <a:t> : 10,10 %</a:t>
            </a:r>
          </a:p>
        </p:txBody>
      </p:sp>
      <p:cxnSp>
        <p:nvCxnSpPr>
          <p:cNvPr id="13" name="Connecteur droit avec flèche 12">
            <a:extLst>
              <a:ext uri="{FF2B5EF4-FFF2-40B4-BE49-F238E27FC236}">
                <a16:creationId xmlns:a16="http://schemas.microsoft.com/office/drawing/2014/main" id="{872945F5-BE25-CFDA-A5E3-1B016F908C49}"/>
              </a:ext>
            </a:extLst>
          </p:cNvPr>
          <p:cNvCxnSpPr>
            <a:stCxn id="20" idx="1"/>
          </p:cNvCxnSpPr>
          <p:nvPr/>
        </p:nvCxnSpPr>
        <p:spPr>
          <a:xfrm flipH="1">
            <a:off x="3733799" y="2168674"/>
            <a:ext cx="1828800" cy="1117451"/>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24EF6FE8-475E-4D05-D961-5011C116A565}"/>
              </a:ext>
            </a:extLst>
          </p:cNvPr>
          <p:cNvCxnSpPr>
            <a:stCxn id="22" idx="1"/>
          </p:cNvCxnSpPr>
          <p:nvPr/>
        </p:nvCxnSpPr>
        <p:spPr>
          <a:xfrm flipH="1">
            <a:off x="3733799" y="3388584"/>
            <a:ext cx="1828800" cy="754791"/>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71C422C9-EAC3-48C8-92A0-D171F301D6C6}"/>
              </a:ext>
            </a:extLst>
          </p:cNvPr>
          <p:cNvCxnSpPr>
            <a:cxnSpLocks/>
          </p:cNvCxnSpPr>
          <p:nvPr/>
        </p:nvCxnSpPr>
        <p:spPr>
          <a:xfrm flipH="1">
            <a:off x="3733799" y="4495195"/>
            <a:ext cx="1828800" cy="51442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167D50BF-AAA1-46B5-F492-B39A99AA79BA}"/>
              </a:ext>
            </a:extLst>
          </p:cNvPr>
          <p:cNvCxnSpPr>
            <a:stCxn id="27" idx="1"/>
          </p:cNvCxnSpPr>
          <p:nvPr/>
        </p:nvCxnSpPr>
        <p:spPr>
          <a:xfrm flipH="1">
            <a:off x="3733799" y="5780853"/>
            <a:ext cx="5462590" cy="24944"/>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pic>
        <p:nvPicPr>
          <p:cNvPr id="5" name="Image 4">
            <a:extLst>
              <a:ext uri="{FF2B5EF4-FFF2-40B4-BE49-F238E27FC236}">
                <a16:creationId xmlns:a16="http://schemas.microsoft.com/office/drawing/2014/main" id="{83D20F18-BEA4-3DAF-3556-DF0C2D173C96}"/>
              </a:ext>
            </a:extLst>
          </p:cNvPr>
          <p:cNvPicPr>
            <a:picLocks noChangeAspect="1"/>
          </p:cNvPicPr>
          <p:nvPr/>
        </p:nvPicPr>
        <p:blipFill>
          <a:blip r:embed="rId2"/>
          <a:stretch>
            <a:fillRect/>
          </a:stretch>
        </p:blipFill>
        <p:spPr>
          <a:xfrm>
            <a:off x="10651659" y="38547"/>
            <a:ext cx="1537632" cy="1455807"/>
          </a:xfrm>
          <a:prstGeom prst="rect">
            <a:avLst/>
          </a:prstGeom>
        </p:spPr>
      </p:pic>
    </p:spTree>
    <p:extLst>
      <p:ext uri="{BB962C8B-B14F-4D97-AF65-F5344CB8AC3E}">
        <p14:creationId xmlns:p14="http://schemas.microsoft.com/office/powerpoint/2010/main" val="3229229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BF9DC-9A46-01A4-A2A6-E35466F30EFE}"/>
              </a:ext>
            </a:extLst>
          </p:cNvPr>
          <p:cNvSpPr>
            <a:spLocks noGrp="1"/>
          </p:cNvSpPr>
          <p:nvPr>
            <p:ph type="title"/>
          </p:nvPr>
        </p:nvSpPr>
        <p:spPr>
          <a:xfrm>
            <a:off x="838200" y="365125"/>
            <a:ext cx="10515600" cy="447675"/>
          </a:xfrm>
        </p:spPr>
        <p:txBody>
          <a:bodyPr>
            <a:normAutofit/>
          </a:bodyPr>
          <a:lstStyle/>
          <a:p>
            <a:r>
              <a:rPr lang="fr-FR" sz="2000" b="1" dirty="0"/>
              <a:t>PLAN D’EPARGNE RETRAITE : Transmission</a:t>
            </a:r>
          </a:p>
        </p:txBody>
      </p:sp>
      <p:sp>
        <p:nvSpPr>
          <p:cNvPr id="4" name="Espace réservé du texte 8">
            <a:extLst>
              <a:ext uri="{FF2B5EF4-FFF2-40B4-BE49-F238E27FC236}">
                <a16:creationId xmlns:a16="http://schemas.microsoft.com/office/drawing/2014/main" id="{F1907624-6A71-E6CB-3596-9A55CEFC5970}"/>
              </a:ext>
            </a:extLst>
          </p:cNvPr>
          <p:cNvSpPr txBox="1">
            <a:spLocks/>
          </p:cNvSpPr>
          <p:nvPr/>
        </p:nvSpPr>
        <p:spPr>
          <a:xfrm>
            <a:off x="375645" y="1400957"/>
            <a:ext cx="6939553" cy="4036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fr-FR" sz="1600" b="1" u="sng" dirty="0"/>
              <a:t>Pas de Prélèvement Sociaux sur les plus values latente en cas de décès</a:t>
            </a:r>
            <a:endParaRPr lang="fr-FR" sz="1600" u="sng" dirty="0"/>
          </a:p>
        </p:txBody>
      </p:sp>
      <p:sp>
        <p:nvSpPr>
          <p:cNvPr id="3" name="Rectangle : coins arrondis 2">
            <a:extLst>
              <a:ext uri="{FF2B5EF4-FFF2-40B4-BE49-F238E27FC236}">
                <a16:creationId xmlns:a16="http://schemas.microsoft.com/office/drawing/2014/main" id="{0AC47D4C-218A-C152-288D-EBC22C65EF57}"/>
              </a:ext>
            </a:extLst>
          </p:cNvPr>
          <p:cNvSpPr/>
          <p:nvPr/>
        </p:nvSpPr>
        <p:spPr>
          <a:xfrm>
            <a:off x="7504064" y="2455725"/>
            <a:ext cx="4000488" cy="2144843"/>
          </a:xfrm>
          <a:prstGeom prst="roundRect">
            <a:avLst/>
          </a:prstGeom>
          <a:solidFill>
            <a:schemeClr val="bg1"/>
          </a:solidFill>
          <a:ln w="476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1F0CC073-7728-8E78-EF50-2F1705D7E4FC}"/>
              </a:ext>
            </a:extLst>
          </p:cNvPr>
          <p:cNvSpPr/>
          <p:nvPr/>
        </p:nvSpPr>
        <p:spPr>
          <a:xfrm>
            <a:off x="7547931" y="2455725"/>
            <a:ext cx="3913757" cy="597609"/>
          </a:xfrm>
          <a:prstGeom prst="roundRect">
            <a:avLst>
              <a:gd name="adj" fmla="val 5000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t>PER INDIVIDUEL</a:t>
            </a:r>
          </a:p>
        </p:txBody>
      </p:sp>
      <p:sp>
        <p:nvSpPr>
          <p:cNvPr id="7" name="Rectangle : coins arrondis 6">
            <a:extLst>
              <a:ext uri="{FF2B5EF4-FFF2-40B4-BE49-F238E27FC236}">
                <a16:creationId xmlns:a16="http://schemas.microsoft.com/office/drawing/2014/main" id="{5F646840-4680-622D-8AD0-32A4897F658D}"/>
              </a:ext>
            </a:extLst>
          </p:cNvPr>
          <p:cNvSpPr/>
          <p:nvPr/>
        </p:nvSpPr>
        <p:spPr>
          <a:xfrm>
            <a:off x="7714874" y="3301236"/>
            <a:ext cx="1720174" cy="409321"/>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Versement Volontaire Déductible</a:t>
            </a:r>
          </a:p>
        </p:txBody>
      </p:sp>
      <p:sp>
        <p:nvSpPr>
          <p:cNvPr id="8" name="Rectangle : coins arrondis 7">
            <a:extLst>
              <a:ext uri="{FF2B5EF4-FFF2-40B4-BE49-F238E27FC236}">
                <a16:creationId xmlns:a16="http://schemas.microsoft.com/office/drawing/2014/main" id="{663E5526-90BF-D03B-8274-BE32763CF99F}"/>
              </a:ext>
            </a:extLst>
          </p:cNvPr>
          <p:cNvSpPr/>
          <p:nvPr/>
        </p:nvSpPr>
        <p:spPr>
          <a:xfrm>
            <a:off x="7714874" y="3925263"/>
            <a:ext cx="1720174" cy="409321"/>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Epargne Salariale</a:t>
            </a:r>
          </a:p>
        </p:txBody>
      </p:sp>
      <p:sp>
        <p:nvSpPr>
          <p:cNvPr id="9" name="Rectangle : coins arrondis 8">
            <a:extLst>
              <a:ext uri="{FF2B5EF4-FFF2-40B4-BE49-F238E27FC236}">
                <a16:creationId xmlns:a16="http://schemas.microsoft.com/office/drawing/2014/main" id="{F4F7D668-807A-6E98-8A27-B136A48FA2E4}"/>
              </a:ext>
            </a:extLst>
          </p:cNvPr>
          <p:cNvSpPr/>
          <p:nvPr/>
        </p:nvSpPr>
        <p:spPr>
          <a:xfrm>
            <a:off x="9623912" y="3286094"/>
            <a:ext cx="1720174" cy="409321"/>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Versement Volontaire </a:t>
            </a:r>
          </a:p>
          <a:p>
            <a:pPr algn="ctr"/>
            <a:r>
              <a:rPr lang="fr-FR" sz="1200" dirty="0">
                <a:solidFill>
                  <a:schemeClr val="tx1"/>
                </a:solidFill>
              </a:rPr>
              <a:t>Non Déductible</a:t>
            </a:r>
          </a:p>
        </p:txBody>
      </p:sp>
      <p:sp>
        <p:nvSpPr>
          <p:cNvPr id="10" name="Rectangle : coins arrondis 9">
            <a:extLst>
              <a:ext uri="{FF2B5EF4-FFF2-40B4-BE49-F238E27FC236}">
                <a16:creationId xmlns:a16="http://schemas.microsoft.com/office/drawing/2014/main" id="{AB79BCCC-DA75-9A89-B054-B2199311FF47}"/>
              </a:ext>
            </a:extLst>
          </p:cNvPr>
          <p:cNvSpPr/>
          <p:nvPr/>
        </p:nvSpPr>
        <p:spPr>
          <a:xfrm>
            <a:off x="9623912" y="3913053"/>
            <a:ext cx="1720174" cy="409321"/>
          </a:xfrm>
          <a:prstGeom prst="round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Cotisation Obligatoire</a:t>
            </a:r>
          </a:p>
        </p:txBody>
      </p:sp>
      <p:sp>
        <p:nvSpPr>
          <p:cNvPr id="20" name="Espace réservé du texte 8">
            <a:extLst>
              <a:ext uri="{FF2B5EF4-FFF2-40B4-BE49-F238E27FC236}">
                <a16:creationId xmlns:a16="http://schemas.microsoft.com/office/drawing/2014/main" id="{3462ACA9-B92F-2A02-5252-FFE77AEA4882}"/>
              </a:ext>
            </a:extLst>
          </p:cNvPr>
          <p:cNvSpPr txBox="1">
            <a:spLocks/>
          </p:cNvSpPr>
          <p:nvPr/>
        </p:nvSpPr>
        <p:spPr>
          <a:xfrm>
            <a:off x="375646" y="2392719"/>
            <a:ext cx="6939553" cy="4036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Tx/>
              <a:buChar char="-"/>
            </a:pPr>
            <a:r>
              <a:rPr lang="fr-FR" sz="1600" dirty="0"/>
              <a:t>Décès de l’assuré avant 70 Ans : L’article L990I du CGI s’applique</a:t>
            </a:r>
          </a:p>
          <a:p>
            <a:pPr lvl="2">
              <a:buFont typeface="Wingdings" pitchFamily="2" charset="2"/>
              <a:buChar char="Ø"/>
            </a:pPr>
            <a:r>
              <a:rPr lang="fr-FR" sz="1200" dirty="0"/>
              <a:t>Les Capitaux Transmis bénéficient d’un abattement de 152 500 € par « couple » bénéficiaire/assuré</a:t>
            </a:r>
          </a:p>
          <a:p>
            <a:pPr lvl="2">
              <a:buFont typeface="Wingdings" pitchFamily="2" charset="2"/>
              <a:buChar char="Ø"/>
            </a:pPr>
            <a:r>
              <a:rPr lang="fr-FR" sz="1200" dirty="0"/>
              <a:t>Puis Taxation de 20 % jusqu’à 700 000 € puis 31,25 € au delà</a:t>
            </a:r>
          </a:p>
        </p:txBody>
      </p:sp>
      <p:sp>
        <p:nvSpPr>
          <p:cNvPr id="12" name="Espace réservé du texte 8">
            <a:extLst>
              <a:ext uri="{FF2B5EF4-FFF2-40B4-BE49-F238E27FC236}">
                <a16:creationId xmlns:a16="http://schemas.microsoft.com/office/drawing/2014/main" id="{9CD31149-4289-DFB6-AA04-69AD413D63A3}"/>
              </a:ext>
            </a:extLst>
          </p:cNvPr>
          <p:cNvSpPr txBox="1">
            <a:spLocks/>
          </p:cNvSpPr>
          <p:nvPr/>
        </p:nvSpPr>
        <p:spPr>
          <a:xfrm>
            <a:off x="375644" y="3695415"/>
            <a:ext cx="6939553" cy="4036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Tx/>
              <a:buChar char="-"/>
            </a:pPr>
            <a:r>
              <a:rPr lang="fr-FR" sz="1600" dirty="0"/>
              <a:t>Décès de l’assuré avant 70 Ans : L’article 757B du CGI s’applique</a:t>
            </a:r>
          </a:p>
          <a:p>
            <a:pPr lvl="2">
              <a:buFont typeface="Wingdings" pitchFamily="2" charset="2"/>
              <a:buChar char="Ø"/>
            </a:pPr>
            <a:r>
              <a:rPr lang="fr-FR" sz="1200" dirty="0"/>
              <a:t>Les Capitaux Transmis bénéficient d’un abattement global de 30 500 €</a:t>
            </a:r>
          </a:p>
          <a:p>
            <a:pPr lvl="2">
              <a:buFont typeface="Wingdings" pitchFamily="2" charset="2"/>
              <a:buChar char="Ø"/>
            </a:pPr>
            <a:r>
              <a:rPr lang="fr-FR" sz="1200" dirty="0"/>
              <a:t>Ensuite, la taxation est réalisée selon les droits de succession qui varient en fonction du lien de parenté entre le bénéficiaire et l’assuré</a:t>
            </a:r>
          </a:p>
        </p:txBody>
      </p:sp>
      <p:pic>
        <p:nvPicPr>
          <p:cNvPr id="5" name="Image 4">
            <a:extLst>
              <a:ext uri="{FF2B5EF4-FFF2-40B4-BE49-F238E27FC236}">
                <a16:creationId xmlns:a16="http://schemas.microsoft.com/office/drawing/2014/main" id="{0E8A4762-142B-FCFE-1858-E05011161F38}"/>
              </a:ext>
            </a:extLst>
          </p:cNvPr>
          <p:cNvPicPr>
            <a:picLocks noChangeAspect="1"/>
          </p:cNvPicPr>
          <p:nvPr/>
        </p:nvPicPr>
        <p:blipFill>
          <a:blip r:embed="rId2"/>
          <a:stretch>
            <a:fillRect/>
          </a:stretch>
        </p:blipFill>
        <p:spPr>
          <a:xfrm>
            <a:off x="10654368" y="0"/>
            <a:ext cx="1537632" cy="1455807"/>
          </a:xfrm>
          <a:prstGeom prst="rect">
            <a:avLst/>
          </a:prstGeom>
        </p:spPr>
      </p:pic>
    </p:spTree>
    <p:extLst>
      <p:ext uri="{BB962C8B-B14F-4D97-AF65-F5344CB8AC3E}">
        <p14:creationId xmlns:p14="http://schemas.microsoft.com/office/powerpoint/2010/main" val="235811625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7ca568e-c9a6-4e4a-a109-72212f5d7cdd">
      <Terms xmlns="http://schemas.microsoft.com/office/infopath/2007/PartnerControls"/>
    </lcf76f155ced4ddcb4097134ff3c332f>
    <TaxCatchAll xmlns="f8763d02-de8d-4e46-82ea-1f35ce573c0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5B69FA0F9D17A468FBA70E49521CB66" ma:contentTypeVersion="18" ma:contentTypeDescription="Crée un document." ma:contentTypeScope="" ma:versionID="9f26cd934829b6b2fe0557e24ebea84a">
  <xsd:schema xmlns:xsd="http://www.w3.org/2001/XMLSchema" xmlns:xs="http://www.w3.org/2001/XMLSchema" xmlns:p="http://schemas.microsoft.com/office/2006/metadata/properties" xmlns:ns2="f8763d02-de8d-4e46-82ea-1f35ce573c03" xmlns:ns3="07ca568e-c9a6-4e4a-a109-72212f5d7cdd" targetNamespace="http://schemas.microsoft.com/office/2006/metadata/properties" ma:root="true" ma:fieldsID="4e7af791a205f6fda4494fbe3f7b5f1e" ns2:_="" ns3:_="">
    <xsd:import namespace="f8763d02-de8d-4e46-82ea-1f35ce573c03"/>
    <xsd:import namespace="07ca568e-c9a6-4e4a-a109-72212f5d7cd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763d02-de8d-4e46-82ea-1f35ce573c03"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67da6f9d-ba6c-4471-a47e-d83f948df6ac}" ma:internalName="TaxCatchAll" ma:showField="CatchAllData" ma:web="f8763d02-de8d-4e46-82ea-1f35ce573c0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7ca568e-c9a6-4e4a-a109-72212f5d7cd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1a2df2c2-123b-4eb0-b00d-b4c94c64283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648C29-DADF-493F-A627-34CBFA3F8160}">
  <ds:schemaRefs>
    <ds:schemaRef ds:uri="http://purl.org/dc/elements/1.1/"/>
    <ds:schemaRef ds:uri="f8763d02-de8d-4e46-82ea-1f35ce573c03"/>
    <ds:schemaRef ds:uri="http://purl.org/dc/dcmitype/"/>
    <ds:schemaRef ds:uri="http://schemas.microsoft.com/office/2006/documentManagement/types"/>
    <ds:schemaRef ds:uri="http://schemas.openxmlformats.org/package/2006/metadata/core-properties"/>
    <ds:schemaRef ds:uri="http://schemas.microsoft.com/office/2006/metadata/properties"/>
    <ds:schemaRef ds:uri="07ca568e-c9a6-4e4a-a109-72212f5d7cdd"/>
    <ds:schemaRef ds:uri="http://purl.org/dc/term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B5B06DCB-EF08-4A2C-93F5-E55EA5679098}">
  <ds:schemaRefs>
    <ds:schemaRef ds:uri="http://schemas.microsoft.com/sharepoint/v3/contenttype/forms"/>
  </ds:schemaRefs>
</ds:datastoreItem>
</file>

<file path=customXml/itemProps3.xml><?xml version="1.0" encoding="utf-8"?>
<ds:datastoreItem xmlns:ds="http://schemas.openxmlformats.org/officeDocument/2006/customXml" ds:itemID="{DD652728-17D5-4A37-A868-AF980777D9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8763d02-de8d-4e46-82ea-1f35ce573c03"/>
    <ds:schemaRef ds:uri="07ca568e-c9a6-4e4a-a109-72212f5d7cd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12820</TotalTime>
  <Words>2408</Words>
  <Application>Microsoft Office PowerPoint</Application>
  <PresentationFormat>Grand écran</PresentationFormat>
  <Paragraphs>381</Paragraphs>
  <Slides>19</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19</vt:i4>
      </vt:variant>
    </vt:vector>
  </HeadingPairs>
  <TitlesOfParts>
    <vt:vector size="26" baseType="lpstr">
      <vt:lpstr>Arial</vt:lpstr>
      <vt:lpstr>Calibri</vt:lpstr>
      <vt:lpstr>Calibri Light</vt:lpstr>
      <vt:lpstr>Cambria Math</vt:lpstr>
      <vt:lpstr>Montserrat</vt:lpstr>
      <vt:lpstr>Wingdings</vt:lpstr>
      <vt:lpstr>Thème Office</vt:lpstr>
      <vt:lpstr>SIMULATIONS DEPART RETRAITE : Réversion</vt:lpstr>
      <vt:lpstr>Présentation PowerPoint</vt:lpstr>
      <vt:lpstr>BILAN RETRAITE</vt:lpstr>
      <vt:lpstr>COMMENT SE CALCULE LA RETRAITE DU REGIME DE BASE</vt:lpstr>
      <vt:lpstr>Présentation PowerPoint</vt:lpstr>
      <vt:lpstr>Présentation PowerPoint</vt:lpstr>
      <vt:lpstr>COMMENT SE CALCULE LA RETRAITE DU REGIME COMPLEMENTAIRE</vt:lpstr>
      <vt:lpstr>L’Agirc Arrco et France Travail</vt:lpstr>
      <vt:lpstr>L’Agirc Arrco et La Maladie Maternité</vt:lpstr>
      <vt:lpstr>CUMUL EMPLOI RETRAITE : Sans Plafonnement</vt:lpstr>
      <vt:lpstr>CUMUL EMPLOI RETRAITE : Avec Plafonnement</vt:lpstr>
      <vt:lpstr>VOTRE SITUATION PERSONNELLE à fin 2024 </vt:lpstr>
      <vt:lpstr>SIMULATIONS DEPART RETRAITE : Base et Complémentaire</vt:lpstr>
      <vt:lpstr>SIMULATIONS DEPART RETRAITE : Base et Complémentaire</vt:lpstr>
      <vt:lpstr>SIMULATIONS DEPART RETRAITE : Réversion</vt:lpstr>
      <vt:lpstr>PLAN D’EPARGNE RETRAITE : Principes</vt:lpstr>
      <vt:lpstr>PLAN D’EPARGNE RETRAITE : Limite de Versement</vt:lpstr>
      <vt:lpstr>PLAN D’EPARGNE RETRAITE : Fiscalité en Sortie</vt:lpstr>
      <vt:lpstr>PLAN D’EPARGNE RETRAITE : Transmission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Romain Depardieu</dc:creator>
  <cp:lastModifiedBy>Guillaume Claise</cp:lastModifiedBy>
  <cp:revision>35</cp:revision>
  <cp:lastPrinted>2024-05-16T14:21:17Z</cp:lastPrinted>
  <dcterms:created xsi:type="dcterms:W3CDTF">2022-06-12T13:41:20Z</dcterms:created>
  <dcterms:modified xsi:type="dcterms:W3CDTF">2025-12-28T23:26:29Z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0x01010035B69FA0F9D17A468FBA70E49521CB66</vt:lpwstr>
  </property>
</Properties>
</file>